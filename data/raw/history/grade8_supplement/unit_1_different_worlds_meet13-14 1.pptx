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331" r:id="rId3"/>
    <p:sldId id="321" r:id="rId4"/>
    <p:sldId id="322" r:id="rId5"/>
    <p:sldId id="323" r:id="rId6"/>
    <p:sldId id="325" r:id="rId7"/>
    <p:sldId id="326" r:id="rId8"/>
    <p:sldId id="327" r:id="rId9"/>
    <p:sldId id="328" r:id="rId10"/>
    <p:sldId id="356" r:id="rId11"/>
    <p:sldId id="361" r:id="rId12"/>
    <p:sldId id="297" r:id="rId13"/>
    <p:sldId id="330" r:id="rId14"/>
    <p:sldId id="353" r:id="rId15"/>
    <p:sldId id="258" r:id="rId16"/>
    <p:sldId id="354" r:id="rId17"/>
    <p:sldId id="355" r:id="rId18"/>
    <p:sldId id="276" r:id="rId19"/>
    <p:sldId id="381" r:id="rId20"/>
    <p:sldId id="358" r:id="rId21"/>
    <p:sldId id="359" r:id="rId22"/>
    <p:sldId id="368" r:id="rId23"/>
    <p:sldId id="369" r:id="rId24"/>
    <p:sldId id="329" r:id="rId25"/>
    <p:sldId id="311" r:id="rId26"/>
    <p:sldId id="312" r:id="rId27"/>
    <p:sldId id="305" r:id="rId28"/>
    <p:sldId id="332" r:id="rId29"/>
    <p:sldId id="257" r:id="rId30"/>
    <p:sldId id="259" r:id="rId31"/>
    <p:sldId id="260" r:id="rId32"/>
    <p:sldId id="261" r:id="rId33"/>
    <p:sldId id="262" r:id="rId34"/>
    <p:sldId id="306" r:id="rId35"/>
    <p:sldId id="333" r:id="rId36"/>
    <p:sldId id="263" r:id="rId37"/>
    <p:sldId id="300" r:id="rId38"/>
    <p:sldId id="264" r:id="rId39"/>
    <p:sldId id="301" r:id="rId40"/>
    <p:sldId id="265" r:id="rId41"/>
    <p:sldId id="302" r:id="rId42"/>
    <p:sldId id="266" r:id="rId43"/>
    <p:sldId id="267" r:id="rId44"/>
    <p:sldId id="268" r:id="rId45"/>
    <p:sldId id="269" r:id="rId46"/>
    <p:sldId id="348" r:id="rId47"/>
    <p:sldId id="307" r:id="rId48"/>
    <p:sldId id="334" r:id="rId49"/>
    <p:sldId id="270" r:id="rId50"/>
    <p:sldId id="303" r:id="rId51"/>
    <p:sldId id="271" r:id="rId52"/>
    <p:sldId id="272" r:id="rId53"/>
    <p:sldId id="273" r:id="rId54"/>
    <p:sldId id="274" r:id="rId55"/>
    <p:sldId id="275" r:id="rId56"/>
    <p:sldId id="349" r:id="rId57"/>
    <p:sldId id="352" r:id="rId58"/>
    <p:sldId id="364" r:id="rId59"/>
    <p:sldId id="365" r:id="rId60"/>
    <p:sldId id="342" r:id="rId61"/>
    <p:sldId id="366" r:id="rId62"/>
    <p:sldId id="367" r:id="rId63"/>
    <p:sldId id="341" r:id="rId64"/>
    <p:sldId id="343" r:id="rId65"/>
    <p:sldId id="308" r:id="rId66"/>
    <p:sldId id="362" r:id="rId67"/>
    <p:sldId id="377" r:id="rId68"/>
    <p:sldId id="335" r:id="rId69"/>
    <p:sldId id="363" r:id="rId70"/>
    <p:sldId id="378" r:id="rId71"/>
    <p:sldId id="277" r:id="rId72"/>
    <p:sldId id="278" r:id="rId73"/>
    <p:sldId id="279" r:id="rId74"/>
    <p:sldId id="280" r:id="rId75"/>
    <p:sldId id="281" r:id="rId76"/>
    <p:sldId id="282" r:id="rId77"/>
    <p:sldId id="283" r:id="rId78"/>
    <p:sldId id="338" r:id="rId79"/>
    <p:sldId id="344" r:id="rId80"/>
    <p:sldId id="309" r:id="rId81"/>
    <p:sldId id="336" r:id="rId82"/>
    <p:sldId id="284" r:id="rId83"/>
    <p:sldId id="285" r:id="rId84"/>
    <p:sldId id="286" r:id="rId85"/>
    <p:sldId id="287" r:id="rId86"/>
    <p:sldId id="288" r:id="rId87"/>
    <p:sldId id="347" r:id="rId88"/>
    <p:sldId id="289" r:id="rId89"/>
    <p:sldId id="290" r:id="rId90"/>
    <p:sldId id="351" r:id="rId91"/>
    <p:sldId id="310" r:id="rId92"/>
    <p:sldId id="337" r:id="rId93"/>
    <p:sldId id="304" r:id="rId94"/>
    <p:sldId id="291" r:id="rId95"/>
    <p:sldId id="292" r:id="rId96"/>
    <p:sldId id="293" r:id="rId97"/>
    <p:sldId id="299" r:id="rId98"/>
    <p:sldId id="294" r:id="rId99"/>
    <p:sldId id="295" r:id="rId100"/>
    <p:sldId id="296" r:id="rId101"/>
    <p:sldId id="382" r:id="rId102"/>
    <p:sldId id="370" r:id="rId103"/>
    <p:sldId id="371" r:id="rId104"/>
    <p:sldId id="379" r:id="rId105"/>
    <p:sldId id="380" r:id="rId106"/>
    <p:sldId id="374" r:id="rId107"/>
    <p:sldId id="372" r:id="rId108"/>
    <p:sldId id="373" r:id="rId109"/>
    <p:sldId id="375" r:id="rId110"/>
    <p:sldId id="376" r:id="rId111"/>
  </p:sldIdLst>
  <p:sldSz cx="10058400" cy="7315200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5559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111191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66786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222382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779776" algn="l" defTabSz="111191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3335731" algn="l" defTabSz="111191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891686" algn="l" defTabSz="111191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4447642" algn="l" defTabSz="111191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14" y="-828"/>
      </p:cViewPr>
      <p:guideLst>
        <p:guide orient="horz" pos="2304"/>
        <p:guide pos="31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102767-9B2A-4386-8D8C-133D75C81BCA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270B7D-B15F-4019-916D-2B6101C97196}">
      <dgm:prSet phldrT="[Text]"/>
      <dgm:spPr/>
      <dgm:t>
        <a:bodyPr/>
        <a:lstStyle/>
        <a:p>
          <a:r>
            <a:rPr lang="en-US" dirty="0" smtClean="0"/>
            <a:t>Spanish Technology</a:t>
          </a:r>
          <a:endParaRPr lang="en-US" dirty="0"/>
        </a:p>
      </dgm:t>
    </dgm:pt>
    <dgm:pt modelId="{93214315-D4D7-4B18-BF0E-77EF395F2175}" type="parTrans" cxnId="{3A3C7FAA-1903-4251-9147-30730F9FBDAF}">
      <dgm:prSet/>
      <dgm:spPr/>
      <dgm:t>
        <a:bodyPr/>
        <a:lstStyle/>
        <a:p>
          <a:endParaRPr lang="en-US"/>
        </a:p>
      </dgm:t>
    </dgm:pt>
    <dgm:pt modelId="{6BDA3AF0-DFCA-4094-BCF1-E2885392BCB8}" type="sibTrans" cxnId="{3A3C7FAA-1903-4251-9147-30730F9FBDAF}">
      <dgm:prSet/>
      <dgm:spPr/>
      <dgm:t>
        <a:bodyPr/>
        <a:lstStyle/>
        <a:p>
          <a:endParaRPr lang="en-US"/>
        </a:p>
      </dgm:t>
    </dgm:pt>
    <dgm:pt modelId="{DC7EE672-E44D-4B0A-892E-60BEEB9D857B}">
      <dgm:prSet phldrT="[Text]"/>
      <dgm:spPr/>
      <dgm:t>
        <a:bodyPr/>
        <a:lstStyle/>
        <a:p>
          <a:r>
            <a:rPr lang="en-US" dirty="0" smtClean="0"/>
            <a:t>Bows and Arrows</a:t>
          </a:r>
          <a:endParaRPr lang="en-US" dirty="0"/>
        </a:p>
      </dgm:t>
    </dgm:pt>
    <dgm:pt modelId="{4927B35F-8DDD-4EAD-B6C5-EC63C45077DB}" type="parTrans" cxnId="{E003A97A-BBFA-4873-AA3B-63E2B1BEC218}">
      <dgm:prSet/>
      <dgm:spPr/>
      <dgm:t>
        <a:bodyPr/>
        <a:lstStyle/>
        <a:p>
          <a:endParaRPr lang="en-US"/>
        </a:p>
      </dgm:t>
    </dgm:pt>
    <dgm:pt modelId="{9BBD5412-2CC4-4052-A76C-8E86F604B056}" type="sibTrans" cxnId="{E003A97A-BBFA-4873-AA3B-63E2B1BEC218}">
      <dgm:prSet/>
      <dgm:spPr/>
      <dgm:t>
        <a:bodyPr/>
        <a:lstStyle/>
        <a:p>
          <a:endParaRPr lang="en-US"/>
        </a:p>
      </dgm:t>
    </dgm:pt>
    <dgm:pt modelId="{9A6E3F2B-78AD-4442-AE77-310885B2C9F4}">
      <dgm:prSet phldrT="[Text]"/>
      <dgm:spPr/>
      <dgm:t>
        <a:bodyPr/>
        <a:lstStyle/>
        <a:p>
          <a:r>
            <a:rPr lang="en-US" dirty="0" smtClean="0"/>
            <a:t>Inca Technology</a:t>
          </a:r>
          <a:endParaRPr lang="en-US" dirty="0"/>
        </a:p>
      </dgm:t>
    </dgm:pt>
    <dgm:pt modelId="{35B49D61-257C-4FB0-8ECD-94C7E81C3A12}" type="parTrans" cxnId="{5BB47898-7C9A-4A30-85D2-A5CBCC471310}">
      <dgm:prSet/>
      <dgm:spPr/>
      <dgm:t>
        <a:bodyPr/>
        <a:lstStyle/>
        <a:p>
          <a:endParaRPr lang="en-US"/>
        </a:p>
      </dgm:t>
    </dgm:pt>
    <dgm:pt modelId="{040219B8-0E4C-4748-A78A-0777FDF44D19}" type="sibTrans" cxnId="{5BB47898-7C9A-4A30-85D2-A5CBCC471310}">
      <dgm:prSet/>
      <dgm:spPr/>
      <dgm:t>
        <a:bodyPr/>
        <a:lstStyle/>
        <a:p>
          <a:endParaRPr lang="en-US"/>
        </a:p>
      </dgm:t>
    </dgm:pt>
    <dgm:pt modelId="{B1A86D8F-E26F-4A7B-97A3-7BF2F1C89422}">
      <dgm:prSet/>
      <dgm:spPr/>
      <dgm:t>
        <a:bodyPr/>
        <a:lstStyle/>
        <a:p>
          <a:r>
            <a:rPr lang="en-US" dirty="0" smtClean="0"/>
            <a:t>Guns</a:t>
          </a:r>
          <a:endParaRPr lang="en-US" dirty="0"/>
        </a:p>
      </dgm:t>
    </dgm:pt>
    <dgm:pt modelId="{C91F4ADD-6C83-417D-9A96-D9ECC79199B7}" type="parTrans" cxnId="{9C5FD0BB-445A-46B2-A91F-04AFC95DD745}">
      <dgm:prSet/>
      <dgm:spPr/>
      <dgm:t>
        <a:bodyPr/>
        <a:lstStyle/>
        <a:p>
          <a:endParaRPr lang="en-US"/>
        </a:p>
      </dgm:t>
    </dgm:pt>
    <dgm:pt modelId="{86194BD9-2D7E-46FE-BA13-7111228B6F71}" type="sibTrans" cxnId="{9C5FD0BB-445A-46B2-A91F-04AFC95DD745}">
      <dgm:prSet/>
      <dgm:spPr/>
      <dgm:t>
        <a:bodyPr/>
        <a:lstStyle/>
        <a:p>
          <a:endParaRPr lang="en-US"/>
        </a:p>
      </dgm:t>
    </dgm:pt>
    <dgm:pt modelId="{8FCC3C91-7A3B-4B2A-9334-CAD940214B1A}">
      <dgm:prSet/>
      <dgm:spPr/>
      <dgm:t>
        <a:bodyPr/>
        <a:lstStyle/>
        <a:p>
          <a:r>
            <a:rPr lang="en-US" dirty="0" smtClean="0"/>
            <a:t>Horses</a:t>
          </a:r>
          <a:endParaRPr lang="en-US" dirty="0"/>
        </a:p>
      </dgm:t>
    </dgm:pt>
    <dgm:pt modelId="{B6C8D0AE-CA9F-4BD7-B155-8E846DAF0D27}" type="parTrans" cxnId="{3FCC478B-16B6-4383-B929-5FADEFC1E400}">
      <dgm:prSet/>
      <dgm:spPr/>
      <dgm:t>
        <a:bodyPr/>
        <a:lstStyle/>
        <a:p>
          <a:endParaRPr lang="en-US"/>
        </a:p>
      </dgm:t>
    </dgm:pt>
    <dgm:pt modelId="{958143AE-42B2-4039-B73A-21CDEFE11CEB}" type="sibTrans" cxnId="{3FCC478B-16B6-4383-B929-5FADEFC1E400}">
      <dgm:prSet/>
      <dgm:spPr/>
      <dgm:t>
        <a:bodyPr/>
        <a:lstStyle/>
        <a:p>
          <a:endParaRPr lang="en-US"/>
        </a:p>
      </dgm:t>
    </dgm:pt>
    <dgm:pt modelId="{BC6FA432-BA05-4668-BEE6-26A1F930927D}">
      <dgm:prSet/>
      <dgm:spPr/>
      <dgm:t>
        <a:bodyPr/>
        <a:lstStyle/>
        <a:p>
          <a:r>
            <a:rPr lang="en-US" dirty="0" smtClean="0"/>
            <a:t>Armor</a:t>
          </a:r>
          <a:endParaRPr lang="en-US" dirty="0"/>
        </a:p>
      </dgm:t>
    </dgm:pt>
    <dgm:pt modelId="{249B0811-E55D-47E9-8ADE-FA552C0BBDDF}" type="parTrans" cxnId="{D432116B-233C-4CEC-A2ED-C2FB3E3192FD}">
      <dgm:prSet/>
      <dgm:spPr/>
      <dgm:t>
        <a:bodyPr/>
        <a:lstStyle/>
        <a:p>
          <a:endParaRPr lang="en-US"/>
        </a:p>
      </dgm:t>
    </dgm:pt>
    <dgm:pt modelId="{DD52C177-C3AE-473E-9896-85EEA560467E}" type="sibTrans" cxnId="{D432116B-233C-4CEC-A2ED-C2FB3E3192FD}">
      <dgm:prSet/>
      <dgm:spPr/>
      <dgm:t>
        <a:bodyPr/>
        <a:lstStyle/>
        <a:p>
          <a:endParaRPr lang="en-US"/>
        </a:p>
      </dgm:t>
    </dgm:pt>
    <dgm:pt modelId="{D8BE9D42-1CA2-45D9-9775-B7C7BCCF0BA4}">
      <dgm:prSet/>
      <dgm:spPr/>
      <dgm:t>
        <a:bodyPr/>
        <a:lstStyle/>
        <a:p>
          <a:r>
            <a:rPr lang="en-US" dirty="0" smtClean="0"/>
            <a:t>Cannons</a:t>
          </a:r>
          <a:endParaRPr lang="en-US" dirty="0"/>
        </a:p>
      </dgm:t>
    </dgm:pt>
    <dgm:pt modelId="{FEEDE57E-321E-4747-9478-32D3A5A6B453}" type="parTrans" cxnId="{88CE3652-E332-4112-A19B-81468E2148BB}">
      <dgm:prSet/>
      <dgm:spPr/>
      <dgm:t>
        <a:bodyPr/>
        <a:lstStyle/>
        <a:p>
          <a:endParaRPr lang="en-US"/>
        </a:p>
      </dgm:t>
    </dgm:pt>
    <dgm:pt modelId="{306DED80-B2CE-4498-AD20-118FE1B393DA}" type="sibTrans" cxnId="{88CE3652-E332-4112-A19B-81468E2148BB}">
      <dgm:prSet/>
      <dgm:spPr/>
      <dgm:t>
        <a:bodyPr/>
        <a:lstStyle/>
        <a:p>
          <a:endParaRPr lang="en-US"/>
        </a:p>
      </dgm:t>
    </dgm:pt>
    <dgm:pt modelId="{CA743C30-0114-49AD-BC29-28A4DBEF32E9}">
      <dgm:prSet/>
      <dgm:spPr/>
      <dgm:t>
        <a:bodyPr/>
        <a:lstStyle/>
        <a:p>
          <a:r>
            <a:rPr lang="en-US" dirty="0" smtClean="0"/>
            <a:t>Ships</a:t>
          </a:r>
          <a:endParaRPr lang="en-US" dirty="0"/>
        </a:p>
      </dgm:t>
    </dgm:pt>
    <dgm:pt modelId="{0470637F-A57E-4065-844C-4E282EFD9ADF}" type="parTrans" cxnId="{E1F66AA5-A65B-4E61-B51C-E5CD4639B7FC}">
      <dgm:prSet/>
      <dgm:spPr/>
      <dgm:t>
        <a:bodyPr/>
        <a:lstStyle/>
        <a:p>
          <a:endParaRPr lang="en-US"/>
        </a:p>
      </dgm:t>
    </dgm:pt>
    <dgm:pt modelId="{B2FA243E-FE6C-4840-B54F-616858BA51F0}" type="sibTrans" cxnId="{E1F66AA5-A65B-4E61-B51C-E5CD4639B7FC}">
      <dgm:prSet/>
      <dgm:spPr/>
      <dgm:t>
        <a:bodyPr/>
        <a:lstStyle/>
        <a:p>
          <a:endParaRPr lang="en-US"/>
        </a:p>
      </dgm:t>
    </dgm:pt>
    <dgm:pt modelId="{E93C9016-68F6-4D79-AD22-C7424693F4D0}">
      <dgm:prSet phldrT="[Text]"/>
      <dgm:spPr/>
      <dgm:t>
        <a:bodyPr/>
        <a:lstStyle/>
        <a:p>
          <a:r>
            <a:rPr lang="en-US" dirty="0" smtClean="0"/>
            <a:t>Spears</a:t>
          </a:r>
          <a:endParaRPr lang="en-US" dirty="0"/>
        </a:p>
      </dgm:t>
    </dgm:pt>
    <dgm:pt modelId="{C230668F-6F38-4D82-992C-C0330447C701}" type="parTrans" cxnId="{E3B09E2D-23A5-407C-995C-46A654CA9816}">
      <dgm:prSet/>
      <dgm:spPr/>
      <dgm:t>
        <a:bodyPr/>
        <a:lstStyle/>
        <a:p>
          <a:endParaRPr lang="en-US"/>
        </a:p>
      </dgm:t>
    </dgm:pt>
    <dgm:pt modelId="{8E1DA1A6-5AF5-48BD-BDE1-BE260F440504}" type="sibTrans" cxnId="{E3B09E2D-23A5-407C-995C-46A654CA9816}">
      <dgm:prSet/>
      <dgm:spPr/>
      <dgm:t>
        <a:bodyPr/>
        <a:lstStyle/>
        <a:p>
          <a:endParaRPr lang="en-US"/>
        </a:p>
      </dgm:t>
    </dgm:pt>
    <dgm:pt modelId="{F67F98E4-CE31-4E76-8E2F-10764AB04170}">
      <dgm:prSet phldrT="[Text]"/>
      <dgm:spPr/>
      <dgm:t>
        <a:bodyPr/>
        <a:lstStyle/>
        <a:p>
          <a:r>
            <a:rPr lang="en-US" dirty="0" smtClean="0"/>
            <a:t>TERRIFIED of horses</a:t>
          </a:r>
          <a:endParaRPr lang="en-US" dirty="0"/>
        </a:p>
      </dgm:t>
    </dgm:pt>
    <dgm:pt modelId="{C0B7E224-1798-419C-9606-2D3CE8CBADAA}" type="parTrans" cxnId="{030CB692-66F5-4FFA-AA30-3CAB1F77EF76}">
      <dgm:prSet/>
      <dgm:spPr/>
      <dgm:t>
        <a:bodyPr/>
        <a:lstStyle/>
        <a:p>
          <a:endParaRPr lang="en-US"/>
        </a:p>
      </dgm:t>
    </dgm:pt>
    <dgm:pt modelId="{2DD6727E-3A7D-4B84-8464-7D66A53CCFF6}" type="sibTrans" cxnId="{030CB692-66F5-4FFA-AA30-3CAB1F77EF76}">
      <dgm:prSet/>
      <dgm:spPr/>
      <dgm:t>
        <a:bodyPr/>
        <a:lstStyle/>
        <a:p>
          <a:endParaRPr lang="en-US"/>
        </a:p>
      </dgm:t>
    </dgm:pt>
    <dgm:pt modelId="{4A56CF96-8D79-4278-9254-F5F28D6DFD3C}">
      <dgm:prSet phldrT="[Text]"/>
      <dgm:spPr/>
      <dgm:t>
        <a:bodyPr/>
        <a:lstStyle/>
        <a:p>
          <a:r>
            <a:rPr lang="en-US" dirty="0" smtClean="0"/>
            <a:t>Never had seen guns or armor.</a:t>
          </a:r>
          <a:endParaRPr lang="en-US" dirty="0"/>
        </a:p>
      </dgm:t>
    </dgm:pt>
    <dgm:pt modelId="{A7D200B6-B132-4176-881C-536079A8B8A5}" type="parTrans" cxnId="{3650E6F1-F1E9-40E4-810E-3BF9C5C3C4E8}">
      <dgm:prSet/>
      <dgm:spPr/>
      <dgm:t>
        <a:bodyPr/>
        <a:lstStyle/>
        <a:p>
          <a:endParaRPr lang="en-US"/>
        </a:p>
      </dgm:t>
    </dgm:pt>
    <dgm:pt modelId="{16F6C339-1606-4B11-89BB-4F09E33EF90B}" type="sibTrans" cxnId="{3650E6F1-F1E9-40E4-810E-3BF9C5C3C4E8}">
      <dgm:prSet/>
      <dgm:spPr/>
      <dgm:t>
        <a:bodyPr/>
        <a:lstStyle/>
        <a:p>
          <a:endParaRPr lang="en-US"/>
        </a:p>
      </dgm:t>
    </dgm:pt>
    <dgm:pt modelId="{53AEFAE8-2E36-422B-8066-331B1E6F9D33}" type="pres">
      <dgm:prSet presAssocID="{01102767-9B2A-4386-8D8C-133D75C81BCA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EC1854E-BA54-43B5-9914-CA3B96D51E75}" type="pres">
      <dgm:prSet presAssocID="{46270B7D-B15F-4019-916D-2B6101C97196}" presName="composite" presStyleCnt="0"/>
      <dgm:spPr/>
    </dgm:pt>
    <dgm:pt modelId="{06904901-5B5C-41AC-AAAC-C356653B8795}" type="pres">
      <dgm:prSet presAssocID="{46270B7D-B15F-4019-916D-2B6101C97196}" presName="parTx" presStyleLbl="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419855-BE5D-45B9-81FD-26EFE7BF6E68}" type="pres">
      <dgm:prSet presAssocID="{46270B7D-B15F-4019-916D-2B6101C97196}" presName="parSh" presStyleLbl="node1" presStyleIdx="0" presStyleCnt="2"/>
      <dgm:spPr/>
      <dgm:t>
        <a:bodyPr/>
        <a:lstStyle/>
        <a:p>
          <a:endParaRPr lang="en-US"/>
        </a:p>
      </dgm:t>
    </dgm:pt>
    <dgm:pt modelId="{9B3F7F7E-36CF-42B9-8B57-602B29C86156}" type="pres">
      <dgm:prSet presAssocID="{46270B7D-B15F-4019-916D-2B6101C97196}" presName="desTx" presStyleLbl="fgAcc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DFF086-2BD4-46A5-8F6D-72BB15F2A76E}" type="pres">
      <dgm:prSet presAssocID="{6BDA3AF0-DFCA-4094-BCF1-E2885392BCB8}" presName="sibTrans" presStyleLbl="sibTrans2D1" presStyleIdx="0" presStyleCnt="1"/>
      <dgm:spPr/>
      <dgm:t>
        <a:bodyPr/>
        <a:lstStyle/>
        <a:p>
          <a:endParaRPr lang="en-US"/>
        </a:p>
      </dgm:t>
    </dgm:pt>
    <dgm:pt modelId="{F9228951-64D2-4EB7-886A-9968385B7CAB}" type="pres">
      <dgm:prSet presAssocID="{6BDA3AF0-DFCA-4094-BCF1-E2885392BCB8}" presName="connTx" presStyleLbl="sibTrans2D1" presStyleIdx="0" presStyleCnt="1"/>
      <dgm:spPr/>
      <dgm:t>
        <a:bodyPr/>
        <a:lstStyle/>
        <a:p>
          <a:endParaRPr lang="en-US"/>
        </a:p>
      </dgm:t>
    </dgm:pt>
    <dgm:pt modelId="{BA6BF22C-879A-4C8E-873D-54AF1FB66BC0}" type="pres">
      <dgm:prSet presAssocID="{9A6E3F2B-78AD-4442-AE77-310885B2C9F4}" presName="composite" presStyleCnt="0"/>
      <dgm:spPr/>
    </dgm:pt>
    <dgm:pt modelId="{3EAEA5FC-DCC6-4FAF-8970-4DECE5BDB687}" type="pres">
      <dgm:prSet presAssocID="{9A6E3F2B-78AD-4442-AE77-310885B2C9F4}" presName="parTx" presStyleLbl="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A7794F-03DA-4E48-A4A9-8450E94521B5}" type="pres">
      <dgm:prSet presAssocID="{9A6E3F2B-78AD-4442-AE77-310885B2C9F4}" presName="parSh" presStyleLbl="node1" presStyleIdx="1" presStyleCnt="2"/>
      <dgm:spPr/>
      <dgm:t>
        <a:bodyPr/>
        <a:lstStyle/>
        <a:p>
          <a:endParaRPr lang="en-US"/>
        </a:p>
      </dgm:t>
    </dgm:pt>
    <dgm:pt modelId="{F3D9F26D-19E1-4378-ADF7-394F30F47CB9}" type="pres">
      <dgm:prSet presAssocID="{9A6E3F2B-78AD-4442-AE77-310885B2C9F4}" presName="desTx" presStyleLbl="fgAcc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2180204-1C7A-44F2-93AB-CFEF0BA11A9B}" type="presOf" srcId="{CA743C30-0114-49AD-BC29-28A4DBEF32E9}" destId="{9B3F7F7E-36CF-42B9-8B57-602B29C86156}" srcOrd="0" destOrd="4" presId="urn:microsoft.com/office/officeart/2005/8/layout/process3"/>
    <dgm:cxn modelId="{9A973AE5-E85D-4EE7-AD66-86FDABE824B6}" type="presOf" srcId="{DC7EE672-E44D-4B0A-892E-60BEEB9D857B}" destId="{F3D9F26D-19E1-4378-ADF7-394F30F47CB9}" srcOrd="0" destOrd="0" presId="urn:microsoft.com/office/officeart/2005/8/layout/process3"/>
    <dgm:cxn modelId="{95778881-686E-4013-8529-6292520016A0}" type="presOf" srcId="{F67F98E4-CE31-4E76-8E2F-10764AB04170}" destId="{F3D9F26D-19E1-4378-ADF7-394F30F47CB9}" srcOrd="0" destOrd="2" presId="urn:microsoft.com/office/officeart/2005/8/layout/process3"/>
    <dgm:cxn modelId="{24E4B555-E8DA-40DD-9653-85A12CEAD017}" type="presOf" srcId="{9A6E3F2B-78AD-4442-AE77-310885B2C9F4}" destId="{A4A7794F-03DA-4E48-A4A9-8450E94521B5}" srcOrd="1" destOrd="0" presId="urn:microsoft.com/office/officeart/2005/8/layout/process3"/>
    <dgm:cxn modelId="{1A3ABCE2-DC3E-4EA8-BAFB-B61E43D0BF6F}" type="presOf" srcId="{8FCC3C91-7A3B-4B2A-9334-CAD940214B1A}" destId="{9B3F7F7E-36CF-42B9-8B57-602B29C86156}" srcOrd="0" destOrd="1" presId="urn:microsoft.com/office/officeart/2005/8/layout/process3"/>
    <dgm:cxn modelId="{9DD6D795-611F-4BFF-829D-1758FFCE4B11}" type="presOf" srcId="{BC6FA432-BA05-4668-BEE6-26A1F930927D}" destId="{9B3F7F7E-36CF-42B9-8B57-602B29C86156}" srcOrd="0" destOrd="2" presId="urn:microsoft.com/office/officeart/2005/8/layout/process3"/>
    <dgm:cxn modelId="{3FCC478B-16B6-4383-B929-5FADEFC1E400}" srcId="{46270B7D-B15F-4019-916D-2B6101C97196}" destId="{8FCC3C91-7A3B-4B2A-9334-CAD940214B1A}" srcOrd="1" destOrd="0" parTransId="{B6C8D0AE-CA9F-4BD7-B155-8E846DAF0D27}" sibTransId="{958143AE-42B2-4039-B73A-21CDEFE11CEB}"/>
    <dgm:cxn modelId="{2825EEE3-B73B-4626-A26A-254A5326B4FA}" type="presOf" srcId="{D8BE9D42-1CA2-45D9-9775-B7C7BCCF0BA4}" destId="{9B3F7F7E-36CF-42B9-8B57-602B29C86156}" srcOrd="0" destOrd="3" presId="urn:microsoft.com/office/officeart/2005/8/layout/process3"/>
    <dgm:cxn modelId="{88CE3652-E332-4112-A19B-81468E2148BB}" srcId="{46270B7D-B15F-4019-916D-2B6101C97196}" destId="{D8BE9D42-1CA2-45D9-9775-B7C7BCCF0BA4}" srcOrd="3" destOrd="0" parTransId="{FEEDE57E-321E-4747-9478-32D3A5A6B453}" sibTransId="{306DED80-B2CE-4498-AD20-118FE1B393DA}"/>
    <dgm:cxn modelId="{F8D03645-FE15-4F8D-9994-482C92E533C9}" type="presOf" srcId="{46270B7D-B15F-4019-916D-2B6101C97196}" destId="{06904901-5B5C-41AC-AAAC-C356653B8795}" srcOrd="0" destOrd="0" presId="urn:microsoft.com/office/officeart/2005/8/layout/process3"/>
    <dgm:cxn modelId="{3650E6F1-F1E9-40E4-810E-3BF9C5C3C4E8}" srcId="{9A6E3F2B-78AD-4442-AE77-310885B2C9F4}" destId="{4A56CF96-8D79-4278-9254-F5F28D6DFD3C}" srcOrd="3" destOrd="0" parTransId="{A7D200B6-B132-4176-881C-536079A8B8A5}" sibTransId="{16F6C339-1606-4B11-89BB-4F09E33EF90B}"/>
    <dgm:cxn modelId="{3DF1C9F1-4CEC-448C-9A4D-CB5C8F913523}" type="presOf" srcId="{46270B7D-B15F-4019-916D-2B6101C97196}" destId="{F7419855-BE5D-45B9-81FD-26EFE7BF6E68}" srcOrd="1" destOrd="0" presId="urn:microsoft.com/office/officeart/2005/8/layout/process3"/>
    <dgm:cxn modelId="{505E5290-C658-4BA0-B279-29C308898073}" type="presOf" srcId="{4A56CF96-8D79-4278-9254-F5F28D6DFD3C}" destId="{F3D9F26D-19E1-4378-ADF7-394F30F47CB9}" srcOrd="0" destOrd="3" presId="urn:microsoft.com/office/officeart/2005/8/layout/process3"/>
    <dgm:cxn modelId="{9C5FD0BB-445A-46B2-A91F-04AFC95DD745}" srcId="{46270B7D-B15F-4019-916D-2B6101C97196}" destId="{B1A86D8F-E26F-4A7B-97A3-7BF2F1C89422}" srcOrd="0" destOrd="0" parTransId="{C91F4ADD-6C83-417D-9A96-D9ECC79199B7}" sibTransId="{86194BD9-2D7E-46FE-BA13-7111228B6F71}"/>
    <dgm:cxn modelId="{030CB692-66F5-4FFA-AA30-3CAB1F77EF76}" srcId="{9A6E3F2B-78AD-4442-AE77-310885B2C9F4}" destId="{F67F98E4-CE31-4E76-8E2F-10764AB04170}" srcOrd="2" destOrd="0" parTransId="{C0B7E224-1798-419C-9606-2D3CE8CBADAA}" sibTransId="{2DD6727E-3A7D-4B84-8464-7D66A53CCFF6}"/>
    <dgm:cxn modelId="{E003A97A-BBFA-4873-AA3B-63E2B1BEC218}" srcId="{9A6E3F2B-78AD-4442-AE77-310885B2C9F4}" destId="{DC7EE672-E44D-4B0A-892E-60BEEB9D857B}" srcOrd="0" destOrd="0" parTransId="{4927B35F-8DDD-4EAD-B6C5-EC63C45077DB}" sibTransId="{9BBD5412-2CC4-4052-A76C-8E86F604B056}"/>
    <dgm:cxn modelId="{68A21DE2-0342-46A9-88E2-DCD3D91751A5}" type="presOf" srcId="{B1A86D8F-E26F-4A7B-97A3-7BF2F1C89422}" destId="{9B3F7F7E-36CF-42B9-8B57-602B29C86156}" srcOrd="0" destOrd="0" presId="urn:microsoft.com/office/officeart/2005/8/layout/process3"/>
    <dgm:cxn modelId="{0A61A485-4705-46B2-A775-508584927D8A}" type="presOf" srcId="{6BDA3AF0-DFCA-4094-BCF1-E2885392BCB8}" destId="{F9228951-64D2-4EB7-886A-9968385B7CAB}" srcOrd="1" destOrd="0" presId="urn:microsoft.com/office/officeart/2005/8/layout/process3"/>
    <dgm:cxn modelId="{AD4520A8-9370-45CE-B4DB-2EE53B9EEC02}" type="presOf" srcId="{E93C9016-68F6-4D79-AD22-C7424693F4D0}" destId="{F3D9F26D-19E1-4378-ADF7-394F30F47CB9}" srcOrd="0" destOrd="1" presId="urn:microsoft.com/office/officeart/2005/8/layout/process3"/>
    <dgm:cxn modelId="{5BB47898-7C9A-4A30-85D2-A5CBCC471310}" srcId="{01102767-9B2A-4386-8D8C-133D75C81BCA}" destId="{9A6E3F2B-78AD-4442-AE77-310885B2C9F4}" srcOrd="1" destOrd="0" parTransId="{35B49D61-257C-4FB0-8ECD-94C7E81C3A12}" sibTransId="{040219B8-0E4C-4748-A78A-0777FDF44D19}"/>
    <dgm:cxn modelId="{E3076E6C-E9D8-40A0-AF5E-ACF676CD8010}" type="presOf" srcId="{6BDA3AF0-DFCA-4094-BCF1-E2885392BCB8}" destId="{0DDFF086-2BD4-46A5-8F6D-72BB15F2A76E}" srcOrd="0" destOrd="0" presId="urn:microsoft.com/office/officeart/2005/8/layout/process3"/>
    <dgm:cxn modelId="{3A3C7FAA-1903-4251-9147-30730F9FBDAF}" srcId="{01102767-9B2A-4386-8D8C-133D75C81BCA}" destId="{46270B7D-B15F-4019-916D-2B6101C97196}" srcOrd="0" destOrd="0" parTransId="{93214315-D4D7-4B18-BF0E-77EF395F2175}" sibTransId="{6BDA3AF0-DFCA-4094-BCF1-E2885392BCB8}"/>
    <dgm:cxn modelId="{D6303F30-2ACC-452B-BB63-A5B69939CE35}" type="presOf" srcId="{01102767-9B2A-4386-8D8C-133D75C81BCA}" destId="{53AEFAE8-2E36-422B-8066-331B1E6F9D33}" srcOrd="0" destOrd="0" presId="urn:microsoft.com/office/officeart/2005/8/layout/process3"/>
    <dgm:cxn modelId="{E3B09E2D-23A5-407C-995C-46A654CA9816}" srcId="{9A6E3F2B-78AD-4442-AE77-310885B2C9F4}" destId="{E93C9016-68F6-4D79-AD22-C7424693F4D0}" srcOrd="1" destOrd="0" parTransId="{C230668F-6F38-4D82-992C-C0330447C701}" sibTransId="{8E1DA1A6-5AF5-48BD-BDE1-BE260F440504}"/>
    <dgm:cxn modelId="{D432116B-233C-4CEC-A2ED-C2FB3E3192FD}" srcId="{46270B7D-B15F-4019-916D-2B6101C97196}" destId="{BC6FA432-BA05-4668-BEE6-26A1F930927D}" srcOrd="2" destOrd="0" parTransId="{249B0811-E55D-47E9-8ADE-FA552C0BBDDF}" sibTransId="{DD52C177-C3AE-473E-9896-85EEA560467E}"/>
    <dgm:cxn modelId="{A03C8FCD-90E8-475C-99CA-0189E56E7BDD}" type="presOf" srcId="{9A6E3F2B-78AD-4442-AE77-310885B2C9F4}" destId="{3EAEA5FC-DCC6-4FAF-8970-4DECE5BDB687}" srcOrd="0" destOrd="0" presId="urn:microsoft.com/office/officeart/2005/8/layout/process3"/>
    <dgm:cxn modelId="{E1F66AA5-A65B-4E61-B51C-E5CD4639B7FC}" srcId="{46270B7D-B15F-4019-916D-2B6101C97196}" destId="{CA743C30-0114-49AD-BC29-28A4DBEF32E9}" srcOrd="4" destOrd="0" parTransId="{0470637F-A57E-4065-844C-4E282EFD9ADF}" sibTransId="{B2FA243E-FE6C-4840-B54F-616858BA51F0}"/>
    <dgm:cxn modelId="{355BFA22-7ADD-44F2-A72A-46C123686350}" type="presParOf" srcId="{53AEFAE8-2E36-422B-8066-331B1E6F9D33}" destId="{1EC1854E-BA54-43B5-9914-CA3B96D51E75}" srcOrd="0" destOrd="0" presId="urn:microsoft.com/office/officeart/2005/8/layout/process3"/>
    <dgm:cxn modelId="{18591B31-B27C-4759-9806-09CFA2D215D0}" type="presParOf" srcId="{1EC1854E-BA54-43B5-9914-CA3B96D51E75}" destId="{06904901-5B5C-41AC-AAAC-C356653B8795}" srcOrd="0" destOrd="0" presId="urn:microsoft.com/office/officeart/2005/8/layout/process3"/>
    <dgm:cxn modelId="{E2405538-A8BC-47D3-96BB-C68BD2DC481F}" type="presParOf" srcId="{1EC1854E-BA54-43B5-9914-CA3B96D51E75}" destId="{F7419855-BE5D-45B9-81FD-26EFE7BF6E68}" srcOrd="1" destOrd="0" presId="urn:microsoft.com/office/officeart/2005/8/layout/process3"/>
    <dgm:cxn modelId="{9FF0A98C-6D9B-4AE8-9DB3-EBEA38945F05}" type="presParOf" srcId="{1EC1854E-BA54-43B5-9914-CA3B96D51E75}" destId="{9B3F7F7E-36CF-42B9-8B57-602B29C86156}" srcOrd="2" destOrd="0" presId="urn:microsoft.com/office/officeart/2005/8/layout/process3"/>
    <dgm:cxn modelId="{B193DD97-5E5F-4A37-8337-62B14B060CEE}" type="presParOf" srcId="{53AEFAE8-2E36-422B-8066-331B1E6F9D33}" destId="{0DDFF086-2BD4-46A5-8F6D-72BB15F2A76E}" srcOrd="1" destOrd="0" presId="urn:microsoft.com/office/officeart/2005/8/layout/process3"/>
    <dgm:cxn modelId="{A121768D-8430-4750-AEFC-2B158DBC518C}" type="presParOf" srcId="{0DDFF086-2BD4-46A5-8F6D-72BB15F2A76E}" destId="{F9228951-64D2-4EB7-886A-9968385B7CAB}" srcOrd="0" destOrd="0" presId="urn:microsoft.com/office/officeart/2005/8/layout/process3"/>
    <dgm:cxn modelId="{EDB39993-0BFB-4E3F-A955-CB75B058E2AE}" type="presParOf" srcId="{53AEFAE8-2E36-422B-8066-331B1E6F9D33}" destId="{BA6BF22C-879A-4C8E-873D-54AF1FB66BC0}" srcOrd="2" destOrd="0" presId="urn:microsoft.com/office/officeart/2005/8/layout/process3"/>
    <dgm:cxn modelId="{6C8140BB-CAD6-4925-8B29-2FFE35CA6BC9}" type="presParOf" srcId="{BA6BF22C-879A-4C8E-873D-54AF1FB66BC0}" destId="{3EAEA5FC-DCC6-4FAF-8970-4DECE5BDB687}" srcOrd="0" destOrd="0" presId="urn:microsoft.com/office/officeart/2005/8/layout/process3"/>
    <dgm:cxn modelId="{F74757D6-1AAC-4E45-B62A-A14D352E6F56}" type="presParOf" srcId="{BA6BF22C-879A-4C8E-873D-54AF1FB66BC0}" destId="{A4A7794F-03DA-4E48-A4A9-8450E94521B5}" srcOrd="1" destOrd="0" presId="urn:microsoft.com/office/officeart/2005/8/layout/process3"/>
    <dgm:cxn modelId="{E0F8B1BF-A909-4886-8D19-3D80A625BB2A}" type="presParOf" srcId="{BA6BF22C-879A-4C8E-873D-54AF1FB66BC0}" destId="{F3D9F26D-19E1-4378-ADF7-394F30F47CB9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419855-BE5D-45B9-81FD-26EFE7BF6E68}">
      <dsp:nvSpPr>
        <dsp:cNvPr id="0" name=""/>
        <dsp:cNvSpPr/>
      </dsp:nvSpPr>
      <dsp:spPr>
        <a:xfrm>
          <a:off x="4129" y="62333"/>
          <a:ext cx="3545213" cy="1842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125730" numCol="1" spcCol="1270" anchor="t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Spanish Technology</a:t>
          </a:r>
          <a:endParaRPr lang="en-US" sz="3300" kern="1200" dirty="0"/>
        </a:p>
      </dsp:txBody>
      <dsp:txXfrm>
        <a:off x="4129" y="62333"/>
        <a:ext cx="3545213" cy="1228088"/>
      </dsp:txXfrm>
    </dsp:sp>
    <dsp:sp modelId="{9B3F7F7E-36CF-42B9-8B57-602B29C86156}">
      <dsp:nvSpPr>
        <dsp:cNvPr id="0" name=""/>
        <dsp:cNvSpPr/>
      </dsp:nvSpPr>
      <dsp:spPr>
        <a:xfrm>
          <a:off x="730257" y="1290421"/>
          <a:ext cx="3545213" cy="44271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34696" rIns="234696" bIns="234696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300" kern="1200" dirty="0" smtClean="0"/>
            <a:t>Guns</a:t>
          </a:r>
          <a:endParaRPr lang="en-US" sz="3300" kern="1200" dirty="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300" kern="1200" dirty="0" smtClean="0"/>
            <a:t>Horses</a:t>
          </a:r>
          <a:endParaRPr lang="en-US" sz="3300" kern="1200" dirty="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300" kern="1200" dirty="0" smtClean="0"/>
            <a:t>Armor</a:t>
          </a:r>
          <a:endParaRPr lang="en-US" sz="3300" kern="1200" dirty="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300" kern="1200" dirty="0" smtClean="0"/>
            <a:t>Cannons</a:t>
          </a:r>
          <a:endParaRPr lang="en-US" sz="3300" kern="1200" dirty="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300" kern="1200" dirty="0" smtClean="0"/>
            <a:t>Ships</a:t>
          </a:r>
          <a:endParaRPr lang="en-US" sz="3300" kern="1200" dirty="0"/>
        </a:p>
      </dsp:txBody>
      <dsp:txXfrm>
        <a:off x="834093" y="1394257"/>
        <a:ext cx="3337541" cy="4219484"/>
      </dsp:txXfrm>
    </dsp:sp>
    <dsp:sp modelId="{0DDFF086-2BD4-46A5-8F6D-72BB15F2A76E}">
      <dsp:nvSpPr>
        <dsp:cNvPr id="0" name=""/>
        <dsp:cNvSpPr/>
      </dsp:nvSpPr>
      <dsp:spPr>
        <a:xfrm>
          <a:off x="4086784" y="235049"/>
          <a:ext cx="1139375" cy="8826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600" kern="1200"/>
        </a:p>
      </dsp:txBody>
      <dsp:txXfrm>
        <a:off x="4086784" y="411580"/>
        <a:ext cx="874579" cy="529593"/>
      </dsp:txXfrm>
    </dsp:sp>
    <dsp:sp modelId="{A4A7794F-03DA-4E48-A4A9-8450E94521B5}">
      <dsp:nvSpPr>
        <dsp:cNvPr id="0" name=""/>
        <dsp:cNvSpPr/>
      </dsp:nvSpPr>
      <dsp:spPr>
        <a:xfrm>
          <a:off x="5699109" y="62333"/>
          <a:ext cx="3545213" cy="1842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125730" numCol="1" spcCol="1270" anchor="t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Inca Technology</a:t>
          </a:r>
          <a:endParaRPr lang="en-US" sz="3300" kern="1200" dirty="0"/>
        </a:p>
      </dsp:txBody>
      <dsp:txXfrm>
        <a:off x="5699109" y="62333"/>
        <a:ext cx="3545213" cy="1228088"/>
      </dsp:txXfrm>
    </dsp:sp>
    <dsp:sp modelId="{F3D9F26D-19E1-4378-ADF7-394F30F47CB9}">
      <dsp:nvSpPr>
        <dsp:cNvPr id="0" name=""/>
        <dsp:cNvSpPr/>
      </dsp:nvSpPr>
      <dsp:spPr>
        <a:xfrm>
          <a:off x="6425236" y="1290421"/>
          <a:ext cx="3545213" cy="44271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34696" rIns="234696" bIns="234696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300" kern="1200" dirty="0" smtClean="0"/>
            <a:t>Bows and Arrows</a:t>
          </a:r>
          <a:endParaRPr lang="en-US" sz="3300" kern="1200" dirty="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300" kern="1200" dirty="0" smtClean="0"/>
            <a:t>Spears</a:t>
          </a:r>
          <a:endParaRPr lang="en-US" sz="3300" kern="1200" dirty="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300" kern="1200" dirty="0" smtClean="0"/>
            <a:t>TERRIFIED of horses</a:t>
          </a:r>
          <a:endParaRPr lang="en-US" sz="3300" kern="1200" dirty="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300" kern="1200" dirty="0" smtClean="0"/>
            <a:t>Never had seen guns or armor.</a:t>
          </a:r>
          <a:endParaRPr lang="en-US" sz="3300" kern="1200" dirty="0"/>
        </a:p>
      </dsp:txBody>
      <dsp:txXfrm>
        <a:off x="6529072" y="1394257"/>
        <a:ext cx="3337541" cy="42194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55663" y="0"/>
            <a:ext cx="8298180" cy="325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55663" y="6583680"/>
            <a:ext cx="8298180" cy="293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3413760"/>
            <a:ext cx="8298180" cy="1625600"/>
          </a:xfrm>
        </p:spPr>
        <p:txBody>
          <a:bodyPr>
            <a:noAutofit/>
          </a:bodyPr>
          <a:lstStyle>
            <a:lvl1pPr>
              <a:defRPr sz="9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5039360"/>
            <a:ext cx="7543800" cy="1056640"/>
          </a:xfrm>
        </p:spPr>
        <p:txBody>
          <a:bodyPr anchor="t">
            <a:normAutofit/>
          </a:bodyPr>
          <a:lstStyle>
            <a:lvl1pPr marL="0" indent="0" algn="l">
              <a:buNone/>
              <a:defRPr sz="3400">
                <a:solidFill>
                  <a:schemeClr val="tx2"/>
                </a:solidFill>
              </a:defRPr>
            </a:lvl1pPr>
            <a:lvl2pPr marL="555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11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678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238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79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357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91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4476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F0E5F1-3683-4C02-A0BE-E8B6E74B1700}" type="datetimeFigureOut">
              <a:rPr lang="en-US"/>
              <a:pPr>
                <a:defRPr/>
              </a:pPr>
              <a:t>8/13/2013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081CAB-F8AF-455D-A4C3-A8BA180C11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76941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257FC-C12A-41D0-A5BC-B0D6BDA2B5E7}" type="datetimeFigureOut">
              <a:rPr lang="en-US"/>
              <a:pPr>
                <a:defRPr/>
              </a:pPr>
              <a:t>8/13/2013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43DE6-C2A4-4C53-87BC-8485AC3815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49288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55663" y="0"/>
            <a:ext cx="8298180" cy="325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55663" y="6583680"/>
            <a:ext cx="8298180" cy="293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95040"/>
            <a:ext cx="8298180" cy="1788160"/>
          </a:xfrm>
        </p:spPr>
        <p:txBody>
          <a:bodyPr/>
          <a:lstStyle>
            <a:lvl1pPr algn="l">
              <a:defRPr sz="6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283200"/>
            <a:ext cx="7543800" cy="975360"/>
          </a:xfrm>
        </p:spPr>
        <p:txBody>
          <a:bodyPr anchor="t">
            <a:normAutofit/>
          </a:bodyPr>
          <a:lstStyle>
            <a:lvl1pPr marL="0" indent="0">
              <a:buNone/>
              <a:defRPr sz="3400">
                <a:solidFill>
                  <a:schemeClr val="tx2"/>
                </a:solidFill>
              </a:defRPr>
            </a:lvl1pPr>
            <a:lvl2pPr marL="55595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1191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66786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23821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77977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335731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89168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447642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540339-99C9-45BC-ADE3-90901AA8C540}" type="datetimeFigureOut">
              <a:rPr lang="en-US"/>
              <a:pPr>
                <a:defRPr/>
              </a:pPr>
              <a:t>8/13/2013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7C1A12-C6B2-4200-B1C5-C6C3E72573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04637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650242"/>
            <a:ext cx="4023360" cy="4018483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0" y="650242"/>
            <a:ext cx="4023360" cy="4018483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266A-39B9-4B13-B00E-CC7D5C01951C}" type="datetimeFigureOut">
              <a:rPr lang="en-US"/>
              <a:pPr>
                <a:defRPr/>
              </a:pPr>
              <a:t>8/13/2013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A61682-82A2-4942-9348-3580970ABC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58934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834708" y="1332089"/>
            <a:ext cx="4023360" cy="22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109528" y="1332089"/>
            <a:ext cx="4023360" cy="22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847" y="650240"/>
            <a:ext cx="4023360" cy="682414"/>
          </a:xfrm>
        </p:spPr>
        <p:txBody>
          <a:bodyPr anchor="b">
            <a:noAutofit/>
          </a:bodyPr>
          <a:lstStyle>
            <a:lvl1pPr marL="0" indent="0">
              <a:buNone/>
              <a:defRPr sz="3400" b="0">
                <a:latin typeface="+mj-lt"/>
              </a:defRPr>
            </a:lvl1pPr>
            <a:lvl2pPr marL="555955" indent="0">
              <a:buNone/>
              <a:defRPr sz="2400" b="1"/>
            </a:lvl2pPr>
            <a:lvl3pPr marL="1111910" indent="0">
              <a:buNone/>
              <a:defRPr sz="2200" b="1"/>
            </a:lvl3pPr>
            <a:lvl4pPr marL="1667866" indent="0">
              <a:buNone/>
              <a:defRPr sz="1900" b="1"/>
            </a:lvl4pPr>
            <a:lvl5pPr marL="2223821" indent="0">
              <a:buNone/>
              <a:defRPr sz="1900" b="1"/>
            </a:lvl5pPr>
            <a:lvl6pPr marL="2779776" indent="0">
              <a:buNone/>
              <a:defRPr sz="1900" b="1"/>
            </a:lvl6pPr>
            <a:lvl7pPr marL="3335731" indent="0">
              <a:buNone/>
              <a:defRPr sz="1900" b="1"/>
            </a:lvl7pPr>
            <a:lvl8pPr marL="3891686" indent="0">
              <a:buNone/>
              <a:defRPr sz="1900" b="1"/>
            </a:lvl8pPr>
            <a:lvl9pPr marL="4447642" indent="0">
              <a:buNone/>
              <a:defRPr sz="1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4847" y="1417882"/>
            <a:ext cx="4023360" cy="3251200"/>
          </a:xfrm>
        </p:spPr>
        <p:txBody>
          <a:bodyPr anchor="t"/>
          <a:lstStyle>
            <a:lvl1pPr>
              <a:defRPr sz="2900"/>
            </a:lvl1pPr>
            <a:lvl2pPr>
              <a:defRPr sz="24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9667" y="650240"/>
            <a:ext cx="4023360" cy="682414"/>
          </a:xfrm>
        </p:spPr>
        <p:txBody>
          <a:bodyPr anchor="b">
            <a:noAutofit/>
          </a:bodyPr>
          <a:lstStyle>
            <a:lvl1pPr marL="0" indent="0">
              <a:buNone/>
              <a:defRPr sz="3400" b="0">
                <a:latin typeface="+mj-lt"/>
              </a:defRPr>
            </a:lvl1pPr>
            <a:lvl2pPr marL="555955" indent="0">
              <a:buNone/>
              <a:defRPr sz="2400" b="1"/>
            </a:lvl2pPr>
            <a:lvl3pPr marL="1111910" indent="0">
              <a:buNone/>
              <a:defRPr sz="2200" b="1"/>
            </a:lvl3pPr>
            <a:lvl4pPr marL="1667866" indent="0">
              <a:buNone/>
              <a:defRPr sz="1900" b="1"/>
            </a:lvl4pPr>
            <a:lvl5pPr marL="2223821" indent="0">
              <a:buNone/>
              <a:defRPr sz="1900" b="1"/>
            </a:lvl5pPr>
            <a:lvl6pPr marL="2779776" indent="0">
              <a:buNone/>
              <a:defRPr sz="1900" b="1"/>
            </a:lvl6pPr>
            <a:lvl7pPr marL="3335731" indent="0">
              <a:buNone/>
              <a:defRPr sz="1900" b="1"/>
            </a:lvl7pPr>
            <a:lvl8pPr marL="3891686" indent="0">
              <a:buNone/>
              <a:defRPr sz="1900" b="1"/>
            </a:lvl8pPr>
            <a:lvl9pPr marL="4447642" indent="0">
              <a:buNone/>
              <a:defRPr sz="1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9667" y="1417882"/>
            <a:ext cx="4023360" cy="3251200"/>
          </a:xfrm>
        </p:spPr>
        <p:txBody>
          <a:bodyPr anchor="t"/>
          <a:lstStyle>
            <a:lvl1pPr>
              <a:defRPr sz="2900"/>
            </a:lvl1pPr>
            <a:lvl2pPr>
              <a:defRPr sz="24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049257-FED9-4EB8-B399-F36F2CD31ADD}" type="datetimeFigureOut">
              <a:rPr lang="en-US"/>
              <a:pPr>
                <a:defRPr/>
              </a:pPr>
              <a:t>8/13/2013</a:t>
            </a:fld>
            <a:endParaRPr lang="en-US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FB5B8D-2F9A-4C1E-B622-4C47C45BB1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90255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EDC8E6-C682-46FF-B370-19ACBBB51819}" type="datetimeFigureOut">
              <a:rPr lang="en-US"/>
              <a:pPr>
                <a:defRPr/>
              </a:pPr>
              <a:t>8/13/2013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F1C645-1D8D-4906-8DE1-083EC28874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155323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59EF2C-5860-4A5C-95E2-7E671AC5FFF9}" type="datetimeFigureOut">
              <a:rPr lang="en-US"/>
              <a:pPr>
                <a:defRPr/>
              </a:pPr>
              <a:t>8/13/2013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C7F18-6473-4A15-9271-76C851F27F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4671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rot="5400000">
            <a:off x="1908413" y="2681367"/>
            <a:ext cx="4064000" cy="1747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876800"/>
            <a:ext cx="7463333" cy="1706880"/>
          </a:xfrm>
        </p:spPr>
        <p:txBody>
          <a:bodyPr>
            <a:normAutofit/>
          </a:bodyPr>
          <a:lstStyle>
            <a:lvl1pPr algn="l">
              <a:defRPr sz="66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953" y="487681"/>
            <a:ext cx="5054427" cy="4389119"/>
          </a:xfrm>
        </p:spPr>
        <p:txBody>
          <a:bodyPr/>
          <a:lstStyle>
            <a:lvl1pPr>
              <a:defRPr sz="2900"/>
            </a:lvl1pPr>
            <a:lvl2pPr>
              <a:defRPr sz="27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3" y="487680"/>
            <a:ext cx="2941023" cy="4389120"/>
          </a:xfrm>
        </p:spPr>
        <p:txBody>
          <a:bodyPr>
            <a:normAutofit/>
          </a:bodyPr>
          <a:lstStyle>
            <a:lvl1pPr marL="0" indent="0">
              <a:buNone/>
              <a:defRPr sz="2600">
                <a:solidFill>
                  <a:schemeClr val="tx2"/>
                </a:solidFill>
              </a:defRPr>
            </a:lvl1pPr>
            <a:lvl2pPr marL="555955" indent="0">
              <a:buNone/>
              <a:defRPr sz="1500"/>
            </a:lvl2pPr>
            <a:lvl3pPr marL="1111910" indent="0">
              <a:buNone/>
              <a:defRPr sz="1200"/>
            </a:lvl3pPr>
            <a:lvl4pPr marL="1667866" indent="0">
              <a:buNone/>
              <a:defRPr sz="1100"/>
            </a:lvl4pPr>
            <a:lvl5pPr marL="2223821" indent="0">
              <a:buNone/>
              <a:defRPr sz="1100"/>
            </a:lvl5pPr>
            <a:lvl6pPr marL="2779776" indent="0">
              <a:buNone/>
              <a:defRPr sz="1100"/>
            </a:lvl6pPr>
            <a:lvl7pPr marL="3335731" indent="0">
              <a:buNone/>
              <a:defRPr sz="1100"/>
            </a:lvl7pPr>
            <a:lvl8pPr marL="3891686" indent="0">
              <a:buNone/>
              <a:defRPr sz="1100"/>
            </a:lvl8pPr>
            <a:lvl9pPr marL="4447642" indent="0">
              <a:buNone/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861838-6017-4779-9557-2301FD99215A}" type="datetimeFigureOut">
              <a:rPr lang="en-US"/>
              <a:pPr>
                <a:defRPr/>
              </a:pPr>
              <a:t>8/13/2013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AA5E9C-5140-4529-AF91-35EE52B61E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16952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847" y="4876800"/>
            <a:ext cx="7463333" cy="1706880"/>
          </a:xfrm>
        </p:spPr>
        <p:txBody>
          <a:bodyPr>
            <a:normAutofit/>
          </a:bodyPr>
          <a:lstStyle>
            <a:lvl1pPr algn="l">
              <a:defRPr sz="6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54964" y="487680"/>
            <a:ext cx="8298180" cy="3088640"/>
          </a:xfrm>
          <a:ln w="6350">
            <a:solidFill>
              <a:schemeClr val="tx2"/>
            </a:solidFill>
          </a:ln>
        </p:spPr>
        <p:txBody>
          <a:bodyPr rtlCol="0">
            <a:normAutofit/>
          </a:bodyPr>
          <a:lstStyle>
            <a:lvl1pPr marL="0" indent="0">
              <a:buNone/>
              <a:defRPr sz="3900"/>
            </a:lvl1pPr>
            <a:lvl2pPr marL="555955" indent="0">
              <a:buNone/>
              <a:defRPr sz="3400"/>
            </a:lvl2pPr>
            <a:lvl3pPr marL="1111910" indent="0">
              <a:buNone/>
              <a:defRPr sz="2900"/>
            </a:lvl3pPr>
            <a:lvl4pPr marL="1667866" indent="0">
              <a:buNone/>
              <a:defRPr sz="2400"/>
            </a:lvl4pPr>
            <a:lvl5pPr marL="2223821" indent="0">
              <a:buNone/>
              <a:defRPr sz="2400"/>
            </a:lvl5pPr>
            <a:lvl6pPr marL="2779776" indent="0">
              <a:buNone/>
              <a:defRPr sz="2400"/>
            </a:lvl6pPr>
            <a:lvl7pPr marL="3335731" indent="0">
              <a:buNone/>
              <a:defRPr sz="2400"/>
            </a:lvl7pPr>
            <a:lvl8pPr marL="3891686" indent="0">
              <a:buNone/>
              <a:defRPr sz="2400"/>
            </a:lvl8pPr>
            <a:lvl9pPr marL="4447642" indent="0">
              <a:buNone/>
              <a:defRPr sz="24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5431" y="3738881"/>
            <a:ext cx="8130540" cy="858520"/>
          </a:xfrm>
        </p:spPr>
        <p:txBody>
          <a:bodyPr anchor="t">
            <a:normAutofit/>
          </a:bodyPr>
          <a:lstStyle>
            <a:lvl1pPr marL="0" indent="0">
              <a:buNone/>
              <a:defRPr sz="2200"/>
            </a:lvl1pPr>
            <a:lvl2pPr marL="555955" indent="0">
              <a:buNone/>
              <a:defRPr sz="1500"/>
            </a:lvl2pPr>
            <a:lvl3pPr marL="1111910" indent="0">
              <a:buNone/>
              <a:defRPr sz="1200"/>
            </a:lvl3pPr>
            <a:lvl4pPr marL="1667866" indent="0">
              <a:buNone/>
              <a:defRPr sz="1100"/>
            </a:lvl4pPr>
            <a:lvl5pPr marL="2223821" indent="0">
              <a:buNone/>
              <a:defRPr sz="1100"/>
            </a:lvl5pPr>
            <a:lvl6pPr marL="2779776" indent="0">
              <a:buNone/>
              <a:defRPr sz="1100"/>
            </a:lvl6pPr>
            <a:lvl7pPr marL="3335731" indent="0">
              <a:buNone/>
              <a:defRPr sz="1100"/>
            </a:lvl7pPr>
            <a:lvl8pPr marL="3891686" indent="0">
              <a:buNone/>
              <a:defRPr sz="1100"/>
            </a:lvl8pPr>
            <a:lvl9pPr marL="4447642" indent="0">
              <a:buNone/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BDCD2B-0BE4-49F7-9135-4F2BACA01416}" type="datetimeFigureOut">
              <a:rPr lang="en-US"/>
              <a:pPr>
                <a:defRPr/>
              </a:pPr>
              <a:t>8/13/2013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B81C44-8741-47A1-9A56-8E623409DA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259637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731520"/>
            <a:ext cx="7962900" cy="414528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F6ACF8-8FD4-4960-86A6-9279D5FEBA7E}" type="datetimeFigureOut">
              <a:rPr lang="en-US"/>
              <a:pPr>
                <a:defRPr/>
              </a:pPr>
              <a:t>8/13/2013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99E71-0DAB-432A-BED6-9427213CBA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861885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8200" y="731522"/>
            <a:ext cx="2011680" cy="5770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9880" y="731521"/>
            <a:ext cx="6286500" cy="520192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703515-263E-40AC-B897-1CBA8C596ACF}" type="datetimeFigureOut">
              <a:rPr lang="en-US"/>
              <a:pPr>
                <a:defRPr/>
              </a:pPr>
              <a:t>8/13/2013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904FC1-8690-4A81-9C96-009857510F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62210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4876800"/>
            <a:ext cx="7459980" cy="1706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11191" tIns="55596" rIns="111191" bIns="55596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731520"/>
            <a:ext cx="8298180" cy="4145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11191" tIns="55596" rIns="111191" bIns="5559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73240" y="6622064"/>
            <a:ext cx="2346960" cy="390595"/>
          </a:xfrm>
          <a:prstGeom prst="rect">
            <a:avLst/>
          </a:prstGeom>
        </p:spPr>
        <p:txBody>
          <a:bodyPr vert="horz" lIns="111191" tIns="55596" rIns="111191" bIns="55596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5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7C58EF6-6FD3-461F-8CE8-0DF01CE8E68D}" type="datetimeFigureOut">
              <a:rPr lang="en-US"/>
              <a:pPr>
                <a:defRPr/>
              </a:pPr>
              <a:t>8/13/2013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622064"/>
            <a:ext cx="5360988" cy="390595"/>
          </a:xfrm>
          <a:prstGeom prst="rect">
            <a:avLst/>
          </a:prstGeom>
        </p:spPr>
        <p:txBody>
          <a:bodyPr vert="horz" lIns="111191" tIns="55596" rIns="111191" bIns="55596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5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0" y="6066650"/>
            <a:ext cx="838200" cy="390595"/>
          </a:xfrm>
          <a:prstGeom prst="rect">
            <a:avLst/>
          </a:prstGeom>
        </p:spPr>
        <p:txBody>
          <a:bodyPr vert="horz" lIns="111191" tIns="55596" rIns="111191" bIns="55596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29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EF96D1FE-E3F3-46E3-B07D-9CE63C3AC7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55663" y="0"/>
            <a:ext cx="8298180" cy="40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55663" y="6583680"/>
            <a:ext cx="8298180" cy="293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0" r:id="rId2"/>
    <p:sldLayoutId id="2147483828" r:id="rId3"/>
    <p:sldLayoutId id="2147483821" r:id="rId4"/>
    <p:sldLayoutId id="2147483829" r:id="rId5"/>
    <p:sldLayoutId id="2147483822" r:id="rId6"/>
    <p:sldLayoutId id="2147483823" r:id="rId7"/>
    <p:sldLayoutId id="2147483830" r:id="rId8"/>
    <p:sldLayoutId id="2147483824" r:id="rId9"/>
    <p:sldLayoutId id="2147483825" r:id="rId10"/>
    <p:sldLayoutId id="2147483826" r:id="rId11"/>
  </p:sldLayoutIdLst>
  <p:transition spd="slow">
    <p:cover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6600" kern="1200">
          <a:solidFill>
            <a:srgbClr val="26262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6600">
          <a:solidFill>
            <a:srgbClr val="262626"/>
          </a:solidFill>
          <a:latin typeface="Impac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6600">
          <a:solidFill>
            <a:srgbClr val="262626"/>
          </a:solidFill>
          <a:latin typeface="Impac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6600">
          <a:solidFill>
            <a:srgbClr val="262626"/>
          </a:solidFill>
          <a:latin typeface="Impac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6600">
          <a:solidFill>
            <a:srgbClr val="262626"/>
          </a:solidFill>
          <a:latin typeface="Impact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32029" indent="-332029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•"/>
        <a:defRPr sz="2900" kern="1200">
          <a:solidFill>
            <a:schemeClr val="tx2"/>
          </a:solidFill>
          <a:latin typeface="+mn-lt"/>
          <a:ea typeface="+mn-ea"/>
          <a:cs typeface="+mn-cs"/>
        </a:defRPr>
      </a:lvl1pPr>
      <a:lvl2pPr marL="721970" indent="-332029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2pPr>
      <a:lvl3pPr marL="1055929" indent="-27797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389888" indent="-27797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•"/>
        <a:defRPr kern="1200">
          <a:solidFill>
            <a:schemeClr val="tx2"/>
          </a:solidFill>
          <a:latin typeface="+mn-lt"/>
          <a:ea typeface="+mn-ea"/>
          <a:cs typeface="+mn-cs"/>
        </a:defRPr>
      </a:lvl4pPr>
      <a:lvl5pPr marL="1667866" indent="-27797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•"/>
        <a:defRPr kern="1200">
          <a:solidFill>
            <a:schemeClr val="tx2"/>
          </a:solidFill>
          <a:latin typeface="+mn-lt"/>
          <a:ea typeface="+mn-ea"/>
          <a:cs typeface="+mn-cs"/>
        </a:defRPr>
      </a:lvl5pPr>
      <a:lvl6pPr marL="2001439" indent="-277978" algn="l" defTabSz="111191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900" kern="1200">
          <a:solidFill>
            <a:schemeClr val="tx2"/>
          </a:solidFill>
          <a:latin typeface="+mn-lt"/>
          <a:ea typeface="+mn-ea"/>
          <a:cs typeface="+mn-cs"/>
        </a:defRPr>
      </a:lvl6pPr>
      <a:lvl7pPr marL="2312774" indent="-277978" algn="l" defTabSz="111191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900" kern="1200">
          <a:solidFill>
            <a:schemeClr val="tx2"/>
          </a:solidFill>
          <a:latin typeface="+mn-lt"/>
          <a:ea typeface="+mn-ea"/>
          <a:cs typeface="+mn-cs"/>
        </a:defRPr>
      </a:lvl7pPr>
      <a:lvl8pPr marL="2668585" indent="-277978" algn="l" defTabSz="111191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900" kern="1200">
          <a:solidFill>
            <a:schemeClr val="tx2"/>
          </a:solidFill>
          <a:latin typeface="+mn-lt"/>
          <a:ea typeface="+mn-ea"/>
          <a:cs typeface="+mn-cs"/>
        </a:defRPr>
      </a:lvl8pPr>
      <a:lvl9pPr marL="3002158" indent="-277978" algn="l" defTabSz="111191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1191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5955" algn="l" defTabSz="111191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1910" algn="l" defTabSz="111191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67866" algn="l" defTabSz="111191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3821" algn="l" defTabSz="111191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79776" algn="l" defTabSz="111191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35731" algn="l" defTabSz="111191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91686" algn="l" defTabSz="111191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47642" algn="l" defTabSz="111191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thacalibrary.com/sp/subjects/primary" TargetMode="External"/><Relationship Id="rId2" Type="http://schemas.openxmlformats.org/officeDocument/2006/relationships/hyperlink" Target="http://www.mrdaltonsclass.com/primary-vs-secondary-sources.html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jpeg"/><Relationship Id="rId4" Type="http://schemas.openxmlformats.org/officeDocument/2006/relationships/hyperlink" Target="mailto:jdalton@rivercityscience.org?subject=Primaryvssecondarysources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://www.google.com/imgres?imgurl=http://union.okstate.edu/bookstore/images/textbooks.jpg&amp;imgrefurl=http://union.okstate.edu/bookstore/buyback_info.htm&amp;usg=__mEIuGchz-Hp91YSL1kmPm7yLBqU=&amp;h=365&amp;w=300&amp;sz=18&amp;hl=en&amp;start=6&amp;zoom=1&amp;tbnid=HeH8zFaitgkAhM:&amp;tbnh=121&amp;tbnw=99&amp;ei=gBg2UK3kNpPo9gSxxICwAg&amp;prev=/search?q=textbook&amp;um=1&amp;hl=en&amp;sa=N&amp;rlz=1T4ADSA_enUS371US371&amp;tbm=isch&amp;um=1&amp;itbs=1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://www.google.com/imgres?imgurl=http://ia.media-imdb.com/images/M/MV5BMTg5OTAyNDE3NV5BMl5BanBnXkFtZTYwOTkzMzE3._V1._SY317_CR1,0,214,317_.jpg&amp;imgrefurl=http://www.imdb.com/title/tt0300556/&amp;usg=__zJ5QxBLBCypTjOF2X6-WhZDizhE=&amp;h=317&amp;w=214&amp;sz=19&amp;hl=en&amp;start=2&amp;zoom=1&amp;tbnid=Qvdc38JZ5Iw5_M:&amp;tbnh=118&amp;tbnw=80&amp;ei=3bU8UPf3N4L28wTy3oCgCg&amp;prev=/search?q=timeline&amp;um=1&amp;hl=en&amp;rls=com.microsoft:*:IE-SearchBox&amp;rlz=1I7ADSA_enUS371&amp;tbm=isch&amp;um=1&amp;itbs=1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hyperlink" Target="http://www.google.com/imgres?imgurl=http://upload.wikimedia.org/wikipedia/commons/thumb/c/cc/Joe_Biden_official_portrait_crop.jpg/220px-Joe_Biden_official_portrait_crop.jpg&amp;imgrefurl=http://nds.wikipedia.org/wiki/Joe_Biden&amp;usg=__VrPc3O6YHTZ1i3go3jmivbApMM8=&amp;h=275&amp;w=220&amp;sz=16&amp;hl=en&amp;start=1&amp;zoom=1&amp;tbnid=FEnrIU8kJIyVwM:&amp;tbnh=114&amp;tbnw=91&amp;ei=bx82UL_zLISo8ATomIHAAw&amp;prev=/search?q=joe+biden&amp;um=1&amp;hl=en&amp;rlz=1T4ADSA_enUS371US371&amp;tbm=isch&amp;um=1&amp;itbs=1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hyperlink" Target="http://www.google.com/imgres?imgurl=http://content.sportslogos.net/logos/31/679/full/2481.gif&amp;imgrefurl=http://www.sportslogos.net/logo.php?id=2481&amp;usg=__lVL88Or766Ra5TjNR0ZeljeL-FI=&amp;h=495&amp;w=534&amp;sz=17&amp;hl=en&amp;start=2&amp;zoom=1&amp;tbnid=DsIkUPuHx8gX3M:&amp;tbnh=122&amp;tbnw=132&amp;ei=ph82UIebB4Lq8wTO_ICYBw&amp;prev=/search?q=seminoles&amp;um=1&amp;hl=en&amp;sa=N&amp;rlz=1T4ADSA_enUS371US371&amp;tbm=isch&amp;um=1&amp;itbs=1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hyperlink" Target="http://www.google.com/imgres?imgurl=http://mylearningpod.org/2011bcps44/wp-content/uploads/2011/04/Exam-Paper-A+.png&amp;imgrefurl=http://mylearningpod.org/2011bcps44/?attachment_id=6335&amp;usg=__-VhFnHhp3bJ6Di4gwYqoy5lA7WE=&amp;h=350&amp;w=239&amp;sz=61&amp;hl=en&amp;start=5&amp;zoom=1&amp;tbnid=AEGlH7b5tRKntM:&amp;tbnh=120&amp;tbnw=82&amp;ei=tx82ULiVEoW69gTeioD4Bw&amp;prev=/search?q=a++exam&amp;um=1&amp;hl=en&amp;rlz=1T4ADSA_enUS371US371&amp;tbm=isch&amp;um=1&amp;itbs=1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hyperlink" Target="http://www.google.com/imgres?imgurl=http://www.missionsanjose.org/images/graphics/mission-large.jpg&amp;imgrefurl=http://www.missionsanjose.org/&amp;usg=__CZhJs41CGDLb4Q-ODAxyTIrFt1w=&amp;h=768&amp;w=1024&amp;sz=226&amp;hl=en&amp;start=1&amp;sig2=9mHv08Yq_ACH_N5XuUJB6g&amp;zoom=1&amp;tbnid=G12fgjjB8xxOAM:&amp;tbnh=113&amp;tbnw=150&amp;ei=0ChPUNndEoik9AS_0YDYDg&amp;prev=/search?q=san+jose+mission&amp;um=1&amp;hl=en&amp;rlz=1T4ADSA_enUS371US371&amp;tbm=isch&amp;um=1&amp;itbs=1" TargetMode="Externa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gi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jpe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jpe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jpe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eg"/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jpe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eg"/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jpe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eg"/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eg"/><Relationship Id="rId2" Type="http://schemas.openxmlformats.org/officeDocument/2006/relationships/image" Target="../media/image109.jpe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jpeg"/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jpeg"/><Relationship Id="rId2" Type="http://schemas.openxmlformats.org/officeDocument/2006/relationships/image" Target="../media/image115.jpe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e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e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eg"/><Relationship Id="rId2" Type="http://schemas.openxmlformats.org/officeDocument/2006/relationships/image" Target="../media/image1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jpe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eg"/><Relationship Id="rId2" Type="http://schemas.openxmlformats.org/officeDocument/2006/relationships/image" Target="../media/image122.jpe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jpeg"/><Relationship Id="rId2" Type="http://schemas.openxmlformats.org/officeDocument/2006/relationships/image" Target="../media/image124.jpe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jpeg"/><Relationship Id="rId2" Type="http://schemas.openxmlformats.org/officeDocument/2006/relationships/hyperlink" Target="http://www.google.com/imgres?imgurl=http://www.biography.com/imported/images/Biography/Images/Profiles/M/Ferdinand-Magellan-9395202-1-402.jpg&amp;imgrefurl=http://www.biography.com/people/ferdinand-magellan-9395202&amp;usg=__BZ4Hz4vW52vXHmq1nCYp5Ymyv0I=&amp;h=402&amp;w=402&amp;sz=84&amp;hl=en&amp;start=2&amp;sig2=at--7iNsKG5vSw_3k6RWbg&amp;zoom=1&amp;tbnid=WeC6sbHtdrAlDM:&amp;tbnh=124&amp;tbnw=124&amp;ei=NSJTUMy9HJLQ8wSiKw&amp;prev=/search?q=ferdinand+magellan&amp;um=1&amp;hl=en&amp;sa=N&amp;rlz=1T4ADSA_enUS371US371&amp;tbm=isch&amp;um=1&amp;itbs=1" TargetMode="Externa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jpeg"/><Relationship Id="rId2" Type="http://schemas.openxmlformats.org/officeDocument/2006/relationships/hyperlink" Target="http://www.google.com/imgres?imgurl=http://kindreda.edublogs.org/files/2011/04/blog-1pi9r6o.jpg&amp;imgrefurl=http://kindreda.edublogs.org/2012/04/20/staar-review-april-20-27/&amp;usg=__2stFz9Jf659Yh5drTQuhouFJ9XQ=&amp;h=400&amp;w=400&amp;sz=46&amp;hl=en&amp;start=6&amp;sig2=Tyapa0K37inLnoCXFKd2cQ&amp;zoom=1&amp;tbnid=-7KdidngXejjMM:&amp;tbnh=124&amp;tbnw=124&amp;ei=TSJTUKSEPJTS9ATwtYD4Ag&amp;prev=/search?q=review&amp;um=1&amp;hl=en&amp;rlz=1T4ADSA_enUS371US371&amp;tbm=isch&amp;um=1&amp;itbs=1" TargetMode="Externa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e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jpeg"/><Relationship Id="rId2" Type="http://schemas.openxmlformats.org/officeDocument/2006/relationships/hyperlink" Target="http://www.google.com/imgres?imgurl=http://kindreda.edublogs.org/files/2011/04/blog-1pi9r6o.jpg&amp;imgrefurl=http://kindreda.edublogs.org/2012/04/20/staar-review-april-20-27/&amp;usg=__2stFz9Jf659Yh5drTQuhouFJ9XQ=&amp;h=400&amp;w=400&amp;sz=46&amp;hl=en&amp;start=6&amp;sig2=Tyapa0K37inLnoCXFKd2cQ&amp;zoom=1&amp;tbnid=-7KdidngXejjMM:&amp;tbnh=124&amp;tbnw=124&amp;ei=TSJTUKSEPJTS9ATwtYD4Ag&amp;prev=/search?q=review&amp;um=1&amp;hl=en&amp;rlz=1T4ADSA_enUS371US371&amp;tbm=isch&amp;um=1&amp;itbs=1" TargetMode="Externa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uperteachertools.com/jeopardy/usergames/Aug201033/game1282404781.php" TargetMode="Externa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jpe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jpe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jpe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Unit 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Different Worlds Meet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100" dirty="0"/>
              <a:t>Created by Mr. Dalton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100" dirty="0"/>
              <a:t>www.mrdaltonsclass.com</a:t>
            </a:r>
          </a:p>
        </p:txBody>
      </p:sp>
      <p:pic>
        <p:nvPicPr>
          <p:cNvPr id="6148" name="Picture 2" descr="https://encrypted-tbn2.google.com/images?q=tbn:ANd9GcRjuke6Ot0mCmLrKA3W7HiVt18E4Z5Mbh0hdWzC4c-HYcD8Yx9kSQ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7180" y="386081"/>
            <a:ext cx="5657850" cy="370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Unit I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280" y="731520"/>
            <a:ext cx="8801100" cy="4795520"/>
          </a:xfrm>
        </p:spPr>
        <p:txBody>
          <a:bodyPr rtlCol="0">
            <a:normAutofit fontScale="77500" lnSpcReduction="20000"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SS.8.A.1.1:  Provide supporting details for an answer from text, interview for Oral history, check validity of information from research/text and identify strong vs. weak arguments.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SS.8.A.1.2:  Analyze charts, graphs, maps, photographs and timelines; analyze political cartoons; determine cause and effect.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SS.8.A.1.3:  Analyze current events relevant to American History topics through a variety of electronic and print media resources.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SS.8.A.1.4:  Differentiate fact from opinion, utilize appropriate historical research and fiction/nonfiction support materials.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SS.8.A.1.5:  Identify, within both primary and secondary sources, the author, audience, format, and purpose of significant historical documents.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SS.8.A.1.6:  Compare interpretations of key events and issues throughout American History.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SS.8.A.1.7:  View historic events through the eyes of those who were there as shown in their art, writings, music, and artifacts.</a:t>
            </a:r>
            <a:endParaRPr 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4708" y="609600"/>
            <a:ext cx="5200333" cy="681849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200" dirty="0"/>
              <a:t>Copy down the following directions to complete the project </a:t>
            </a:r>
            <a:r>
              <a:rPr lang="en-US" sz="2200" dirty="0" smtClean="0"/>
              <a:t>for homework.</a:t>
            </a:r>
            <a:endParaRPr lang="en-US" sz="2200" dirty="0"/>
          </a:p>
        </p:txBody>
      </p:sp>
      <p:sp>
        <p:nvSpPr>
          <p:cNvPr id="8195" name="Content Placeholder 5"/>
          <p:cNvSpPr>
            <a:spLocks noGrp="1"/>
          </p:cNvSpPr>
          <p:nvPr>
            <p:ph sz="quarter" idx="2"/>
          </p:nvPr>
        </p:nvSpPr>
        <p:spPr>
          <a:xfrm>
            <a:off x="0" y="1417884"/>
            <a:ext cx="6216650" cy="4068515"/>
          </a:xfrm>
        </p:spPr>
        <p:txBody>
          <a:bodyPr/>
          <a:lstStyle/>
          <a:p>
            <a:pPr eaLnBrk="1" hangingPunct="1"/>
            <a:r>
              <a:rPr lang="en-US" dirty="0" smtClean="0"/>
              <a:t>Visit the following website(s), </a:t>
            </a:r>
          </a:p>
          <a:p>
            <a:pPr eaLnBrk="1" hangingPunct="1"/>
            <a:r>
              <a:rPr lang="en-US" sz="1600" dirty="0">
                <a:hlinkClick r:id="rId2"/>
              </a:rPr>
              <a:t>http://www.mrdaltonsclass.com/primary-vs-secondary-sources.html</a:t>
            </a:r>
            <a:endParaRPr lang="en-US" sz="1600" dirty="0" smtClean="0"/>
          </a:p>
          <a:p>
            <a:pPr eaLnBrk="1" hangingPunct="1"/>
            <a:r>
              <a:rPr lang="en-US" sz="2000" dirty="0">
                <a:hlinkClick r:id="rId3"/>
              </a:rPr>
              <a:t>http://www.ithacalibrary.com/sp/subjects/primary</a:t>
            </a:r>
            <a:r>
              <a:rPr lang="en-US" sz="2000" dirty="0"/>
              <a:t> </a:t>
            </a:r>
          </a:p>
          <a:p>
            <a:pPr eaLnBrk="1" hangingPunct="1"/>
            <a:r>
              <a:rPr lang="en-US" sz="2400" dirty="0"/>
              <a:t>After reading the website use the internet to find 5 Primary Sources, and 5 Secondary </a:t>
            </a:r>
            <a:r>
              <a:rPr lang="en-US" sz="2400" dirty="0" smtClean="0"/>
              <a:t>sources, list the link and write 2-3 sentences describing why this is a credible source.</a:t>
            </a:r>
          </a:p>
          <a:p>
            <a:pPr eaLnBrk="1" hangingPunct="1"/>
            <a:r>
              <a:rPr lang="en-US" sz="2400" dirty="0" smtClean="0"/>
              <a:t>E-mail (or turn in) </a:t>
            </a:r>
            <a:r>
              <a:rPr lang="en-US" sz="2400" dirty="0"/>
              <a:t>the websites of the 5 primary and 5 secondary sources to </a:t>
            </a:r>
          </a:p>
          <a:p>
            <a:pPr lvl="1" eaLnBrk="1" hangingPunct="1"/>
            <a:r>
              <a:rPr lang="en-US" sz="1900" dirty="0">
                <a:hlinkClick r:id="rId4"/>
              </a:rPr>
              <a:t>Jdalton@rivercityscience.org</a:t>
            </a:r>
            <a:endParaRPr lang="en-US" sz="1900" dirty="0"/>
          </a:p>
          <a:p>
            <a:pPr eaLnBrk="1" hangingPunct="1"/>
            <a:endParaRPr lang="en-US" dirty="0" smtClean="0"/>
          </a:p>
        </p:txBody>
      </p:sp>
      <p:sp>
        <p:nvSpPr>
          <p:cNvPr id="8196" name="Title 3"/>
          <p:cNvSpPr>
            <a:spLocks noGrp="1"/>
          </p:cNvSpPr>
          <p:nvPr>
            <p:ph type="title"/>
          </p:nvPr>
        </p:nvSpPr>
        <p:spPr>
          <a:xfrm>
            <a:off x="0" y="5410200"/>
            <a:ext cx="10058400" cy="1173480"/>
          </a:xfrm>
        </p:spPr>
        <p:txBody>
          <a:bodyPr/>
          <a:lstStyle/>
          <a:p>
            <a:pPr eaLnBrk="1" hangingPunct="1"/>
            <a:r>
              <a:rPr lang="en-US" sz="3400" b="1" dirty="0">
                <a:solidFill>
                  <a:srgbClr val="FF0000"/>
                </a:solidFill>
                <a:latin typeface="Kristen ITC" pitchFamily="66" charset="0"/>
              </a:rPr>
              <a:t>Primary vs. Secondary Sources (project</a:t>
            </a:r>
            <a:r>
              <a:rPr lang="en-US" sz="3400" b="1" dirty="0" smtClean="0">
                <a:solidFill>
                  <a:srgbClr val="FF0000"/>
                </a:solidFill>
                <a:latin typeface="Kristen ITC" pitchFamily="66" charset="0"/>
              </a:rPr>
              <a:t>) </a:t>
            </a:r>
            <a:r>
              <a:rPr lang="en-US" sz="2800" b="1" dirty="0" smtClean="0">
                <a:solidFill>
                  <a:srgbClr val="FFFF00"/>
                </a:solidFill>
                <a:latin typeface="Kristen ITC" pitchFamily="66" charset="0"/>
              </a:rPr>
              <a:t>(10pts)</a:t>
            </a:r>
            <a:endParaRPr lang="en-US" sz="2800" b="1" dirty="0">
              <a:solidFill>
                <a:srgbClr val="FFFF00"/>
              </a:solidFill>
              <a:latin typeface="Kristen ITC" pitchFamily="66" charset="0"/>
            </a:endParaRPr>
          </a:p>
        </p:txBody>
      </p:sp>
      <p:pic>
        <p:nvPicPr>
          <p:cNvPr id="8197" name="Picture 2" descr="http://library.uvic.ca/site/lib/instruction/research/images/letter_00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650" y="1815253"/>
            <a:ext cx="3583305" cy="3343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838200" y="4849707"/>
            <a:ext cx="3352800" cy="1706880"/>
          </a:xfrm>
        </p:spPr>
        <p:txBody>
          <a:bodyPr/>
          <a:lstStyle/>
          <a:p>
            <a:pPr eaLnBrk="1" hangingPunct="1"/>
            <a:r>
              <a:rPr lang="en-US" sz="5800" b="1" u="sng">
                <a:solidFill>
                  <a:srgbClr val="FF0000"/>
                </a:solidFill>
              </a:rPr>
              <a:t>Warm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406400"/>
            <a:ext cx="5867400" cy="5467590"/>
          </a:xfrm>
          <a:prstGeom prst="rect">
            <a:avLst/>
          </a:prstGeom>
          <a:noFill/>
        </p:spPr>
        <p:txBody>
          <a:bodyPr lIns="111191" tIns="55596" rIns="111191" bIns="5559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u="sng" dirty="0">
                <a:solidFill>
                  <a:srgbClr val="FF0000"/>
                </a:solidFill>
                <a:latin typeface="+mn-lt"/>
                <a:cs typeface="+mn-cs"/>
              </a:rPr>
              <a:t>Warm up Questions: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What are the </a:t>
            </a:r>
            <a:r>
              <a:rPr lang="en-US" sz="2900" dirty="0" smtClean="0">
                <a:latin typeface="+mn-lt"/>
                <a:cs typeface="+mn-cs"/>
              </a:rPr>
              <a:t>categories </a:t>
            </a:r>
            <a:r>
              <a:rPr lang="en-US" sz="2900" dirty="0">
                <a:latin typeface="+mn-lt"/>
                <a:cs typeface="+mn-cs"/>
              </a:rPr>
              <a:t>for your grades in this class?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What website can be used for study materials, make up assignments, and extra credit opportunities?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OCSR:</a:t>
            </a:r>
            <a:r>
              <a:rPr lang="en-US" sz="2900" dirty="0">
                <a:latin typeface="+mn-lt"/>
                <a:cs typeface="+mn-cs"/>
              </a:rPr>
              <a:t>  What was the most interesting thing you learned in your Social Studies class last year?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Define:</a:t>
            </a:r>
            <a:r>
              <a:rPr lang="en-US" sz="2900" dirty="0">
                <a:latin typeface="+mn-lt"/>
                <a:cs typeface="+mn-cs"/>
              </a:rPr>
              <a:t> No vocabulary definitions today.</a:t>
            </a:r>
          </a:p>
        </p:txBody>
      </p:sp>
      <p:pic>
        <p:nvPicPr>
          <p:cNvPr id="9220" name="Picture 2" descr="https://encrypted-tbn2.google.com/images?q=tbn:ANd9GcTnDlus4uRh5hS5f60q_Qz10_duZ8laJAwX980MQ7jJPznXRq4lhQ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92539">
            <a:off x="233998" y="939237"/>
            <a:ext cx="3904615" cy="3619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2"/>
          </p:nvPr>
        </p:nvSpPr>
        <p:spPr>
          <a:xfrm>
            <a:off x="0" y="1417885"/>
            <a:ext cx="6035040" cy="4082062"/>
          </a:xfrm>
        </p:spPr>
        <p:txBody>
          <a:bodyPr rtlCol="0">
            <a:noAutofit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Have people always told time from a clock?  Have they always measured distances in the same way?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/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SS.912.W.1.2:  Compare time measurement systems used by different cultures.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</p:txBody>
      </p:sp>
      <p:sp>
        <p:nvSpPr>
          <p:cNvPr id="10243" name="Title 3"/>
          <p:cNvSpPr>
            <a:spLocks noGrp="1"/>
          </p:cNvSpPr>
          <p:nvPr>
            <p:ph type="title"/>
          </p:nvPr>
        </p:nvSpPr>
        <p:spPr>
          <a:xfrm>
            <a:off x="670560" y="189653"/>
            <a:ext cx="7459980" cy="1300480"/>
          </a:xfrm>
        </p:spPr>
        <p:txBody>
          <a:bodyPr/>
          <a:lstStyle/>
          <a:p>
            <a:pPr eaLnBrk="1" hangingPunct="1"/>
            <a:r>
              <a:rPr lang="en-US" sz="6000" dirty="0" smtClean="0"/>
              <a:t>Daily Question to Know</a:t>
            </a:r>
          </a:p>
        </p:txBody>
      </p:sp>
      <p:pic>
        <p:nvPicPr>
          <p:cNvPr id="10244" name="Picture 2" descr="http://school.discoveryeducation.com/clipart/images/clock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2067560"/>
            <a:ext cx="3761423" cy="3495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34708" y="650241"/>
            <a:ext cx="4023360" cy="681849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Time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3"/>
          </p:nvPr>
        </p:nvSpPr>
        <p:spPr>
          <a:xfrm>
            <a:off x="5109528" y="650241"/>
            <a:ext cx="4023360" cy="681849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Distance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834708" y="1417884"/>
            <a:ext cx="4023360" cy="3251200"/>
          </a:xfrm>
        </p:spPr>
        <p:txBody>
          <a:bodyPr rtlCol="0">
            <a:normAutofit fontScale="92500" lnSpcReduction="10000"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b="1" dirty="0"/>
              <a:t>Second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b="1" dirty="0"/>
              <a:t>Minute 	= 60 seconds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b="1" dirty="0"/>
              <a:t>Hour 		= 60 minutes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b="1" dirty="0"/>
              <a:t>Day 		= 24 Hour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b="1" dirty="0"/>
              <a:t>Year 		= 365 Days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b="1" dirty="0"/>
              <a:t>Decade 	= 10 Years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b="1" dirty="0"/>
              <a:t>Century 	= 100 Years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b="1" dirty="0"/>
              <a:t>Millennium 	= 1000 Years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quarter" idx="4"/>
          </p:nvPr>
        </p:nvGraphicFramePr>
        <p:xfrm>
          <a:off x="5196840" y="1381760"/>
          <a:ext cx="4442460" cy="5201922"/>
        </p:xfrm>
        <a:graphic>
          <a:graphicData uri="http://schemas.openxmlformats.org/drawingml/2006/table">
            <a:tbl>
              <a:tblPr/>
              <a:tblGrid>
                <a:gridCol w="2221230"/>
                <a:gridCol w="2221230"/>
              </a:tblGrid>
              <a:tr h="86698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 millimeters (mm)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= 1 centimeter (cm)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698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 centimeters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6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= 1 decimeter (dm) = 100 millimeters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698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 decimeters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= 1 meter (m) = 1000 millimeters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6987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 meters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= 1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dekameter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(dam)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6987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 dekameters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= 1 hectometer (hm) = 100 meters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698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 hectometers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= 1 kilometer (km) = 1000 meters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306" name="Title 1"/>
          <p:cNvSpPr>
            <a:spLocks noGrp="1"/>
          </p:cNvSpPr>
          <p:nvPr>
            <p:ph type="title"/>
          </p:nvPr>
        </p:nvSpPr>
        <p:spPr>
          <a:xfrm>
            <a:off x="0" y="4876800"/>
            <a:ext cx="5615940" cy="1706880"/>
          </a:xfrm>
        </p:spPr>
        <p:txBody>
          <a:bodyPr/>
          <a:lstStyle/>
          <a:p>
            <a:pPr algn="ctr" eaLnBrk="1" hangingPunct="1"/>
            <a:r>
              <a:rPr lang="en-US" sz="3400" dirty="0">
                <a:latin typeface="Kristen ITC" pitchFamily="66" charset="0"/>
              </a:rPr>
              <a:t>Units of Measurement and Time</a:t>
            </a:r>
          </a:p>
        </p:txBody>
      </p:sp>
      <p:sp>
        <p:nvSpPr>
          <p:cNvPr id="12307" name="Rectangle 1"/>
          <p:cNvSpPr>
            <a:spLocks noChangeArrowheads="1"/>
          </p:cNvSpPr>
          <p:nvPr/>
        </p:nvSpPr>
        <p:spPr bwMode="auto">
          <a:xfrm>
            <a:off x="5280660" y="4065788"/>
            <a:ext cx="224618" cy="38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1191" tIns="55596" rIns="111191" bIns="55596" anchor="ctr">
            <a:spAutoFit/>
          </a:bodyPr>
          <a:lstStyle/>
          <a:p>
            <a:endParaRPr lang="en-US">
              <a:latin typeface="Arial" charset="0"/>
            </a:endParaRPr>
          </a:p>
        </p:txBody>
      </p:sp>
      <p:sp>
        <p:nvSpPr>
          <p:cNvPr id="12308" name="TextBox 9"/>
          <p:cNvSpPr txBox="1">
            <a:spLocks noChangeArrowheads="1"/>
          </p:cNvSpPr>
          <p:nvPr/>
        </p:nvSpPr>
        <p:spPr bwMode="auto">
          <a:xfrm>
            <a:off x="167640" y="6789139"/>
            <a:ext cx="6537960" cy="38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1191" tIns="55596" rIns="111191" bIns="5559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eaLnBrk="1" hangingPunct="1"/>
            <a:r>
              <a:rPr lang="en-US" b="1" u="sng"/>
              <a:t>Units of Measurement and Time Handout </a:t>
            </a:r>
            <a:r>
              <a:rPr lang="en-US" b="1" u="sng">
                <a:solidFill>
                  <a:srgbClr val="FF0000"/>
                </a:solidFill>
              </a:rPr>
              <a:t>(15pts)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Roman Numerals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83820" y="623147"/>
            <a:ext cx="5196840" cy="4018844"/>
          </a:xfrm>
        </p:spPr>
        <p:txBody>
          <a:bodyPr rtlCol="0">
            <a:noAutofit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400" dirty="0"/>
              <a:t>Roman Numerals come from the Ancient Roman number system.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400" dirty="0"/>
              <a:t>These are the first 10 Roman Numerals</a:t>
            </a:r>
          </a:p>
          <a:p>
            <a:pPr marL="555955" indent="-555955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400" dirty="0"/>
              <a:t>I</a:t>
            </a:r>
          </a:p>
          <a:p>
            <a:pPr marL="555955" indent="-555955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400" dirty="0"/>
              <a:t>II</a:t>
            </a:r>
          </a:p>
          <a:p>
            <a:pPr marL="555955" indent="-555955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400" dirty="0"/>
              <a:t>III</a:t>
            </a:r>
          </a:p>
          <a:p>
            <a:pPr marL="555955" indent="-555955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400" dirty="0"/>
              <a:t>IV</a:t>
            </a:r>
          </a:p>
          <a:p>
            <a:pPr marL="555955" indent="-555955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400" dirty="0"/>
              <a:t>V</a:t>
            </a:r>
          </a:p>
        </p:txBody>
      </p:sp>
      <p:sp>
        <p:nvSpPr>
          <p:cNvPr id="13316" name="Content Placeholder 7"/>
          <p:cNvSpPr>
            <a:spLocks noGrp="1"/>
          </p:cNvSpPr>
          <p:nvPr>
            <p:ph sz="half" idx="2"/>
          </p:nvPr>
        </p:nvSpPr>
        <p:spPr>
          <a:xfrm>
            <a:off x="5113020" y="650240"/>
            <a:ext cx="4023360" cy="4018844"/>
          </a:xfrm>
        </p:spPr>
        <p:txBody>
          <a:bodyPr/>
          <a:lstStyle/>
          <a:p>
            <a:pPr eaLnBrk="1" hangingPunct="1"/>
            <a:r>
              <a:rPr lang="en-US" sz="2900"/>
              <a:t>Higher Number Roman Numerals.</a:t>
            </a:r>
          </a:p>
          <a:p>
            <a:pPr eaLnBrk="1" hangingPunct="1"/>
            <a:r>
              <a:rPr lang="en-US" sz="2900"/>
              <a:t>L = 50</a:t>
            </a:r>
          </a:p>
          <a:p>
            <a:pPr eaLnBrk="1" hangingPunct="1"/>
            <a:r>
              <a:rPr lang="en-US" sz="2900"/>
              <a:t>C = 100</a:t>
            </a:r>
          </a:p>
          <a:p>
            <a:pPr eaLnBrk="1" hangingPunct="1"/>
            <a:r>
              <a:rPr lang="en-US" sz="2900"/>
              <a:t>D = 500</a:t>
            </a:r>
          </a:p>
          <a:p>
            <a:pPr eaLnBrk="1" hangingPunct="1"/>
            <a:r>
              <a:rPr lang="en-US" sz="2900"/>
              <a:t>M = 1,000</a:t>
            </a:r>
          </a:p>
        </p:txBody>
      </p:sp>
      <p:pic>
        <p:nvPicPr>
          <p:cNvPr id="13317" name="Picture 2" descr="http://westerlund09.wikis.birmingham.k12.mi.us/file/view/lens3531592_1238335954roman_numerals.jpg/140794667/lens3531592_1238335954roman_numeral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8520" y="3115733"/>
            <a:ext cx="2619375" cy="2540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TextBox 8"/>
          <p:cNvSpPr txBox="1">
            <a:spLocks noChangeArrowheads="1"/>
          </p:cNvSpPr>
          <p:nvPr/>
        </p:nvSpPr>
        <p:spPr bwMode="auto">
          <a:xfrm>
            <a:off x="7191058" y="5732499"/>
            <a:ext cx="3017520" cy="38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1191" tIns="55596" rIns="111191" bIns="5559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What is this number?</a:t>
            </a:r>
          </a:p>
        </p:txBody>
      </p:sp>
      <p:sp>
        <p:nvSpPr>
          <p:cNvPr id="13319" name="Content Placeholder 6"/>
          <p:cNvSpPr txBox="1">
            <a:spLocks/>
          </p:cNvSpPr>
          <p:nvPr/>
        </p:nvSpPr>
        <p:spPr bwMode="auto">
          <a:xfrm>
            <a:off x="2179320" y="1372729"/>
            <a:ext cx="2011680" cy="4018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1191" tIns="55596" rIns="111191" bIns="55596" anchor="ctr"/>
          <a:lstStyle>
            <a:lvl1pPr marL="457200" indent="-4572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Impact" pitchFamily="34" charset="0"/>
              <a:buAutoNum type="arabicPeriod" startAt="6"/>
            </a:pPr>
            <a:r>
              <a:rPr lang="en-US" sz="2400">
                <a:solidFill>
                  <a:schemeClr val="tx2"/>
                </a:solidFill>
              </a:rPr>
              <a:t>VI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Impact" pitchFamily="34" charset="0"/>
              <a:buAutoNum type="arabicPeriod" startAt="6"/>
            </a:pPr>
            <a:r>
              <a:rPr lang="en-US" sz="2400">
                <a:solidFill>
                  <a:schemeClr val="tx2"/>
                </a:solidFill>
              </a:rPr>
              <a:t>VII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Impact" pitchFamily="34" charset="0"/>
              <a:buAutoNum type="arabicPeriod" startAt="6"/>
            </a:pPr>
            <a:r>
              <a:rPr lang="en-US" sz="2400">
                <a:solidFill>
                  <a:schemeClr val="tx2"/>
                </a:solidFill>
              </a:rPr>
              <a:t>VIII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Impact" pitchFamily="34" charset="0"/>
              <a:buAutoNum type="arabicPeriod" startAt="6"/>
            </a:pPr>
            <a:r>
              <a:rPr lang="en-US" sz="2400">
                <a:solidFill>
                  <a:schemeClr val="tx2"/>
                </a:solidFill>
              </a:rPr>
              <a:t>IX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Impact" pitchFamily="34" charset="0"/>
              <a:buAutoNum type="arabicPeriod" startAt="6"/>
            </a:pPr>
            <a:r>
              <a:rPr lang="en-US" sz="2400">
                <a:solidFill>
                  <a:schemeClr val="tx2"/>
                </a:solidFill>
              </a:rPr>
              <a:t>X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Roman Numeral Practice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650240"/>
            <a:ext cx="4023360" cy="4018844"/>
          </a:xfrm>
        </p:spPr>
        <p:txBody>
          <a:bodyPr rtlCol="0">
            <a:normAutofit fontScale="85000" lnSpcReduction="20000"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XIV = ???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XXX = ???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MCI = ???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MMM= ???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XM= ???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If you have a X with an I in front of it, it is 9.  Why?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What about IV?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0" y="650240"/>
            <a:ext cx="4023360" cy="4018844"/>
          </a:xfrm>
        </p:spPr>
        <p:txBody>
          <a:bodyPr rtlCol="0">
            <a:normAutofit fontScale="85000" lnSpcReduction="20000"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Write the Roman Numeral for the following Numbers.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100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150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14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17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1456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2540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838200" y="4876800"/>
            <a:ext cx="8229600" cy="1706880"/>
          </a:xfrm>
        </p:spPr>
        <p:txBody>
          <a:bodyPr/>
          <a:lstStyle/>
          <a:p>
            <a:pPr eaLnBrk="1" hangingPunct="1"/>
            <a:r>
              <a:rPr lang="en-US" sz="4400" dirty="0">
                <a:latin typeface="Kristen ITC" pitchFamily="66" charset="0"/>
              </a:rPr>
              <a:t>Roman Numerals on a Clock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650240"/>
            <a:ext cx="4023360" cy="4018844"/>
          </a:xfrm>
        </p:spPr>
        <p:txBody>
          <a:bodyPr/>
          <a:lstStyle/>
          <a:p>
            <a:pPr eaLnBrk="1" hangingPunct="1"/>
            <a:r>
              <a:rPr lang="en-US" smtClean="0"/>
              <a:t>One of the main places you will encounter Roman Numerals will be on clocks.</a:t>
            </a:r>
          </a:p>
        </p:txBody>
      </p:sp>
      <p:pic>
        <p:nvPicPr>
          <p:cNvPr id="15364" name="Picture 2" descr="http://www.biglearning.com/photo-clock1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2720" y="731520"/>
            <a:ext cx="4386580" cy="4253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800" b="1" u="sng">
                <a:solidFill>
                  <a:srgbClr val="FF0000"/>
                </a:solidFill>
              </a:rPr>
              <a:t>Warm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07180" y="623147"/>
            <a:ext cx="5867400" cy="5467590"/>
          </a:xfrm>
          <a:prstGeom prst="rect">
            <a:avLst/>
          </a:prstGeom>
          <a:noFill/>
        </p:spPr>
        <p:txBody>
          <a:bodyPr lIns="111191" tIns="55596" rIns="111191" bIns="5559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u="sng" dirty="0">
                <a:solidFill>
                  <a:srgbClr val="FF0000"/>
                </a:solidFill>
                <a:latin typeface="+mn-lt"/>
                <a:cs typeface="+mn-cs"/>
              </a:rPr>
              <a:t>Warm up Questions: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Why should you research key terms before studying a certain subject?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What is the difference between academic vocabulary and your everyday vocabulary?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OCSR</a:t>
            </a:r>
            <a:r>
              <a:rPr lang="en-US" sz="2900" dirty="0">
                <a:latin typeface="+mn-lt"/>
                <a:cs typeface="+mn-cs"/>
              </a:rPr>
              <a:t>:  Describe a scenario where you would use academic vocabulary in a non academic situation.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Define:</a:t>
            </a:r>
            <a:r>
              <a:rPr lang="en-US" sz="2900" dirty="0">
                <a:latin typeface="+mn-lt"/>
                <a:cs typeface="+mn-cs"/>
              </a:rPr>
              <a:t> </a:t>
            </a:r>
            <a:r>
              <a:rPr lang="en-US" sz="2900" dirty="0" smtClean="0">
                <a:latin typeface="+mn-lt"/>
                <a:cs typeface="+mn-cs"/>
              </a:rPr>
              <a:t>Archaeology, Artifact</a:t>
            </a:r>
            <a:endParaRPr lang="en-US" sz="2900" dirty="0">
              <a:latin typeface="+mn-lt"/>
              <a:cs typeface="+mn-cs"/>
            </a:endParaRPr>
          </a:p>
        </p:txBody>
      </p:sp>
      <p:pic>
        <p:nvPicPr>
          <p:cNvPr id="17412" name="Picture 2" descr="https://encrypted-tbn0.google.com/images?q=tbn:ANd9GcRs7djJ4W8HGbtKt8TlU_hCAq-0ZPXbinoigbgO_c6ZYIetaf29FQ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0" y="1194365"/>
            <a:ext cx="3878421" cy="3221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elay 10"/>
          <p:cNvSpPr/>
          <p:nvPr/>
        </p:nvSpPr>
        <p:spPr>
          <a:xfrm>
            <a:off x="83820" y="731521"/>
            <a:ext cx="5364480" cy="4648765"/>
          </a:xfrm>
          <a:prstGeom prst="flowChartDelay">
            <a:avLst/>
          </a:prstGeom>
          <a:solidFill>
            <a:schemeClr val="tx1">
              <a:lumMod val="75000"/>
              <a:lumOff val="25000"/>
              <a:alpha val="1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62000" y="5549858"/>
            <a:ext cx="8723162" cy="850942"/>
          </a:xfrm>
          <a:prstGeom prst="rect">
            <a:avLst/>
          </a:prstGeom>
          <a:solidFill>
            <a:schemeClr val="bg2"/>
          </a:solidFill>
        </p:spPr>
        <p:txBody>
          <a:bodyPr wrap="none" lIns="111191" tIns="55596" rIns="111191" bIns="55596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Daily Question to know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67640" y="851183"/>
            <a:ext cx="4931410" cy="4648764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dirty="0" smtClean="0">
                <a:latin typeface="Bauhaus 93" pitchFamily="82" charset="0"/>
              </a:rPr>
              <a:t>Question: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 smtClean="0"/>
              <a:t>Describe the proper way to   look up a definition from a text book.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 smtClean="0"/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/>
              <a:t>SS.8.A.1.6:  Compare interpretations of key events and issues throughout American History.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endParaRPr lang="en-US" dirty="0"/>
          </a:p>
        </p:txBody>
      </p:sp>
      <p:sp>
        <p:nvSpPr>
          <p:cNvPr id="10" name="Flowchart: Alternate Process 9"/>
          <p:cNvSpPr/>
          <p:nvPr/>
        </p:nvSpPr>
        <p:spPr>
          <a:xfrm>
            <a:off x="640875" y="5499947"/>
            <a:ext cx="8914606" cy="975360"/>
          </a:xfrm>
          <a:prstGeom prst="flowChartAlternateProcess">
            <a:avLst/>
          </a:prstGeom>
          <a:solidFill>
            <a:schemeClr val="tx1">
              <a:lumMod val="65000"/>
              <a:lumOff val="3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20486" name="Picture 2" descr="http://t0.gstatic.com/images?q=tbn:ANd9GcTA_btU6xjvvADOwSmauZWLl6h084mc1fobzuCm0CIhDptX6-QH1GX3XUo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140" y="731521"/>
            <a:ext cx="2797493" cy="4420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335280" y="6583680"/>
            <a:ext cx="7962900" cy="812800"/>
          </a:xfrm>
        </p:spPr>
        <p:txBody>
          <a:bodyPr/>
          <a:lstStyle/>
          <a:p>
            <a:pPr eaLnBrk="1" hangingPunct="1"/>
            <a:r>
              <a:rPr lang="en-US" sz="3900" dirty="0">
                <a:latin typeface="Kristen ITC" pitchFamily="66" charset="0"/>
              </a:rPr>
              <a:t>Unit I Vocabulary </a:t>
            </a:r>
            <a:r>
              <a:rPr lang="en-US" sz="2400" dirty="0">
                <a:solidFill>
                  <a:srgbClr val="FF0000"/>
                </a:solidFill>
                <a:latin typeface="Kristen ITC" pitchFamily="66" charset="0"/>
              </a:rPr>
              <a:t>(26pts)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2933700" cy="5770880"/>
          </a:xfrm>
        </p:spPr>
        <p:txBody>
          <a:bodyPr/>
          <a:lstStyle/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900" dirty="0"/>
              <a:t>Archaeology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900" dirty="0"/>
              <a:t>Artifact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900" dirty="0"/>
              <a:t>Ice Age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900" dirty="0"/>
              <a:t>Migration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900" dirty="0"/>
              <a:t>Culture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900" dirty="0"/>
              <a:t>Civilization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900" dirty="0"/>
              <a:t>Theocracy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900" dirty="0"/>
              <a:t>Hieroglyphics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900" dirty="0"/>
              <a:t>Terrace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900" dirty="0"/>
              <a:t>Drought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900" dirty="0"/>
              <a:t>Adobe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900" dirty="0"/>
              <a:t>Federation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900" dirty="0" err="1"/>
              <a:t>Bartholomeu</a:t>
            </a:r>
            <a:r>
              <a:rPr lang="en-US" sz="1900" dirty="0"/>
              <a:t> Dias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900" dirty="0"/>
              <a:t>Vasco da Gama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900" dirty="0"/>
              <a:t>Christopher Columbus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endParaRPr lang="en-US" sz="1900" dirty="0"/>
          </a:p>
        </p:txBody>
      </p:sp>
      <p:sp>
        <p:nvSpPr>
          <p:cNvPr id="21508" name="Content Placeholder 2"/>
          <p:cNvSpPr txBox="1">
            <a:spLocks/>
          </p:cNvSpPr>
          <p:nvPr/>
        </p:nvSpPr>
        <p:spPr bwMode="auto">
          <a:xfrm>
            <a:off x="2514600" y="0"/>
            <a:ext cx="4945380" cy="544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1191" tIns="55596" rIns="111191" bIns="55596" anchor="ctr"/>
          <a:lstStyle>
            <a:lvl1pPr marL="514350" indent="-5143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Impact" pitchFamily="34" charset="0"/>
              <a:buAutoNum type="arabicPeriod" startAt="16"/>
            </a:pPr>
            <a:r>
              <a:rPr lang="en-US" sz="2100" dirty="0">
                <a:solidFill>
                  <a:schemeClr val="tx2"/>
                </a:solidFill>
              </a:rPr>
              <a:t>Juan Ponce de Leon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Impact" pitchFamily="34" charset="0"/>
              <a:buAutoNum type="arabicPeriod" startAt="16"/>
            </a:pPr>
            <a:r>
              <a:rPr lang="en-US" sz="2100" dirty="0">
                <a:solidFill>
                  <a:schemeClr val="tx2"/>
                </a:solidFill>
              </a:rPr>
              <a:t>Montezuma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Impact" pitchFamily="34" charset="0"/>
              <a:buAutoNum type="arabicPeriod" startAt="16"/>
            </a:pPr>
            <a:r>
              <a:rPr lang="en-US" sz="2100" dirty="0">
                <a:solidFill>
                  <a:schemeClr val="tx2"/>
                </a:solidFill>
              </a:rPr>
              <a:t>Ferdinand Magellan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Impact" pitchFamily="34" charset="0"/>
              <a:buAutoNum type="arabicPeriod" startAt="16"/>
            </a:pPr>
            <a:r>
              <a:rPr lang="en-US" sz="2100" dirty="0">
                <a:solidFill>
                  <a:schemeClr val="tx2"/>
                </a:solidFill>
              </a:rPr>
              <a:t>Astrolabe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Impact" pitchFamily="34" charset="0"/>
              <a:buAutoNum type="arabicPeriod" startAt="16"/>
            </a:pPr>
            <a:r>
              <a:rPr lang="en-US" sz="2100" dirty="0">
                <a:solidFill>
                  <a:schemeClr val="tx2"/>
                </a:solidFill>
              </a:rPr>
              <a:t>Caravel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Impact" pitchFamily="34" charset="0"/>
              <a:buAutoNum type="arabicPeriod" startAt="16"/>
            </a:pPr>
            <a:r>
              <a:rPr lang="en-US" sz="2100" dirty="0">
                <a:solidFill>
                  <a:schemeClr val="tx2"/>
                </a:solidFill>
              </a:rPr>
              <a:t>Pilgrimage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Impact" pitchFamily="34" charset="0"/>
              <a:buAutoNum type="arabicPeriod" startAt="16"/>
            </a:pPr>
            <a:r>
              <a:rPr lang="en-US" sz="2100" dirty="0">
                <a:solidFill>
                  <a:schemeClr val="tx2"/>
                </a:solidFill>
              </a:rPr>
              <a:t>Mosque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Impact" pitchFamily="34" charset="0"/>
              <a:buAutoNum type="arabicPeriod" startAt="16"/>
            </a:pPr>
            <a:r>
              <a:rPr lang="en-US" sz="2100" dirty="0">
                <a:solidFill>
                  <a:schemeClr val="tx2"/>
                </a:solidFill>
              </a:rPr>
              <a:t>Conquistador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Impact" pitchFamily="34" charset="0"/>
              <a:buAutoNum type="arabicPeriod" startAt="16"/>
            </a:pPr>
            <a:r>
              <a:rPr lang="en-US" sz="2100" dirty="0">
                <a:solidFill>
                  <a:schemeClr val="tx2"/>
                </a:solidFill>
              </a:rPr>
              <a:t>Pueblo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Impact" pitchFamily="34" charset="0"/>
              <a:buAutoNum type="arabicPeriod" startAt="16"/>
            </a:pPr>
            <a:r>
              <a:rPr lang="en-US" sz="2100" dirty="0">
                <a:solidFill>
                  <a:schemeClr val="tx2"/>
                </a:solidFill>
              </a:rPr>
              <a:t>Mission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Impact" pitchFamily="34" charset="0"/>
              <a:buAutoNum type="arabicPeriod" startAt="16"/>
            </a:pPr>
            <a:r>
              <a:rPr lang="en-US" sz="2100" dirty="0">
                <a:solidFill>
                  <a:schemeClr val="tx2"/>
                </a:solidFill>
              </a:rPr>
              <a:t>Plantation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Impact" pitchFamily="34" charset="0"/>
              <a:buAutoNum type="arabicPeriod" startAt="16"/>
            </a:pPr>
            <a:endParaRPr lang="en-US" sz="2100" dirty="0">
              <a:solidFill>
                <a:schemeClr val="tx2"/>
              </a:solidFill>
            </a:endParaRPr>
          </a:p>
        </p:txBody>
      </p:sp>
      <p:sp>
        <p:nvSpPr>
          <p:cNvPr id="21515" name="TextBox 11"/>
          <p:cNvSpPr txBox="1">
            <a:spLocks noChangeArrowheads="1"/>
          </p:cNvSpPr>
          <p:nvPr/>
        </p:nvSpPr>
        <p:spPr bwMode="auto">
          <a:xfrm>
            <a:off x="6669639" y="533399"/>
            <a:ext cx="3240171" cy="2328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1191" tIns="55596" rIns="111191" bIns="5559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eaLnBrk="1" hangingPunct="1"/>
            <a:r>
              <a:rPr lang="en-US" sz="2400" b="1" i="1" dirty="0">
                <a:solidFill>
                  <a:srgbClr val="FF0000"/>
                </a:solidFill>
              </a:rPr>
              <a:t>If you copy the definitions directly from the text book, you will only receive 50% of the points.  Use your own words to define.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9620" y="3850640"/>
            <a:ext cx="5448300" cy="2702560"/>
          </a:xfrm>
          <a:prstGeom prst="rect">
            <a:avLst/>
          </a:pr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475220" y="4495800"/>
            <a:ext cx="2476500" cy="475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/>
              <a:t>Word</a:t>
            </a:r>
            <a:endParaRPr lang="en-US" b="1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387590" y="4971019"/>
            <a:ext cx="25565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 smtClean="0"/>
              <a:t>Definition:</a:t>
            </a:r>
            <a:r>
              <a:rPr lang="en-US" sz="1600" dirty="0" smtClean="0"/>
              <a:t>  This is where you write the definition of the word.  USE YOUR OWN WORDS, NOT THE TEXTBOOK DEFINITION.</a:t>
            </a:r>
            <a:endParaRPr lang="en-US" sz="1600" b="1" u="sng" dirty="0"/>
          </a:p>
        </p:txBody>
      </p:sp>
      <p:sp>
        <p:nvSpPr>
          <p:cNvPr id="17" name="Rectangle 16"/>
          <p:cNvSpPr/>
          <p:nvPr/>
        </p:nvSpPr>
        <p:spPr>
          <a:xfrm>
            <a:off x="4989041" y="4348480"/>
            <a:ext cx="2011680" cy="17068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335428" y="4846320"/>
            <a:ext cx="133421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32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Picture</a:t>
            </a:r>
            <a:endParaRPr lang="en-US" sz="32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34200" y="3429000"/>
            <a:ext cx="2975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Vocabulary Poster = 10pts</a:t>
            </a:r>
            <a:endParaRPr lang="en-US" dirty="0"/>
          </a:p>
        </p:txBody>
      </p:sp>
      <p:cxnSp>
        <p:nvCxnSpPr>
          <p:cNvPr id="20" name="Straight Connector 19"/>
          <p:cNvCxnSpPr>
            <a:stCxn id="14" idx="0"/>
            <a:endCxn id="14" idx="2"/>
          </p:cNvCxnSpPr>
          <p:nvPr/>
        </p:nvCxnSpPr>
        <p:spPr>
          <a:xfrm>
            <a:off x="7303770" y="3850640"/>
            <a:ext cx="0" cy="27025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34940" y="3897868"/>
            <a:ext cx="20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Front of Paper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7978140" y="3974068"/>
            <a:ext cx="20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Back of Paper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774015" y="6055359"/>
            <a:ext cx="2476500" cy="475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/>
              <a:t>Word</a:t>
            </a:r>
            <a:endParaRPr lang="en-US" b="1" u="sng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800" b="1" u="sng">
                <a:solidFill>
                  <a:srgbClr val="FF0000"/>
                </a:solidFill>
              </a:rPr>
              <a:t>Warm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07180" y="623147"/>
            <a:ext cx="5867400" cy="4575038"/>
          </a:xfrm>
          <a:prstGeom prst="rect">
            <a:avLst/>
          </a:prstGeom>
          <a:noFill/>
        </p:spPr>
        <p:txBody>
          <a:bodyPr lIns="111191" tIns="55596" rIns="111191" bIns="5559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u="sng" dirty="0">
                <a:solidFill>
                  <a:srgbClr val="FF0000"/>
                </a:solidFill>
                <a:latin typeface="+mn-lt"/>
                <a:cs typeface="+mn-cs"/>
              </a:rPr>
              <a:t>Warm up Questions: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Write down the Roman Numeral for </a:t>
            </a:r>
            <a:r>
              <a:rPr lang="en-US" sz="2900" dirty="0" smtClean="0">
                <a:latin typeface="+mn-lt"/>
                <a:cs typeface="+mn-cs"/>
              </a:rPr>
              <a:t>2013.</a:t>
            </a:r>
            <a:endParaRPr lang="en-US" sz="2900" dirty="0">
              <a:latin typeface="+mn-lt"/>
              <a:cs typeface="+mn-cs"/>
            </a:endParaRP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Draw a picture of a clock with the time being </a:t>
            </a:r>
            <a:r>
              <a:rPr lang="en-US" sz="2900" dirty="0" smtClean="0">
                <a:latin typeface="+mn-lt"/>
                <a:cs typeface="+mn-cs"/>
              </a:rPr>
              <a:t>6:45 (Label w/ ROMAN </a:t>
            </a:r>
            <a:r>
              <a:rPr lang="en-US" sz="2900" dirty="0">
                <a:latin typeface="+mn-lt"/>
                <a:cs typeface="+mn-cs"/>
              </a:rPr>
              <a:t>NUMERALS)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OCSR</a:t>
            </a:r>
            <a:r>
              <a:rPr lang="en-US" sz="2900" dirty="0">
                <a:latin typeface="+mn-lt"/>
                <a:cs typeface="+mn-cs"/>
              </a:rPr>
              <a:t>:  What are the three branches of American Government and </a:t>
            </a:r>
            <a:r>
              <a:rPr lang="en-US" sz="2900" dirty="0" smtClean="0">
                <a:latin typeface="+mn-lt"/>
                <a:cs typeface="+mn-cs"/>
              </a:rPr>
              <a:t>what are each responsible for?</a:t>
            </a:r>
            <a:endParaRPr lang="en-US" sz="2900" dirty="0">
              <a:latin typeface="+mn-lt"/>
              <a:cs typeface="+mn-cs"/>
            </a:endParaRP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Define:</a:t>
            </a:r>
            <a:r>
              <a:rPr lang="en-US" sz="2900" dirty="0">
                <a:latin typeface="+mn-lt"/>
                <a:cs typeface="+mn-cs"/>
              </a:rPr>
              <a:t> Civilization, Ice Age</a:t>
            </a:r>
          </a:p>
        </p:txBody>
      </p:sp>
      <p:pic>
        <p:nvPicPr>
          <p:cNvPr id="22532" name="Picture 2" descr="http://www.homestansted.co.uk/images/stn19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94" y="745067"/>
            <a:ext cx="3427888" cy="3413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elay 10"/>
          <p:cNvSpPr/>
          <p:nvPr/>
        </p:nvSpPr>
        <p:spPr>
          <a:xfrm>
            <a:off x="83820" y="731521"/>
            <a:ext cx="5364480" cy="4648765"/>
          </a:xfrm>
          <a:prstGeom prst="flowChartDelay">
            <a:avLst/>
          </a:prstGeom>
          <a:solidFill>
            <a:schemeClr val="tx1">
              <a:lumMod val="75000"/>
              <a:lumOff val="25000"/>
              <a:alpha val="1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62000" y="5549858"/>
            <a:ext cx="8723162" cy="850942"/>
          </a:xfrm>
          <a:prstGeom prst="rect">
            <a:avLst/>
          </a:prstGeom>
          <a:solidFill>
            <a:schemeClr val="bg2"/>
          </a:solidFill>
        </p:spPr>
        <p:txBody>
          <a:bodyPr wrap="none" lIns="111191" tIns="55596" rIns="111191" bIns="55596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Daily Question to know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67640" y="851183"/>
            <a:ext cx="4931410" cy="4648764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dirty="0" smtClean="0">
                <a:latin typeface="Bauhaus 93" pitchFamily="82" charset="0"/>
              </a:rPr>
              <a:t>Question: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 smtClean="0"/>
              <a:t>Why are timelines an essential component for the study of history?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 smtClean="0"/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/>
              <a:t>SS.8.A.1.6:  Compare interpretations of key events and issues throughout American History.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endParaRPr lang="en-US" dirty="0"/>
          </a:p>
        </p:txBody>
      </p:sp>
      <p:sp>
        <p:nvSpPr>
          <p:cNvPr id="10" name="Flowchart: Alternate Process 9"/>
          <p:cNvSpPr/>
          <p:nvPr/>
        </p:nvSpPr>
        <p:spPr>
          <a:xfrm>
            <a:off x="640875" y="5499947"/>
            <a:ext cx="8914606" cy="975360"/>
          </a:xfrm>
          <a:prstGeom prst="flowChartAlternateProcess">
            <a:avLst/>
          </a:prstGeom>
          <a:solidFill>
            <a:schemeClr val="tx1">
              <a:lumMod val="65000"/>
              <a:lumOff val="3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23558" name="Picture 2" descr="http://www.commercialpressuresonland.org/sites/default/files/images/farmlan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760" y="1056641"/>
            <a:ext cx="3967480" cy="3420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0" y="5943599"/>
            <a:ext cx="9723120" cy="531707"/>
          </a:xfrm>
        </p:spPr>
        <p:txBody>
          <a:bodyPr/>
          <a:lstStyle/>
          <a:p>
            <a:pPr algn="ctr" eaLnBrk="1" hangingPunct="1"/>
            <a:r>
              <a:rPr lang="en-US" sz="2400" dirty="0" smtClean="0">
                <a:latin typeface="Kristen ITC" pitchFamily="66" charset="0"/>
              </a:rPr>
              <a:t>Unit I; </a:t>
            </a:r>
            <a:r>
              <a:rPr lang="en-US" sz="2400" dirty="0">
                <a:latin typeface="Kristen ITC" pitchFamily="66" charset="0"/>
              </a:rPr>
              <a:t>Timeline Tutorial Project </a:t>
            </a:r>
            <a:r>
              <a:rPr lang="en-US" sz="1600" dirty="0">
                <a:solidFill>
                  <a:srgbClr val="FF0000"/>
                </a:solidFill>
                <a:latin typeface="Kristen ITC" pitchFamily="66" charset="0"/>
              </a:rPr>
              <a:t>(30pts)</a:t>
            </a:r>
            <a:endParaRPr lang="en-US" sz="2400" dirty="0">
              <a:solidFill>
                <a:srgbClr val="FF0000"/>
              </a:solidFill>
              <a:latin typeface="Kristen ITC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6400"/>
            <a:ext cx="6202680" cy="4985173"/>
          </a:xfrm>
        </p:spPr>
        <p:txBody>
          <a:bodyPr rtlCol="0">
            <a:normAutofit/>
          </a:bodyPr>
          <a:lstStyle/>
          <a:p>
            <a:pPr marL="555955" indent="-555955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smtClean="0"/>
              <a:t>Aztec Establish Tenochtitlan***</a:t>
            </a:r>
          </a:p>
          <a:p>
            <a:pPr marL="555955" indent="-555955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smtClean="0"/>
              <a:t>Inca Empire begins to Expand</a:t>
            </a:r>
          </a:p>
          <a:p>
            <a:pPr marL="555955" indent="-555955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smtClean="0"/>
              <a:t>Maya empire reaches peak.***</a:t>
            </a:r>
          </a:p>
          <a:p>
            <a:pPr marL="555955" indent="-555955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smtClean="0"/>
              <a:t>Asian hunters enter north America***</a:t>
            </a:r>
          </a:p>
          <a:p>
            <a:pPr marL="555955" indent="-555955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smtClean="0"/>
              <a:t>Last Ice Age ends</a:t>
            </a:r>
          </a:p>
          <a:p>
            <a:pPr marL="555955" indent="-555955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smtClean="0"/>
              <a:t>The Crusades begin</a:t>
            </a:r>
          </a:p>
          <a:p>
            <a:pPr marL="555955" indent="-555955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smtClean="0"/>
              <a:t>Rise of </a:t>
            </a:r>
            <a:r>
              <a:rPr lang="en-US" dirty="0" err="1" smtClean="0"/>
              <a:t>Olmec</a:t>
            </a:r>
            <a:r>
              <a:rPr lang="en-US" dirty="0" smtClean="0"/>
              <a:t> in Mexico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638800" y="618468"/>
            <a:ext cx="4343400" cy="3343932"/>
          </a:xfrm>
          <a:prstGeom prst="rect">
            <a:avLst/>
          </a:prstGeom>
          <a:noFill/>
        </p:spPr>
        <p:txBody>
          <a:bodyPr wrap="square" lIns="111191" tIns="55596" rIns="111191" bIns="5559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u="sng" dirty="0">
                <a:solidFill>
                  <a:srgbClr val="FF0000"/>
                </a:solidFill>
                <a:latin typeface="+mn-lt"/>
                <a:cs typeface="+mn-cs"/>
              </a:rPr>
              <a:t>Using your textbook;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400" b="1" u="sng" dirty="0">
                <a:solidFill>
                  <a:srgbClr val="FF0000"/>
                </a:solidFill>
                <a:latin typeface="+mn-lt"/>
                <a:cs typeface="+mn-cs"/>
              </a:rPr>
              <a:t>Put these events in the right chronological order, 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400" b="1" u="sng" dirty="0">
                <a:solidFill>
                  <a:srgbClr val="FF0000"/>
                </a:solidFill>
                <a:latin typeface="+mn-lt"/>
                <a:cs typeface="+mn-cs"/>
              </a:rPr>
              <a:t>Also include a picture symbolizing EACH event.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400" b="1" u="sng" dirty="0">
                <a:solidFill>
                  <a:srgbClr val="FF0000"/>
                </a:solidFill>
                <a:latin typeface="+mn-lt"/>
                <a:cs typeface="+mn-cs"/>
              </a:rPr>
              <a:t>and write 2-3 sentences briefly describing the </a:t>
            </a:r>
            <a:r>
              <a:rPr lang="en-US" sz="2400" b="1" u="sng" dirty="0" smtClean="0">
                <a:solidFill>
                  <a:srgbClr val="FF0000"/>
                </a:solidFill>
                <a:latin typeface="+mn-lt"/>
                <a:cs typeface="+mn-cs"/>
              </a:rPr>
              <a:t>events marked with***.  </a:t>
            </a:r>
            <a:endParaRPr lang="en-US" sz="2400" b="1" u="sng" dirty="0">
              <a:solidFill>
                <a:srgbClr val="FF0000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" name="AutoShape 2" descr="data:image/jpeg;base64,/9j/4AAQSkZJRgABAQAAAQABAAD/2wCEAAkGBxQTEhUUExQWFRUXGBwYFxgXGBgcFxocHB8cFxgYGBccHCggHB0lIBocIjEhJSksLi4uHB8zODMsNygtLisBCgoKDg0OGxAQGzQkICQsLCwsLCw0NCwsLCwsLCwsLCwsLCwsLCwsLCwsLCwsLCwsLCwsLCwsLCwsLCwsLCwsLP/AABEIAOIA3wMBIgACEQEDEQH/xAAcAAABBQEBAQAAAAAAAAAAAAAFAAEDBAYHAgj/xAA+EAABAwEGBAQEBAQFBAMAAAABAAIRAwQFEiExQQZRYXETIoGRMqGx0SNCwfAHUnLhFBUzgvFTYpKiJENz/8QAGQEAAwEBAQAAAAAAAAAAAAAAAAIDAQQF/8QAKBEAAgICAgEDBAIDAAAAAAAAAAECEQMhEjFBBCJREzJhgXHwQpHh/9oADAMBAAIRAxEAPwDSOvw4rA6Y8su6TLSCPRULytRp3tSqThGKHE8jAwnugV0tqGoQ3EQw+0zPeDK835Ve6s6rPw4SxuRBgZOjSJhReT3BwSx2dVvy9AKFOoNPHpt/98JRO6q2JpB1D3D5yPkucUr4dUuus5zfNTrB0ZfzB/tOSM3NehNWoZ+JzXRynJV5Mko6N7CYFDTeQDZJ+FzQT3j7pXfaxjrNJ+B0+hGL7pzHoJpki4aoXbr+pUzBk9tPdLKSj2aouXQUSWesPFtKpW8IgtzhpOYJ5ZaLQ4lsZKStGNU6YoTwvOJLGtM0egE+FRl6bxEUzbRLCUKPxExqophaJISQI3qGirnnTz9JhFhWHPTNbQX+CeQoaVrY/Jrg7UZGcxssxePEjQ+qwva1oALSSM8sx7qpwZbWkgBwOKo7T+gFRjkUpUirxuMbZtKtcNAJ0JA91zL+JF5NY6vSOfi4PKdJABxSey0V5XiBZDnJZUAPPyuI+gXOuOLQX2gloxlxEchkBntomm10ia2eH3ia3gvgNDWCmP8AblKFXpUDn5lwJIz5QDGvUeyt2WGNHmBGvzmWoNeriXeK7MAdomQ3LmRmpXYw9gtGF9RuKcQkE6Exp81DWtIc1jHaNcSc/i3Q6zgg4pAkxB+o6K+WYw6GmQYaBmc9dFtIEQU7NDMQEYyY5hpMD5KoX1MZcSZByjkAWiAtDTGNskYcoaNwBpKBVnw+Sdz+mcLEzDqFjpVKVpc3AQXDNpLc5zGHvms5xRaD41QRhNMgRyEDca6yVcvCsTVNYkmXDMagDUkHv8lVvT8SsXvILAZMf92QB5wMz3CjEvOXtr8nu66lTwHCQA5+F7RoZ+E+5Rfhu0OOBzszIBPYgCesFZCi8U6kNeSPiaBpOgn96o9dLnscWuMtdm2MsPQgKnLi7Jqno1nEF4uYalLYvaDnpABEd0rPfGHxHH87AI0MgQSglvtmBknOTACiFrDhz/e6x5nWiixq9mkq8U1XgCBAgb+6HXlUc5mJ57Dr0UFCuA0OIgAjLmpuKqY8fFT/ANOo1r2AaCR5gB3+qhtu2W0lSBtlaQQ8nCGkGeuoA5laW08fVM8FKBtiBn6hDrVZvBs+NomoDDB1GdV3t5Qeiztra4UH1HB34kBk6iPM4gbaAeq6YSpCTxp9h6j/ABTqtqRUpNc2c8Mhw7ZkFdGum9qdopipScHNPuDuCNivni1YMNOM3kOxnbU4fWFov4e346z1w3PA84Xj6OjmPorc9EJY/g7e56841meE7U6r49czhqVPJ/S3ygo8XpHkBYyfxVDWq5qLxFXe4585U5ZqKRxAG8qJJrRliHmj6DqSF7vC3v8ABphp/EqgMb0geZx7K/aWQ1zozhB7FeNH/F031DDKVnxRGWJxDdFFzctHTjxpe6jD39dT2uJFN7xPxPxS7mQBshlwXjWs1dtZjDDT5m5wRodd81sOJb5FV8g5GY1j3WFvGqcRz0VscnRPKtm4rWoPs9SHEzUDhtkfN6rL220mSTmDlAOcR5ieQV3ha3STTOflJHSNfkq95WZ72vqkNp0nGGkgAvI0Ea+vRKnUqZOcbimDKVR4qAGZkYBHWWxGiit7HVnS4w0uc905CBuB8ui9VLd8GJuJ4PlaBJdyBHJPaXNYx5eZedQNMR0a3oFRkPB4s9rpmswuYHUycEO0adAR8slr7dahRovwgNaGnJoAn/lYE0h4Qk5HMdx9JbHsiFmtTq9Pwi+RIJJ1gZATyU54+VMpDJxTQ9ntGJjnTAyA5ncx3MobbaEuzHpvule9MCqGt0bmB22V26w54kfECRJ5SqdbJByvaPDzc0+ZuYESM4BjTPPJVa9owQPiaTlrmCM5GoifmiBpB1JzBOeczigcuhnZQ0qcszAkNLZdoejRyU7Q7vyC2UWeI1zQMIM9cvywrVnrup1C5rcQcT2z2/uqtC24PKWSZzyjTLNE7JZCXOY8ZYcTY7iRHqFrfyYtBqlZ6VVompgOsOzhS0+Hv5ajX/0uA9mlHOFfDezBUFMvaN2+aOuUHutEKLGZ+UegXNLLTOyEOSsyJuSoQADIGgMfVWKthqtY3yYvBONvLmQd4Py1Wq8vr6Lze9YUrPjcdTGXXL7rIScmO4pGTNsZaDSYw5hsOb+YOcZcCOp35DqsnxdUruq4asS3y+XJuWWm2SNU7tc5j7Sx4pOpvbTYQYzjzPLtgZHMLOXhd9bF+I9wcc/OJJB3BBgjqF0pbJyk6BVWiQAI321z2RTwv8M1wJH+IqNgj/pM3mPzu0jYd1WpEtcCxxLpgOMZcy0cxzVUD8QyZO5O85yVTvRM2nAN/OpEUqriabvhn8ruh5FdHFQ+hXGLO7y5Lrd2uJo03E5ljSfZQyj4y3CUJNEpEqJUq3tXwUajtw0x3XKuGGm02gUKj8IcHS+c8Mh5Hfy5dyuuWygKjHNOjmke+64ffViq2WuW+eWuhr4LWkxOTt8lTErsyUqSOjX6ym8FrYijHhtEGW6Ekjc953K5rXgvcXDIz6E6H0RK5+JC2nVpVg444c1zYxAjKDOoQqtUxThnoTA+SeCcbsJtSSaLfCrP/k0mkTL8JjWNDC0XElhrVaooDLzENBmGNG5O88/RUrjuerZ3tq1YBwgsg6E794R998PJJJBJ3jOO6Wb93JAsTlGm6Ri7tsopF7oLjiwYzsc8gNZMegVFtmc+ricJZnptOhRK+bcBLCfICXBrciXHUk/3UFjru8IOyEmGzoOZHMgbqqb7OKVXoEWm0NbNPIsxZk8ojJKrWYxjWsjIhxIMyds9stlHamyTMn9VUsdnLqmFuYOR+6poSgtdllNRz6r8gAT0zKl4fq5ubtr7z/ZELNRik9oEl2TW7kbZfvVS2HhK0ObOVOQJx68/hCnKa3bGUHLo2D7vpvE0/LuQ37HdAr0ul7ngUwJA/MYeY5T+iOBh1Bg8woWXxUY4Y6bakHWIK5YykujtlTVMzFi4WrGt+IC1hkudr+5WrslyAEy+Y+DKCByJOo0WkuW1UrSD5H0XDfVpTW0eE/C5wz+E7HoOvRZLNOwjjggNSuF0y1zZOvmOfoArv+WVogCn3LnH6hWcY3TursmPEDTyxgH2lSeRvsoopdAkcN1yZNUdhP2XvjCo6nYKdImXB5z57j6oqKVTIio6O/6qtetiNak6m4gk/DjmAeeWarDJsVxAXBN5UnUKtnrw44sTWu/NkMvQj5qlxlaiWU3HzA5td0Lfh6QZHcKnb+E6lEY3EGD8TXfPogdqtdUA03PJbMgHY9F0pKTtE3KlTPVCIaHcie3VU69UOqOw58oUdUudqSSiFz2YBs9VTrbJjUC8DMQF2m748GnGmBsewWI4XuI1nCpUYfCboDljI0y5LeNZA7bLnyST0VgiQ6SmGcpU9F6YIUXJIpTHYBHVVb0uqnaKRp1BIOY6HYjqFcdCYHZZ9RG8Wcltt0WazWhjX1/EpvBBLQJadBIk5Sql1up07U1xY59MVDschsT8l1B3DllmfBYDrkAFYo3TRaC0UxB55qn14i/TZ4/xNncJcaZG05/JBbbZKTp85jbCwjfsBC0tGxsb8LGjsAvFotLGzigRnoofUH4WqZyy8uEBVdjmo8zs2GhuwAQ+9+F6+ANpUXuAyzae+pXUat/t0YB3P2VKtb8Z8z56A5ewVF6iSJP08W+zBVuCa8MBqU5OZM/CDqDG6K3PwpTomXOxuOWkD7o3VbUc44WOwjUxA55zCls1iqPDjLQGiTJ25ABZLPJqmx4+ngt0eaNNjYgBvYfXmrb4jI+/2VOwBlR7iXEeWRhjOB1Wir3fRbh8uKf5iT8pgKHLyyzjxdAFlHLNQixYnaIm2zc3ZdQFUtl7U6WWIF3Jqom/BJ15LtnaKYk5IVfVua8jGcLW6N1cfsqjqlprn8Om5o5nL5n9FZsfCD3Z1XROzc/mmSrcmK7ekgVbb1dWOEYmNA/KfOdgAdiefIFWbBwUxwx1aLs85JqT7kovZuHDTecBEh4fAeA6GiGtJnFEyTEaqxe1+VqLCHAANMwcw7nnrKb6iqlYcH2yvddwMoPDqL6wG7MeJh7tIRgWZ7to7/ZV7o4go1gIdhcfyn9DujBUnJ+R1FeDM8WFrKIplr3Ofo4fCCOfdc8qsl+YEEiZ2ldetj2lpaS2CIMuAWOtvB9mcQQ8Du5zvZWxZUuxJwvoDN4ZIwk4TTJ+JpmRvHVT3/QDadKnQpiQ0lxHxEk/my+UrS3bdppM8NlUln8opkjrqUPvsUaAxVnvl3wsAALuw5ddE6yW6QvDRZ4TvJ9OjhrH4dAY02ARf/PhtTcVzU35UM4AKbdozd/5faFVrW6pmfFqf+bvuqv07ltsaNpHT3cR8qfuf7KCrf8AUOga33K53R4itDMi7G3+WqMXsTmPQo9cV80LQ5rHuNCochOdNx5B2rT0OXVTl6VrrYc2aL/Oqx/MB6fdROvWqf8A7D8h+isf5XTaYdUMjUYf7q1TbRaMpP8AtaD9FzPihtg0XlV2e5SVL5rNaTjA9BPtCKtez/pk9ypqL4gCm0dYCzkvg2mUbNaXSC+q98x5WAjXmYUFsu91auQ6lUdTMblo21JMo+Kr1I0v5pb3Y1AulcFNsBlnpN3lxxHop7BZniQQGsLTADYIM7oiAdyvQWN32alSBtsukvJcHkYjJHoG/ovVjuZlPFDnEOEOBOvbkrNsL4GATmJz2U4csGt1QMslxUaZlrTvqeaIeHOoHTskGkEkmRsIGSQlFmbMw6x1qh/Ep1Y/la5jB6mSSrdku/B8FkYDzc8E+8FERUqckxZUO6pyJcTz+Ps2k3u5x+gCjv1lop2QuaW+I4xiYDDWwYnlJiSpHWZ50d8lpbNXaWDzNIiCZEZZFPjpvZPK2lo5PwhcNqFodirGswOaWvggACC49P5Y3Wv4psoLSIRu8L/s1EeatTb0xD6BYi/uLaDwRTcXzyaY9yqNpsWFpGTp2DCCGmHA5GdOQV+4byLXtbXBqDQgyRPMHojvDlxB7XPqEw90jtyC0tkuKg2PK7uf+FzSy7aK8a2VrL4Tv9OkHdm/dEG0iNmt6b/JEGUGN+Fp09E7yAD5QEnN/Icvgz9+Xu2zUi8nE7Zv3XF70t9SvVdUqOLnH5DkBsOy2/HVeXnl+91h7JSl+i9D0qUY8n2UlDaRJTpyE1WnCIeDAVeuulZLGeOkDnlULQ9ELU2Ch9YJ1I55xOrfwwvQ2yi+lVdiq0Ywk/E6nsCdy36LZU7I0LjP8LbxNG8aWeT5Yex0+a7rbaOF3Q5hcPq8de9fs3FL/FlUURyXoNHJOSlK4S4k7UkggBJJJIASQSKZADkpkoTwgAYLa46UneqkFoqf9OPVSVaTi5pBgDUc1MCmsWijanVntIaMJI1nMLnF72NzcTXag5rq0oDxLcwqNNRgioMyP5hy79UJ07NOZ2exY3NZMFxW0sfCobWpsIhhYAZ1n/lBLvAFRri0kseDhOuW66fTYCcTcxAOfujNlapCJLsms4aCKcCG6RyCKCmIVOz0pcHaSiTWJcONyRHLLZ4axQWqlIyVyF4qDIq8sSSJxlTOXcdWAxjOkxrn7fvVYSzy395Bdi4gsQc0g5zM5wPdcnt9jNNxBnmDzHNUwy1TPSTumArXxBgqYS2ROZnP0CI1KocA4Zg6IHeVmHiSrd11PI0To6F1tKrRGM5cmpFi1wDmdkMqVQU99WyNNSShV30H1XjMwM3HYBNFatksk/dSDVyVvDtNFwyh4+q7bxdxOKdazBpkPYS8dDGE/VcHa8eKDmQ06DpmtRSrPr1PEeTMACNA0ZBo7JMm40xOnZ2Oy2ltVkiC0jMa5dlmb1FSxPx2am/wdXtDg6n1hs4memXZBrrvJ1E5H7I3a7/qYC8EBo+LISOZ7Lz3Fx/JVTUg7cl807SzEw5j4m7tP26ojK53ctZ1R2Gi2XOzhkDLm52gErcWCnWa2Hsk9HtJ9tUjhK+h1JF1NKbEvTVgwkxKYkExOfL+y9kQgBmhIpQvEnkgBgkUoTrTDyRCrWyw+K5mJx8NpxFgyxnItxH+UaxuY2yNs5pEIWgM3fdAUneKGziOeWh+xROz2uaTXjMEQY+atW6ytqMLSJH2zQm7LI6lLDmJJB6kwVLIlRhrbC8GCNMoRCEGuepplHdEbVXDWF05Aei7PTtKBy5E+VElasAqL67jrHYkBcw4r/iY+m4Ck1rtdTpBiT1KAWb+LFQOGOg0tGoadfQ5KvDJPdaKQjCOpPZ1q3vExAPTX11WJv27Mck5uOcueBH9LVbuPjWhaiMOJpP5C0Nz0/KYPzR6uxhGctH/AObSD66hc+4S3o7oca1s43eF3OmCOoKioWc4jA0GJ3TbmulWuwtdyw6mQ0DpoMlStl202ghgzLc8pz6KyzKjfo+Tld5WbHWawmABLjyG+SntNrbhFGg3AwZEn4nHcuP6I/auHy9xOEiSMThqZ+iM3dw7RYJ8Npz1Mz3GLdWeVJI5vpStsyV03M9x8rZ22Wgu+kB5dDuN5WhLWgZZQNHAYTtnuO4lBiAD5SCNtDluJ6KfNyIzhSLIpb7r1TrFp5t0IOh6J6bsv1XmuMv3miiJ6uur4Pi+CYdEDpOiB3Je1sZajDzhcYLYz1/Nl3zStVodSeHt5ZjY9EcsF4MqNxMPcbjumtJbQU2zf3Tb/ExA5lsZ9D9oPyV9x+SC8PUTTYXOyLtumys31bBTs73zlH1MfquKfejsh1sE3la3H8QGHAy3pGgR26baK1JtQb6jkRkQsb/jm1GZFWuDLSW1alEnJwxt7jJw9RHspwvaZbI06o2ZBTOfGuSYOhQ2u1tptxP0yHc9FpOiYL1C8Ar1KYUUJyE0p5WgIhQ2imMJ+UdM1MkRr+9UslaAr3U/z55zmOascWOP+FqRyVCnUDaoA3Gu/JHLVSFSg4ayD9k2B3Fom9TTZ8tXxVmo7uUKe7ujvE9iNKvUYdnGO2yBFexDo58i92w/wJXDbfZsROE1mAjmC4CDz1X0hbOFrO/MNLD/ANjiB6t0XzpcvC9rIZWYwNAIewudBJBkGI6L6eu+1CrTa8EeYA9juFz5uLY1ZMaUtoxF6XDaqXmbhrAaR5cI54dyszaLwqA503zvlOfouvWysGsLjsFnKFkp1LO1z2iXYnTvmSdVxOkzqx+qyUc+/wAfUJ8tJ2GNXCI6SYMdlnrw4kYysWPqVKREYw2XMOWkag9VoeNb2p2RpDHB1R04G8v+49AuP1nlxJcZJMknUk5krqwYlLb6JZfUS6NZeHEtEPb4QqPb+cyWzywt0nqQrN3X0yoThkGcw4Cdcjll0WHhFrgb5/RXliiokozcnTOj2Or5dNvRPaKmEZqO76flEnbNTMoio4tdIaATlroYjqSIhckml2FW6M5VrlzjH/HdGuHeFatYioC0Uw4fFPmG+W4Rzh7gwS19aC3XCN+hW3p0w1oa0ANAgAaQpy9RqolYYvLK14GKZI2GyzvFVWbted/KP/YBa0rOfxAP/wAN/VzB85/RRh9yLSftOV2W1OYQQStHYrzLXU6o1YQfTce0rOCmiNhGULomk9kIyfR2RjwRIOREj1zCAcX1yHU6fJuI93afJS8HWvHZw0/FTOA9vy/LL0VTihuO0VOhDfYALmkqReLto0YK9grwAvULDT1iThy8JIAklPi/uo0mosCK1UQDj3j6b989EdsLgWDqNENqkA4Sdf8AlT3e+BsCNv30W+mlT2Qyq0ce/ixcZFTxWjoVzi2XdUpwX03NB3IyX0txlc4rUzlMhcrq1IY+zVmFzwC2IJLhHld6c+a9DFkcVxNyx5pZF57/AJDnBt5NrWenPxBoa4coylaOlaH0JNJ0A6g5g+i5pctKpZ6jMYcwEQCcgeoOhW3ZeQAioYI32KTIqZ62FrLj938MV+8SV6jDT8rZ1iZP2QijedYMweI7CMgOXYqe22qg/fPnP6oZbajQ2WPBPolSXVCPBCK0tATiG5G1A58nxOZOvQrA4ZW5ve9YZhbLnvyY0azufRY62WCpRgVGOZOmIa+q68V1s8v1PHlorvYtJwvZZMxqYH6oTQsxqPDRtEldD4cuk+UNb5jkOg3KzLOkJGNOy9Tpl0BvQH7LT8P3PrUfmCPL7mUQuu520gJgkanqiVSoGjPsF5c58i8IcT0AlijVUbRXf/SNuaHVncysHDNS3U2/E9o7kIPxqMdjcRmMTTIzGvP1Q62sDvXZZ60Pq0cVMT4dQQ5s5DcOA2II26qkYWTm9AbwFZoMjRNMI9dV3s8I1H5k/CNh1PPsmlKuyeOLk6Ra4Ttnh1gDpUGH11b9vVHLbSxV6v8AUfusZ42FwB8v8rhpO08itbdtvFWs47lrS4cjhAPzCjl+2ysbi6ZoU6QanWDjJBOQmKAE4r3QHmCjhS09lj6AkthGupn95Tmms1aTMiNIAz9U94OGE7ZbqC6a2tPIz5pjIdEmFrkSa9oWqtxNg6fuFz7jC6CCK1MfiMOY/mboW/veF0Sm6R8kOvSyYhiA0+IdNl2t07QYZq3GXTMrwJbbPaxUoVWNeG5tD26fzATof7qG08PVXV61Kkw1GUyMLiQIBE4STqR9IQi/bG6x1TaqIOB0Yg3VpGjgt/wPxBTtVDE0jxJmo3KZO8cvsqJp99Dc8np5Nx/4co4ous0XYXsLH9Mp/QrJ3naHUwMBJPXML6Av+z069rs9OoA4ND6jgeQER7kKpxG6g1hYKVONIwtj6IWaMTZ5nNfDOY3FwbbWEWmtT8xYcDTtMGTyyQ2/ajrUW2c08NRj5dvGRHzkLVcS8XumnJxuH8uUDrG5VW6vjfWeBOpjmdM+gyTc39zX8CYsXJ7/AGQ2S4adABsYnQHVDv0aOUrbcOWNzRjIADmnuDIiOkSslZLa19ZrMzjOZAmAcvf9F0hggAcslz5ZPyPalK10uj0EPvRxIGE5gzHNXyFVr2eZUBipZrSKjYOygtrQMivVSlnOh5odxDeAYwOdlAjQoinZreijb6pZn8zt2WWva+S5xDfNlqVFeV8vqy2Yaff+yk4eus1XjSB9dgV2RgoR5SOSU+TqJE6tz1/ZWku6tNEDoFnb7pjy1GiAfK7o4Zj0IRe4nfhM9R7Gf1UMquFlcL4zo9VKUyDoobBazZ6uJxOGInXtPuiFSkmdZQ8QowfyVmrOiiEpSLxomJOSYw9hu68YpEQlVdOXqpKTI3QaOGgapn94hKeZleapkBYBYrNDmCCJ1hCrJXDa7dBnvOhyRazslmex215+iD3hZiZcJ5iVCPtmJ4aNKThfloRPqphn66qKzsxU2noFJTfP07+i9CRysz172KJyBpnUaxPPouZXtctayVPHspcGzMA5gcjzHRdqtGhBjPKDusle9AtGWY35j0SRm4M78M45Fxn+mc5tHFhf5yXNqgRMkHsDyQq8OJ69UQXmN+q1d63LRfnAB5tiPZZ+vw40TDm+yvB4/gfLDIzO2WvL5OYHzK1ZtGKlhBgvd8gqRu1jNXT0aMyiN13cajmsiCTllIA/snyTVEHcFXyGeC7qx1MbhLacdw7YLfKC7rE2iwMaMhrzJ7qwuGcrYRjSHlMnCcpRiCpQBVardocCDBB1B3V+EigDI1uAqDnFwc9g/lEQO0hDH0GWG2UqbS4U3x5ic576RMBdBIWN/iBYcTW1NAMi7kdiqLI3p9COCW0ZviikalUwA1jSQANJJknuSivDthmiWnUOJHsEOpVcbBizMAHuP7wi1z23QHln+/RZkk2qCCV2XTdTlLSszWDqrr7UA3NBbTb81zrlIozaNCcrzC9NCsKIL052yaUzQg0eEx1SLgey9tcsAt2b/TI6qneTXEax03V2xviQvFSzNJOZn99FGXZO6kya5j+C0GeXVShkGYgBRXO2A4dd9slJa3yN9cuU9F1p3BWQl9zQ5OL7zCoWim3OPlJPuqFe0lpyOusfqFWtl5wJ9j0+gSWb0Dr3sbDiOh0BGsrIW6znPzGJ9+ko3a71LpAM9/YQg1asTLj8LYy3/ZVoJo15JdJlNxZTdzceeZg/RbLgq7oBrEST5WmNtz66LG3dYnWiu0DPEczmIH2hdYoUg1oa0QAIHYIyutDY027Z7CcJBJc5cUJJykgDzCcJxkkAgBlSvaxCrTc0xpuJ+SupIA43bQ6hjZrBy+2e3JWLnrHMnTKD7zK3PFfC4tLcVOG1gIHJ28O+65m+lWpPLDiaRMg6e4V41Jfki/azWWq2w09AqFAtfm9xjYDX1OyzNS1E6GCdQcgU9ntThJMTPp7LfpNLQPLs7n2SaSmKWJQKnqV6C8hesKAPIaVNSpzoFG0ovdw8knUooWcuKsiqsDWgcs1Ax4kk5QNeantDtwZJ9gq9CHAS4+oEdo3XNVyEXWy3dwIPRwlR3pTgEwYI6a7KYtOQaIg/IL3VZi15wPuV1w1DiRb91mIttQtknIRmsxaq7nk7Aa9d8wtnfVlMwRJMgSch3PZZZ1ngSeWI/OAOqaFGsGVn7HURn+neRKhtGZg5D9kq0xgGZG85a+ytXDYxVrtDvhBBdlqBsVRtJWZFWaHhO6RSp+IRDnjyyIhu3vqtAFYtjYcq4UG72dUeh4TBIplgw8J00pBAC/RJKf3+qQQAgUnBIpIMLVjpmcUZNWBvmytfXc45bg9IyXQqvkZHPX1yWBvEhr3tOhOXIRrPopuT5aFju2Zq8LnDxLGNyz0zI5ZaIGbKzCTDtc4OQ2zW9rVWOaGgwC3OTnlmBlmhRu8Hqeg5fVVhmfTFlBeDodTT99F6pjMfvkmSWFB2/v2C9n4fRJJAHmnoUYofAeySSWfX9+CeXoD2hxl2ew+oU9k+I93JJKEPA0uglS+AdglaD+n0KSS7F/f9HN5M3xI8/h5nXn1Ky1Y+U+n0SSWQNBFc5D97o9wvq3ufoUkk+T7TYG7q/wCk1VGfoE6SnHotHoY/v5ryEkkDjlLf1/RJJCATkx/fukkgBO3T09fUJJLGBevHft+i59ex/G/3pJKEfvYsPtK1rYPGGQ0n6Zqd5zH9ISSR4X7HP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https://encrypted-tbn2.gstatic.com/images?q=tbn:ANd9GcQdKlB719NUv1PPzxf5jtRRxBkplaOU1Ua1334JaUHNUXnyShdUG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8462" y="3810000"/>
            <a:ext cx="2124075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800" b="1" u="sng" dirty="0">
                <a:solidFill>
                  <a:srgbClr val="FF0000"/>
                </a:solidFill>
              </a:rPr>
              <a:t>Warm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6200" y="623148"/>
            <a:ext cx="6088380" cy="4118186"/>
          </a:xfrm>
          <a:prstGeom prst="rect">
            <a:avLst/>
          </a:prstGeom>
          <a:noFill/>
        </p:spPr>
        <p:txBody>
          <a:bodyPr wrap="square" lIns="111191" tIns="55596" rIns="111191" bIns="5559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u="sng" dirty="0">
                <a:solidFill>
                  <a:srgbClr val="FF0000"/>
                </a:solidFill>
                <a:latin typeface="+mn-lt"/>
                <a:cs typeface="+mn-cs"/>
              </a:rPr>
              <a:t>Warm up Questions: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3200" dirty="0">
                <a:latin typeface="+mn-lt"/>
                <a:cs typeface="+mn-cs"/>
              </a:rPr>
              <a:t>Approximately when did the last Ice Age end?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3200" dirty="0">
                <a:latin typeface="+mn-lt"/>
                <a:cs typeface="+mn-cs"/>
              </a:rPr>
              <a:t>What are the names of your teachers </a:t>
            </a:r>
            <a:r>
              <a:rPr lang="en-US" sz="3200" u="sng" dirty="0">
                <a:latin typeface="+mn-lt"/>
                <a:cs typeface="+mn-cs"/>
              </a:rPr>
              <a:t>this </a:t>
            </a:r>
            <a:r>
              <a:rPr lang="en-US" sz="3200" dirty="0">
                <a:latin typeface="+mn-lt"/>
                <a:cs typeface="+mn-cs"/>
              </a:rPr>
              <a:t>year?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3200" b="1" dirty="0">
                <a:latin typeface="+mn-lt"/>
                <a:cs typeface="+mn-cs"/>
              </a:rPr>
              <a:t>OCSR</a:t>
            </a:r>
            <a:r>
              <a:rPr lang="en-US" sz="3200" dirty="0">
                <a:latin typeface="+mn-lt"/>
                <a:cs typeface="+mn-cs"/>
              </a:rPr>
              <a:t>:  What were the names of your teachers </a:t>
            </a:r>
            <a:r>
              <a:rPr lang="en-US" sz="3200" u="sng" dirty="0">
                <a:latin typeface="+mn-lt"/>
                <a:cs typeface="+mn-cs"/>
              </a:rPr>
              <a:t>last</a:t>
            </a:r>
            <a:r>
              <a:rPr lang="en-US" sz="3200" dirty="0">
                <a:latin typeface="+mn-lt"/>
                <a:cs typeface="+mn-cs"/>
              </a:rPr>
              <a:t> year?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3200" b="1" dirty="0">
                <a:latin typeface="+mn-lt"/>
                <a:cs typeface="+mn-cs"/>
              </a:rPr>
              <a:t>Define:</a:t>
            </a:r>
            <a:r>
              <a:rPr lang="en-US" sz="3200" dirty="0">
                <a:latin typeface="+mn-lt"/>
                <a:cs typeface="+mn-cs"/>
              </a:rPr>
              <a:t> Culture, Hieroglyphics</a:t>
            </a:r>
          </a:p>
        </p:txBody>
      </p:sp>
      <p:pic>
        <p:nvPicPr>
          <p:cNvPr id="26628" name="Picture 2" descr="https://encrypted-tbn3.google.com/images?q=tbn:ANd9GcQUrzUfWiRIv0B5YFl1IPuoTtlZc5atEcVG58LGkFaBfz0-ue-v8RQ49dA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09" y="672818"/>
            <a:ext cx="3630453" cy="4068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elay 10"/>
          <p:cNvSpPr/>
          <p:nvPr/>
        </p:nvSpPr>
        <p:spPr>
          <a:xfrm>
            <a:off x="83820" y="731521"/>
            <a:ext cx="5364480" cy="4648765"/>
          </a:xfrm>
          <a:prstGeom prst="flowChartDelay">
            <a:avLst/>
          </a:prstGeom>
          <a:solidFill>
            <a:schemeClr val="tx1">
              <a:lumMod val="75000"/>
              <a:lumOff val="25000"/>
              <a:alpha val="1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6195" y="5380991"/>
            <a:ext cx="9786018" cy="943275"/>
          </a:xfrm>
          <a:prstGeom prst="rect">
            <a:avLst/>
          </a:prstGeom>
          <a:solidFill>
            <a:schemeClr val="bg2"/>
          </a:solidFill>
        </p:spPr>
        <p:txBody>
          <a:bodyPr wrap="none" lIns="111191" tIns="55596" rIns="111191" bIns="55596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Daily Question to know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67640" y="851183"/>
            <a:ext cx="4931410" cy="4648764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dirty="0" smtClean="0">
                <a:latin typeface="Bauhaus 93" pitchFamily="82" charset="0"/>
              </a:rPr>
              <a:t>Question: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 smtClean="0"/>
              <a:t>What does it mean to place events in Chronological order?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 smtClean="0"/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/>
              <a:t>SS.8.A.1.6:  Compare interpretations of key events and issues throughout American History.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endParaRPr lang="en-US" dirty="0"/>
          </a:p>
        </p:txBody>
      </p:sp>
      <p:sp>
        <p:nvSpPr>
          <p:cNvPr id="10" name="Flowchart: Alternate Process 9"/>
          <p:cNvSpPr/>
          <p:nvPr/>
        </p:nvSpPr>
        <p:spPr>
          <a:xfrm>
            <a:off x="640875" y="5499947"/>
            <a:ext cx="8914606" cy="975360"/>
          </a:xfrm>
          <a:prstGeom prst="flowChartAlternateProcess">
            <a:avLst/>
          </a:prstGeom>
          <a:solidFill>
            <a:schemeClr val="tx1">
              <a:lumMod val="65000"/>
              <a:lumOff val="3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27654" name="Picture 8" descr="http://t0.gstatic.com/images?q=tbn:ANd9GcS9kj0HBSZzgj_jGOoCWTEMx1pkye08LrnXUYecAWqkmjSe7cBTKLPAzIw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8520" y="731520"/>
            <a:ext cx="2263140" cy="4316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0" y="4876800"/>
            <a:ext cx="10058400" cy="1706880"/>
          </a:xfrm>
        </p:spPr>
        <p:txBody>
          <a:bodyPr/>
          <a:lstStyle/>
          <a:p>
            <a:pPr algn="ctr" eaLnBrk="1" hangingPunct="1"/>
            <a:r>
              <a:rPr lang="en-US" sz="3200" dirty="0" smtClean="0">
                <a:latin typeface="Kristen ITC" pitchFamily="66" charset="0"/>
              </a:rPr>
              <a:t>Unit I </a:t>
            </a:r>
            <a:r>
              <a:rPr lang="en-US" sz="3200" dirty="0">
                <a:latin typeface="Kristen ITC" pitchFamily="66" charset="0"/>
              </a:rPr>
              <a:t>Timeline Project </a:t>
            </a:r>
            <a:r>
              <a:rPr lang="en-US" sz="3200" dirty="0">
                <a:solidFill>
                  <a:srgbClr val="FF0000"/>
                </a:solidFill>
                <a:latin typeface="Kristen ITC" pitchFamily="66" charset="0"/>
              </a:rPr>
              <a:t>(30pts)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0" y="568960"/>
            <a:ext cx="6537960" cy="5256107"/>
          </a:xfrm>
        </p:spPr>
        <p:txBody>
          <a:bodyPr/>
          <a:lstStyle/>
          <a:p>
            <a:pPr marL="555955" indent="-555955" eaLnBrk="1" hangingPunct="1">
              <a:buFont typeface="Impact" pitchFamily="34" charset="0"/>
              <a:buAutoNum type="arabicPeriod"/>
            </a:pPr>
            <a:r>
              <a:rPr lang="en-US" sz="3200" dirty="0"/>
              <a:t>Iroquois form League of Five Nations</a:t>
            </a:r>
          </a:p>
          <a:p>
            <a:pPr marL="555955" indent="-555955" eaLnBrk="1" hangingPunct="1">
              <a:buFont typeface="Impact" pitchFamily="34" charset="0"/>
              <a:buAutoNum type="arabicPeriod"/>
            </a:pPr>
            <a:r>
              <a:rPr lang="en-US" sz="3200" dirty="0"/>
              <a:t>Jamestown </a:t>
            </a:r>
            <a:r>
              <a:rPr lang="en-US" sz="3200" dirty="0" smtClean="0"/>
              <a:t>Settled***</a:t>
            </a:r>
            <a:endParaRPr lang="en-US" sz="3200" dirty="0"/>
          </a:p>
          <a:p>
            <a:pPr marL="555955" indent="-555955" eaLnBrk="1" hangingPunct="1">
              <a:buFont typeface="Impact" pitchFamily="34" charset="0"/>
              <a:buAutoNum type="arabicPeriod"/>
            </a:pPr>
            <a:r>
              <a:rPr lang="en-US" sz="3200" dirty="0"/>
              <a:t>England defeats Spanish Armada</a:t>
            </a:r>
          </a:p>
          <a:p>
            <a:pPr marL="555955" indent="-555955" eaLnBrk="1" hangingPunct="1">
              <a:buFont typeface="Impact" pitchFamily="34" charset="0"/>
              <a:buAutoNum type="arabicPeriod"/>
            </a:pPr>
            <a:r>
              <a:rPr lang="en-US" sz="3200" dirty="0"/>
              <a:t>John Cabot sails to Newfoundland</a:t>
            </a:r>
          </a:p>
          <a:p>
            <a:pPr marL="555955" indent="-555955" eaLnBrk="1" hangingPunct="1">
              <a:buFont typeface="Impact" pitchFamily="34" charset="0"/>
              <a:buAutoNum type="arabicPeriod"/>
            </a:pPr>
            <a:r>
              <a:rPr lang="en-US" sz="3200" dirty="0"/>
              <a:t>Christopher Columbus reaches </a:t>
            </a:r>
            <a:r>
              <a:rPr lang="en-US" sz="3200" dirty="0" smtClean="0"/>
              <a:t>America***</a:t>
            </a:r>
            <a:endParaRPr lang="en-US" sz="3200" dirty="0"/>
          </a:p>
          <a:p>
            <a:pPr marL="555955" indent="-555955" eaLnBrk="1" hangingPunct="1">
              <a:buFont typeface="Impact" pitchFamily="34" charset="0"/>
              <a:buAutoNum type="arabicPeriod"/>
            </a:pPr>
            <a:r>
              <a:rPr lang="en-US" sz="3200" dirty="0"/>
              <a:t>Martin Luther promotes church reform</a:t>
            </a:r>
          </a:p>
          <a:p>
            <a:pPr marL="555955" indent="-555955" eaLnBrk="1" hangingPunct="1">
              <a:buFont typeface="Impact" pitchFamily="34" charset="0"/>
              <a:buAutoNum type="arabicPeriod"/>
            </a:pPr>
            <a:r>
              <a:rPr lang="en-US" sz="3200" dirty="0"/>
              <a:t>Pilgrims found </a:t>
            </a:r>
            <a:r>
              <a:rPr lang="en-US" sz="3200" dirty="0" smtClean="0"/>
              <a:t>Plymouth***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6286500" y="413174"/>
            <a:ext cx="3771900" cy="2328269"/>
          </a:xfrm>
          <a:prstGeom prst="rect">
            <a:avLst/>
          </a:prstGeom>
          <a:noFill/>
        </p:spPr>
        <p:txBody>
          <a:bodyPr lIns="111191" tIns="55596" rIns="111191" bIns="5559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u="sng" dirty="0">
                <a:latin typeface="+mn-lt"/>
                <a:cs typeface="+mn-cs"/>
              </a:rPr>
              <a:t>Using your textbook;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u="sng" dirty="0">
                <a:latin typeface="+mn-lt"/>
                <a:cs typeface="+mn-cs"/>
              </a:rPr>
              <a:t>Put these events in the right chronological order, 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u="sng" dirty="0">
                <a:latin typeface="+mn-lt"/>
                <a:cs typeface="+mn-cs"/>
              </a:rPr>
              <a:t>Also include a picture symbolizing EACH event.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u="sng" dirty="0">
                <a:latin typeface="+mn-lt"/>
                <a:cs typeface="+mn-cs"/>
              </a:rPr>
              <a:t>and write 2-3 sentences briefly describing the </a:t>
            </a:r>
            <a:r>
              <a:rPr lang="en-US" b="1" u="sng" dirty="0" smtClean="0">
                <a:latin typeface="+mn-lt"/>
                <a:cs typeface="+mn-cs"/>
              </a:rPr>
              <a:t>events marked with ***.</a:t>
            </a:r>
            <a:endParaRPr lang="en-US" b="1" u="sng" dirty="0">
              <a:latin typeface="+mn-lt"/>
              <a:cs typeface="+mn-cs"/>
            </a:endParaRPr>
          </a:p>
        </p:txBody>
      </p:sp>
      <p:pic>
        <p:nvPicPr>
          <p:cNvPr id="2050" name="Picture 2" descr="https://encrypted-tbn0.gstatic.com/images?q=tbn:ANd9GcRvkHyEQgpljapVQvqmoTdPcuz10fvUP5F85te92YbmGBmNKV_JH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799847"/>
            <a:ext cx="3086100" cy="2991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228600"/>
            <a:ext cx="9136380" cy="844062"/>
          </a:xfrm>
        </p:spPr>
        <p:txBody>
          <a:bodyPr>
            <a:noAutofit/>
          </a:bodyPr>
          <a:lstStyle/>
          <a:p>
            <a:r>
              <a:rPr lang="en-US" sz="3200" dirty="0" smtClean="0"/>
              <a:t>Unit </a:t>
            </a:r>
            <a:r>
              <a:rPr lang="en-US" sz="3200" dirty="0"/>
              <a:t>V</a:t>
            </a:r>
            <a:r>
              <a:rPr lang="en-US" sz="3200" dirty="0" smtClean="0"/>
              <a:t> Timeline Poster Homework </a:t>
            </a:r>
            <a:r>
              <a:rPr lang="en-US" sz="2800" dirty="0" smtClean="0">
                <a:solidFill>
                  <a:srgbClr val="FF0000"/>
                </a:solidFill>
              </a:rPr>
              <a:t>(10pts)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" y="914400"/>
            <a:ext cx="4610100" cy="3420867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Your homework assignment is to find an event dating from </a:t>
            </a:r>
            <a:r>
              <a:rPr lang="en-US" dirty="0" smtClean="0">
                <a:solidFill>
                  <a:srgbClr val="FF0000"/>
                </a:solidFill>
              </a:rPr>
              <a:t>10,000BC-5000 BC 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sz="1600" dirty="0" smtClean="0">
                <a:solidFill>
                  <a:srgbClr val="FF0000"/>
                </a:solidFill>
              </a:rPr>
              <a:t>NON AMERICAN HISTORY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r>
              <a:rPr lang="en-US" dirty="0" smtClean="0"/>
              <a:t>NOT ON THE TIMELINE PROJECT and create a poster board event.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861560" y="982133"/>
            <a:ext cx="5113020" cy="5418667"/>
          </a:xfrm>
          <a:prstGeom prst="rect">
            <a:avLst/>
          </a:prstGeom>
        </p:spPr>
        <p:txBody>
          <a:bodyPr vert="horz" lIns="54864" tIns="91440" rtlCol="0">
            <a:normAutofit lnSpcReduction="10000"/>
          </a:bodyPr>
          <a:lstStyle>
            <a:lvl1pPr marL="438912" indent="-320040" algn="l" rtl="0" eaLnBrk="1" latinLnBrk="0" hangingPunct="1">
              <a:spcBef>
                <a:spcPts val="0"/>
              </a:spcBef>
              <a:buClr>
                <a:schemeClr val="accent1"/>
              </a:buClr>
              <a:buSzPct val="80000"/>
              <a:buFont typeface="Wingdings 2"/>
              <a:buChar char="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2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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▪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61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/>
              <a:buChar char="▪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3"/>
              <a:buChar char=""/>
              <a:defRPr kumimoji="0"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763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136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dirty="0" smtClean="0"/>
              <a:t>Your event should look similar to those on the wall already.</a:t>
            </a:r>
          </a:p>
          <a:p>
            <a:r>
              <a:rPr lang="en-US" dirty="0" smtClean="0"/>
              <a:t>Included must be;</a:t>
            </a:r>
          </a:p>
          <a:p>
            <a:pPr lvl="1"/>
            <a:r>
              <a:rPr lang="en-US" dirty="0" smtClean="0"/>
              <a:t>Date, name of event, picture.</a:t>
            </a:r>
          </a:p>
          <a:p>
            <a:pPr lvl="1"/>
            <a:r>
              <a:rPr lang="en-US" dirty="0" smtClean="0"/>
              <a:t>Sheet should be approximately ¼ sheet of paper.</a:t>
            </a:r>
          </a:p>
          <a:p>
            <a:pPr lvl="1"/>
            <a:r>
              <a:rPr lang="en-US" dirty="0" smtClean="0"/>
              <a:t>Some projects may be put onto the timeline wall.</a:t>
            </a:r>
          </a:p>
          <a:p>
            <a:pPr lvl="1"/>
            <a:r>
              <a:rPr lang="en-US" dirty="0" smtClean="0"/>
              <a:t>I encourage you to look for really cool interesting events.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90600" y="4344610"/>
            <a:ext cx="3352800" cy="2894390"/>
          </a:xfrm>
          <a:prstGeom prst="rect">
            <a:avLst/>
          </a:prstGeom>
          <a:solidFill>
            <a:schemeClr val="tx2">
              <a:lumMod val="60000"/>
              <a:lumOff val="40000"/>
              <a:alpha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19200" y="4343400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Name of Event</a:t>
            </a:r>
          </a:p>
          <a:p>
            <a:pPr algn="ctr"/>
            <a:r>
              <a:rPr lang="en-US" dirty="0" smtClean="0"/>
              <a:t>Date of Event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219200" y="4973988"/>
            <a:ext cx="2895600" cy="21888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752600" y="580286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Picture of Event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6200" y="5200471"/>
            <a:ext cx="83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¼ Sheet of Paper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386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800" b="1" u="sng">
                <a:solidFill>
                  <a:srgbClr val="FF0000"/>
                </a:solidFill>
              </a:rPr>
              <a:t>Warm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07180" y="623148"/>
            <a:ext cx="5867400" cy="5021314"/>
          </a:xfrm>
          <a:prstGeom prst="rect">
            <a:avLst/>
          </a:prstGeom>
          <a:noFill/>
        </p:spPr>
        <p:txBody>
          <a:bodyPr lIns="111191" tIns="55596" rIns="111191" bIns="5559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u="sng" dirty="0">
                <a:solidFill>
                  <a:srgbClr val="FF0000"/>
                </a:solidFill>
                <a:latin typeface="+mn-lt"/>
                <a:cs typeface="+mn-cs"/>
              </a:rPr>
              <a:t>Warm up Questions: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What do you think the circumference of the World is in Miles?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What was the most interest timeline event we have studied so far, why?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OCSR</a:t>
            </a:r>
            <a:r>
              <a:rPr lang="en-US" sz="2900" dirty="0">
                <a:latin typeface="+mn-lt"/>
                <a:cs typeface="+mn-cs"/>
              </a:rPr>
              <a:t>:  What event did you choose for your timeline homework?  Why?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Define:</a:t>
            </a:r>
            <a:r>
              <a:rPr lang="en-US" sz="2900" dirty="0">
                <a:latin typeface="+mn-lt"/>
                <a:cs typeface="+mn-cs"/>
              </a:rPr>
              <a:t> Astrolabe, Archaeology</a:t>
            </a:r>
          </a:p>
        </p:txBody>
      </p:sp>
      <p:pic>
        <p:nvPicPr>
          <p:cNvPr id="29700" name="Picture 2" descr="https://encrypted-tbn0.google.com/images?q=tbn:ANd9GcQkbapmcx9BLLv5QaP_3Iu192zL3qOVD3E9g2-s85YF0Og5M4OKh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" y="839894"/>
            <a:ext cx="2860358" cy="3698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elay 10"/>
          <p:cNvSpPr/>
          <p:nvPr/>
        </p:nvSpPr>
        <p:spPr>
          <a:xfrm>
            <a:off x="83820" y="731521"/>
            <a:ext cx="5364480" cy="4648765"/>
          </a:xfrm>
          <a:prstGeom prst="flowChartDelay">
            <a:avLst/>
          </a:prstGeom>
          <a:solidFill>
            <a:schemeClr val="tx1">
              <a:lumMod val="75000"/>
              <a:lumOff val="25000"/>
              <a:alpha val="1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6195" y="5380991"/>
            <a:ext cx="9786018" cy="943275"/>
          </a:xfrm>
          <a:prstGeom prst="rect">
            <a:avLst/>
          </a:prstGeom>
          <a:solidFill>
            <a:schemeClr val="bg2"/>
          </a:solidFill>
        </p:spPr>
        <p:txBody>
          <a:bodyPr wrap="none" lIns="111191" tIns="55596" rIns="111191" bIns="55596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Daily Question to know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67640" y="851183"/>
            <a:ext cx="4931410" cy="4648764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dirty="0" smtClean="0">
                <a:latin typeface="Bauhaus 93" pitchFamily="82" charset="0"/>
              </a:rPr>
              <a:t>Question: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 smtClean="0"/>
              <a:t>How are maps useful?  Name at least three different events you could use a map for.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 smtClean="0"/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/>
              <a:t>SS.8.A.1.6:  Compare interpretations of key events and issues throughout American History.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endParaRPr lang="en-US" dirty="0"/>
          </a:p>
        </p:txBody>
      </p:sp>
      <p:sp>
        <p:nvSpPr>
          <p:cNvPr id="10" name="Flowchart: Alternate Process 9"/>
          <p:cNvSpPr/>
          <p:nvPr/>
        </p:nvSpPr>
        <p:spPr>
          <a:xfrm>
            <a:off x="640875" y="5499947"/>
            <a:ext cx="8914606" cy="975360"/>
          </a:xfrm>
          <a:prstGeom prst="flowChartAlternateProcess">
            <a:avLst/>
          </a:prstGeom>
          <a:solidFill>
            <a:schemeClr val="tx1">
              <a:lumMod val="65000"/>
              <a:lumOff val="3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30726" name="Picture 8" descr="http://i153.photobucket.com/albums/s235/grv_2007/CaptureSmal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120" y="839893"/>
            <a:ext cx="4191000" cy="3747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800" b="1" u="sng">
                <a:solidFill>
                  <a:srgbClr val="FF0000"/>
                </a:solidFill>
              </a:rPr>
              <a:t>Warm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07180" y="623147"/>
            <a:ext cx="5867400" cy="4128762"/>
          </a:xfrm>
          <a:prstGeom prst="rect">
            <a:avLst/>
          </a:prstGeom>
          <a:noFill/>
        </p:spPr>
        <p:txBody>
          <a:bodyPr lIns="111191" tIns="55596" rIns="111191" bIns="5559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u="sng" dirty="0">
                <a:solidFill>
                  <a:srgbClr val="FF0000"/>
                </a:solidFill>
                <a:latin typeface="+mn-lt"/>
                <a:cs typeface="+mn-cs"/>
              </a:rPr>
              <a:t>Warm up Questions: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What is the KEY on a map?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Why is it important to know how to read a map, and not just follow a GPS?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OCSR</a:t>
            </a:r>
            <a:r>
              <a:rPr lang="en-US" sz="2900" dirty="0">
                <a:latin typeface="+mn-lt"/>
                <a:cs typeface="+mn-cs"/>
              </a:rPr>
              <a:t>:  Who is the current President, who is the current vice President?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Define:</a:t>
            </a:r>
            <a:r>
              <a:rPr lang="en-US" sz="2900" dirty="0">
                <a:latin typeface="+mn-lt"/>
                <a:cs typeface="+mn-cs"/>
              </a:rPr>
              <a:t> Caravel, Ice Age</a:t>
            </a:r>
          </a:p>
        </p:txBody>
      </p:sp>
      <p:pic>
        <p:nvPicPr>
          <p:cNvPr id="31748" name="Picture 2" descr="https://encrypted-tbn0.google.com/images?q=tbn:ANd9GcQkbapmcx9BLLv5QaP_3Iu192zL3qOVD3E9g2-s85YF0Og5M4OKh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" y="839894"/>
            <a:ext cx="2860358" cy="3698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elay 10"/>
          <p:cNvSpPr/>
          <p:nvPr/>
        </p:nvSpPr>
        <p:spPr>
          <a:xfrm>
            <a:off x="83820" y="731521"/>
            <a:ext cx="5364480" cy="4648765"/>
          </a:xfrm>
          <a:prstGeom prst="flowChartDelay">
            <a:avLst/>
          </a:prstGeom>
          <a:solidFill>
            <a:schemeClr val="tx1">
              <a:lumMod val="75000"/>
              <a:lumOff val="25000"/>
              <a:alpha val="1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6195" y="5380991"/>
            <a:ext cx="9786018" cy="943275"/>
          </a:xfrm>
          <a:prstGeom prst="rect">
            <a:avLst/>
          </a:prstGeom>
          <a:solidFill>
            <a:schemeClr val="bg2"/>
          </a:solidFill>
        </p:spPr>
        <p:txBody>
          <a:bodyPr wrap="none" lIns="111191" tIns="55596" rIns="111191" bIns="55596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Daily Question to know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67640" y="851183"/>
            <a:ext cx="4931410" cy="4648764"/>
          </a:xfrm>
        </p:spPr>
        <p:txBody>
          <a:bodyPr rtlCol="0">
            <a:normAutofit fontScale="925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dirty="0" smtClean="0">
                <a:latin typeface="Bauhaus 93" pitchFamily="82" charset="0"/>
              </a:rPr>
              <a:t>Question: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 smtClean="0"/>
              <a:t>What are the seven continents?  How </a:t>
            </a:r>
            <a:r>
              <a:rPr lang="en-US" smtClean="0"/>
              <a:t>many </a:t>
            </a:r>
            <a:r>
              <a:rPr lang="en-US" dirty="0" err="1" smtClean="0"/>
              <a:t>O</a:t>
            </a:r>
            <a:r>
              <a:rPr lang="en-US" smtClean="0"/>
              <a:t>lympic </a:t>
            </a:r>
            <a:r>
              <a:rPr lang="en-US" dirty="0" smtClean="0"/>
              <a:t>rings are there… what do these rings symbolize?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 smtClean="0"/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/>
              <a:t>SS.8.A.1.6:  Compare interpretations of key events and issues throughout American History.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endParaRPr lang="en-US" dirty="0"/>
          </a:p>
        </p:txBody>
      </p:sp>
      <p:sp>
        <p:nvSpPr>
          <p:cNvPr id="10" name="Flowchart: Alternate Process 9"/>
          <p:cNvSpPr/>
          <p:nvPr/>
        </p:nvSpPr>
        <p:spPr>
          <a:xfrm>
            <a:off x="640875" y="5499947"/>
            <a:ext cx="8914606" cy="975360"/>
          </a:xfrm>
          <a:prstGeom prst="flowChartAlternateProcess">
            <a:avLst/>
          </a:prstGeom>
          <a:solidFill>
            <a:schemeClr val="tx1">
              <a:lumMod val="65000"/>
              <a:lumOff val="3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32774" name="Picture 8" descr="http://i153.photobucket.com/albums/s235/grv_2007/CaptureSmal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120" y="839893"/>
            <a:ext cx="4191000" cy="3747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3"/>
          <p:cNvSpPr>
            <a:spLocks noGrp="1"/>
          </p:cNvSpPr>
          <p:nvPr>
            <p:ph sz="quarter" idx="2"/>
          </p:nvPr>
        </p:nvSpPr>
        <p:spPr>
          <a:xfrm>
            <a:off x="834708" y="1417884"/>
            <a:ext cx="2518093" cy="1047609"/>
          </a:xfrm>
        </p:spPr>
        <p:txBody>
          <a:bodyPr/>
          <a:lstStyle/>
          <a:p>
            <a:pPr eaLnBrk="1" hangingPunct="1"/>
            <a:r>
              <a:rPr lang="en-US" smtClean="0"/>
              <a:t>Handout Quiz</a:t>
            </a:r>
          </a:p>
        </p:txBody>
      </p:sp>
      <p:sp>
        <p:nvSpPr>
          <p:cNvPr id="16387" name="Title 5"/>
          <p:cNvSpPr>
            <a:spLocks noGrp="1"/>
          </p:cNvSpPr>
          <p:nvPr>
            <p:ph type="title"/>
          </p:nvPr>
        </p:nvSpPr>
        <p:spPr>
          <a:xfrm>
            <a:off x="838200" y="4876800"/>
            <a:ext cx="8298180" cy="1706880"/>
          </a:xfrm>
        </p:spPr>
        <p:txBody>
          <a:bodyPr/>
          <a:lstStyle/>
          <a:p>
            <a:pPr eaLnBrk="1" hangingPunct="1"/>
            <a:r>
              <a:rPr lang="en-US" sz="5800">
                <a:latin typeface="Kristen ITC" pitchFamily="66" charset="0"/>
              </a:rPr>
              <a:t>Units of Time and Measurement Quiz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825067"/>
            <a:ext cx="4442460" cy="1490133"/>
          </a:xfrm>
        </p:spPr>
        <p:txBody>
          <a:bodyPr/>
          <a:lstStyle/>
          <a:p>
            <a:pPr eaLnBrk="1" hangingPunct="1"/>
            <a:r>
              <a:rPr lang="en-US" sz="4400">
                <a:solidFill>
                  <a:srgbClr val="7030A0"/>
                </a:solidFill>
                <a:latin typeface="Kristen ITC" pitchFamily="66" charset="0"/>
              </a:rPr>
              <a:t>World Map Project </a:t>
            </a:r>
            <a:r>
              <a:rPr lang="en-US" sz="2900">
                <a:solidFill>
                  <a:srgbClr val="FF0000"/>
                </a:solidFill>
                <a:latin typeface="Kristen ITC" pitchFamily="66" charset="0"/>
              </a:rPr>
              <a:t>(40pts)</a:t>
            </a:r>
            <a:endParaRPr lang="en-US" sz="4400">
              <a:solidFill>
                <a:srgbClr val="FF0000"/>
              </a:solidFill>
              <a:latin typeface="Kristen ITC" pitchFamily="66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47448"/>
              </p:ext>
            </p:extLst>
          </p:nvPr>
        </p:nvGraphicFramePr>
        <p:xfrm>
          <a:off x="167640" y="76200"/>
          <a:ext cx="9639300" cy="5410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9825"/>
                <a:gridCol w="2409825"/>
                <a:gridCol w="2409825"/>
                <a:gridCol w="2409825"/>
              </a:tblGrid>
              <a:tr h="675159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Physical</a:t>
                      </a:r>
                      <a:r>
                        <a:rPr lang="en-US" sz="2000" baseline="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 Features</a:t>
                      </a:r>
                      <a:endParaRPr lang="en-US" sz="2000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marL="100584" marR="100584" marT="65024" marB="6502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rgbClr val="00B0F0"/>
                          </a:solidFill>
                        </a:rPr>
                        <a:t>Rivers/Water</a:t>
                      </a:r>
                      <a:endParaRPr lang="en-US" sz="2000" dirty="0">
                        <a:solidFill>
                          <a:srgbClr val="00B0F0"/>
                        </a:solidFill>
                      </a:endParaRPr>
                    </a:p>
                  </a:txBody>
                  <a:tcPr marL="100584" marR="100584" marT="65024" marB="65024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Countries/Places</a:t>
                      </a:r>
                      <a:endParaRPr lang="en-US" sz="2000" dirty="0"/>
                    </a:p>
                  </a:txBody>
                  <a:tcPr marL="100584" marR="100584" marT="65024" marB="65024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Countries/Places</a:t>
                      </a:r>
                      <a:endParaRPr lang="en-US" sz="2000" dirty="0"/>
                    </a:p>
                  </a:txBody>
                  <a:tcPr marL="100584" marR="100584" marT="65024" marB="65024"/>
                </a:tc>
              </a:tr>
              <a:tr h="473504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dirty="0" smtClean="0"/>
                        <a:t>Rocky Mountains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dirty="0" smtClean="0"/>
                        <a:t>Appalachian Mountains</a:t>
                      </a:r>
                      <a:endParaRPr lang="en-US" sz="2000" dirty="0" smtClean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dirty="0" smtClean="0"/>
                        <a:t>Himalayan Mountains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dirty="0" smtClean="0"/>
                        <a:t>Sierra Nevada Mountain Range</a:t>
                      </a:r>
                      <a:endParaRPr lang="en-US" sz="2000" dirty="0" smtClean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dirty="0" smtClean="0"/>
                        <a:t>Mt. Everest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dirty="0" smtClean="0"/>
                        <a:t>Mt. </a:t>
                      </a:r>
                      <a:r>
                        <a:rPr lang="en-US" sz="2000" dirty="0" smtClean="0"/>
                        <a:t>Kilimanjaro</a:t>
                      </a:r>
                      <a:endParaRPr lang="en-US" sz="2000" dirty="0" smtClean="0"/>
                    </a:p>
                  </a:txBody>
                  <a:tcPr marL="100584" marR="100584" marT="65024" marB="65024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11"/>
                      </a:pPr>
                      <a:r>
                        <a:rPr lang="en-US" sz="2000" dirty="0" smtClean="0"/>
                        <a:t>Nile River</a:t>
                      </a:r>
                    </a:p>
                    <a:p>
                      <a:pPr marL="342900" indent="-342900">
                        <a:buFont typeface="+mj-lt"/>
                        <a:buAutoNum type="arabicPeriod" startAt="11"/>
                      </a:pPr>
                      <a:r>
                        <a:rPr lang="en-US" sz="2000" dirty="0" smtClean="0"/>
                        <a:t>Mississippi</a:t>
                      </a:r>
                      <a:r>
                        <a:rPr lang="en-US" sz="2000" baseline="0" dirty="0" smtClean="0"/>
                        <a:t> River</a:t>
                      </a:r>
                    </a:p>
                    <a:p>
                      <a:pPr marL="342900" indent="-342900">
                        <a:buFont typeface="+mj-lt"/>
                        <a:buAutoNum type="arabicPeriod" startAt="11"/>
                      </a:pPr>
                      <a:r>
                        <a:rPr lang="en-US" sz="2000" baseline="0" dirty="0" smtClean="0"/>
                        <a:t>Amazon River</a:t>
                      </a:r>
                    </a:p>
                    <a:p>
                      <a:pPr marL="342900" indent="-342900">
                        <a:buFont typeface="+mj-lt"/>
                        <a:buAutoNum type="arabicPeriod" startAt="11"/>
                      </a:pPr>
                      <a:r>
                        <a:rPr lang="en-US" sz="2000" baseline="0" dirty="0" smtClean="0"/>
                        <a:t>Ganges River</a:t>
                      </a:r>
                    </a:p>
                    <a:p>
                      <a:pPr marL="342900" indent="-342900">
                        <a:buFont typeface="+mj-lt"/>
                        <a:buAutoNum type="arabicPeriod" startAt="11"/>
                      </a:pPr>
                      <a:r>
                        <a:rPr lang="en-US" sz="2000" baseline="0" dirty="0" smtClean="0"/>
                        <a:t>Yellow River</a:t>
                      </a:r>
                    </a:p>
                    <a:p>
                      <a:pPr marL="342900" indent="-342900">
                        <a:buFont typeface="+mj-lt"/>
                        <a:buAutoNum type="arabicPeriod" startAt="11"/>
                      </a:pPr>
                      <a:r>
                        <a:rPr lang="en-US" sz="2000" baseline="0" dirty="0" smtClean="0"/>
                        <a:t>Congo River</a:t>
                      </a:r>
                    </a:p>
                    <a:p>
                      <a:pPr marL="342900" indent="-342900">
                        <a:buFont typeface="+mj-lt"/>
                        <a:buAutoNum type="arabicPeriod" startAt="11"/>
                      </a:pPr>
                      <a:r>
                        <a:rPr lang="en-US" sz="2000" baseline="0" dirty="0" smtClean="0"/>
                        <a:t>Volga River</a:t>
                      </a:r>
                      <a:endParaRPr lang="en-US" sz="2000" dirty="0"/>
                    </a:p>
                  </a:txBody>
                  <a:tcPr marL="100584" marR="100584" marT="65024" marB="65024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18"/>
                      </a:pPr>
                      <a:r>
                        <a:rPr lang="en-US" sz="2000" dirty="0" smtClean="0"/>
                        <a:t>Greenland</a:t>
                      </a:r>
                    </a:p>
                    <a:p>
                      <a:pPr marL="342900" indent="-342900">
                        <a:buFont typeface="+mj-lt"/>
                        <a:buAutoNum type="arabicPeriod" startAt="18"/>
                      </a:pPr>
                      <a:r>
                        <a:rPr lang="en-US" sz="2000" dirty="0" smtClean="0"/>
                        <a:t>Sweden</a:t>
                      </a:r>
                    </a:p>
                    <a:p>
                      <a:pPr marL="342900" indent="-342900">
                        <a:buFont typeface="+mj-lt"/>
                        <a:buAutoNum type="arabicPeriod" startAt="18"/>
                      </a:pPr>
                      <a:r>
                        <a:rPr lang="en-US" sz="2000" dirty="0" smtClean="0"/>
                        <a:t>France</a:t>
                      </a:r>
                    </a:p>
                    <a:p>
                      <a:pPr marL="342900" indent="-342900">
                        <a:buFont typeface="+mj-lt"/>
                        <a:buAutoNum type="arabicPeriod" startAt="18"/>
                      </a:pPr>
                      <a:r>
                        <a:rPr lang="en-US" sz="2000" dirty="0" smtClean="0"/>
                        <a:t>Morocco</a:t>
                      </a:r>
                    </a:p>
                    <a:p>
                      <a:pPr marL="342900" indent="-342900">
                        <a:buFont typeface="+mj-lt"/>
                        <a:buAutoNum type="arabicPeriod" startAt="18"/>
                      </a:pPr>
                      <a:r>
                        <a:rPr lang="en-US" sz="2000" dirty="0" smtClean="0"/>
                        <a:t>Botswana</a:t>
                      </a:r>
                    </a:p>
                    <a:p>
                      <a:pPr marL="342900" indent="-342900">
                        <a:buFont typeface="+mj-lt"/>
                        <a:buAutoNum type="arabicPeriod" startAt="18"/>
                      </a:pPr>
                      <a:r>
                        <a:rPr lang="en-US" sz="2000" dirty="0" smtClean="0"/>
                        <a:t>Sudan</a:t>
                      </a:r>
                    </a:p>
                    <a:p>
                      <a:pPr marL="342900" indent="-342900">
                        <a:buFont typeface="+mj-lt"/>
                        <a:buAutoNum type="arabicPeriod" startAt="18"/>
                      </a:pPr>
                      <a:r>
                        <a:rPr lang="en-US" sz="2000" dirty="0" smtClean="0"/>
                        <a:t>China</a:t>
                      </a:r>
                    </a:p>
                    <a:p>
                      <a:pPr marL="342900" indent="-342900">
                        <a:buFont typeface="+mj-lt"/>
                        <a:buAutoNum type="arabicPeriod" startAt="18"/>
                      </a:pPr>
                      <a:r>
                        <a:rPr lang="en-US" sz="2000" dirty="0" smtClean="0"/>
                        <a:t>Japan</a:t>
                      </a:r>
                    </a:p>
                    <a:p>
                      <a:pPr marL="342900" indent="-342900">
                        <a:buFont typeface="+mj-lt"/>
                        <a:buAutoNum type="arabicPeriod" startAt="18"/>
                      </a:pPr>
                      <a:r>
                        <a:rPr lang="en-US" sz="2000" dirty="0" smtClean="0"/>
                        <a:t>Mexico</a:t>
                      </a:r>
                    </a:p>
                    <a:p>
                      <a:pPr marL="342900" indent="-342900">
                        <a:buFont typeface="+mj-lt"/>
                        <a:buAutoNum type="arabicPeriod" startAt="18"/>
                      </a:pPr>
                      <a:r>
                        <a:rPr lang="en-US" sz="2000" dirty="0" smtClean="0"/>
                        <a:t>Greece</a:t>
                      </a:r>
                    </a:p>
                    <a:p>
                      <a:pPr marL="342900" indent="-342900">
                        <a:buFont typeface="+mj-lt"/>
                        <a:buAutoNum type="arabicPeriod" startAt="18"/>
                      </a:pPr>
                      <a:endParaRPr lang="en-US" sz="2000" dirty="0" smtClean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2000" b="1" u="sng" dirty="0" smtClean="0"/>
                        <a:t>*** Labe</a:t>
                      </a:r>
                      <a:r>
                        <a:rPr lang="en-US" sz="2000" b="1" u="sng" baseline="0" dirty="0" smtClean="0"/>
                        <a:t>l the SEVEN CONTINENTS***</a:t>
                      </a:r>
                      <a:endParaRPr lang="en-US" sz="2000" b="1" u="sng" dirty="0"/>
                    </a:p>
                  </a:txBody>
                  <a:tcPr marL="100584" marR="100584" marT="65024" marB="65024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28"/>
                      </a:pPr>
                      <a:r>
                        <a:rPr lang="en-US" sz="2000" dirty="0" smtClean="0"/>
                        <a:t>Italy</a:t>
                      </a:r>
                    </a:p>
                    <a:p>
                      <a:pPr marL="342900" indent="-342900">
                        <a:buFont typeface="+mj-lt"/>
                        <a:buAutoNum type="arabicPeriod" startAt="28"/>
                      </a:pPr>
                      <a:r>
                        <a:rPr lang="en-US" sz="2000" dirty="0" smtClean="0"/>
                        <a:t>Egypt</a:t>
                      </a:r>
                    </a:p>
                    <a:p>
                      <a:pPr marL="342900" indent="-342900">
                        <a:buFont typeface="+mj-lt"/>
                        <a:buAutoNum type="arabicPeriod" startAt="28"/>
                      </a:pPr>
                      <a:r>
                        <a:rPr lang="en-US" sz="2000" dirty="0" smtClean="0"/>
                        <a:t>Vietnam</a:t>
                      </a:r>
                    </a:p>
                    <a:p>
                      <a:pPr marL="342900" indent="-342900">
                        <a:buFont typeface="+mj-lt"/>
                        <a:buAutoNum type="arabicPeriod" startAt="28"/>
                      </a:pPr>
                      <a:r>
                        <a:rPr lang="en-US" sz="2000" dirty="0" smtClean="0"/>
                        <a:t>Iraq</a:t>
                      </a:r>
                    </a:p>
                    <a:p>
                      <a:pPr marL="342900" indent="-342900">
                        <a:buFont typeface="+mj-lt"/>
                        <a:buAutoNum type="arabicPeriod" startAt="28"/>
                      </a:pPr>
                      <a:r>
                        <a:rPr lang="en-US" sz="2000" dirty="0" smtClean="0"/>
                        <a:t>India</a:t>
                      </a:r>
                    </a:p>
                    <a:p>
                      <a:pPr marL="342900" indent="-342900">
                        <a:buFont typeface="+mj-lt"/>
                        <a:buAutoNum type="arabicPeriod" startAt="28"/>
                      </a:pPr>
                      <a:r>
                        <a:rPr lang="en-US" sz="2000" dirty="0" smtClean="0"/>
                        <a:t>Venezuela</a:t>
                      </a:r>
                    </a:p>
                    <a:p>
                      <a:pPr marL="342900" indent="-342900">
                        <a:buFont typeface="+mj-lt"/>
                        <a:buAutoNum type="arabicPeriod" startAt="28"/>
                      </a:pPr>
                      <a:r>
                        <a:rPr lang="en-US" sz="2000" dirty="0" smtClean="0"/>
                        <a:t>Canada</a:t>
                      </a:r>
                    </a:p>
                    <a:p>
                      <a:pPr marL="342900" indent="-342900">
                        <a:buFont typeface="+mj-lt"/>
                        <a:buAutoNum type="arabicPeriod" startAt="28"/>
                      </a:pPr>
                      <a:r>
                        <a:rPr lang="en-US" sz="2000" dirty="0" smtClean="0"/>
                        <a:t>U.S.A.</a:t>
                      </a:r>
                    </a:p>
                    <a:p>
                      <a:pPr marL="342900" indent="-342900">
                        <a:buFont typeface="+mj-lt"/>
                        <a:buAutoNum type="arabicPeriod" startAt="28"/>
                      </a:pPr>
                      <a:r>
                        <a:rPr lang="en-US" sz="2000" dirty="0" smtClean="0"/>
                        <a:t>Brazil</a:t>
                      </a:r>
                    </a:p>
                    <a:p>
                      <a:pPr marL="342900" indent="-342900">
                        <a:buFont typeface="+mj-lt"/>
                        <a:buAutoNum type="arabicPeriod" startAt="28"/>
                      </a:pPr>
                      <a:r>
                        <a:rPr lang="en-US" sz="2000" dirty="0" smtClean="0"/>
                        <a:t>Spain</a:t>
                      </a:r>
                      <a:endParaRPr lang="en-US" sz="2000" dirty="0"/>
                    </a:p>
                  </a:txBody>
                  <a:tcPr marL="100584" marR="100584" marT="65024" marB="65024"/>
                </a:tc>
              </a:tr>
            </a:tbl>
          </a:graphicData>
        </a:graphic>
      </p:graphicFrame>
      <p:sp>
        <p:nvSpPr>
          <p:cNvPr id="33812" name="TextBox 7"/>
          <p:cNvSpPr txBox="1">
            <a:spLocks noChangeArrowheads="1"/>
          </p:cNvSpPr>
          <p:nvPr/>
        </p:nvSpPr>
        <p:spPr bwMode="auto">
          <a:xfrm>
            <a:off x="3459480" y="6018727"/>
            <a:ext cx="6370320" cy="1220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1191" tIns="55596" rIns="111191" bIns="5559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eaLnBrk="1" hangingPunct="1"/>
            <a:r>
              <a:rPr lang="en-US" dirty="0"/>
              <a:t>Label on a map ALL of the requested items.  Label them with their correct number.  For the Countries/Places outline or color them all a separate color and create a KEY that makes them easily identifiable.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34819" name="Content Placeholder 2"/>
          <p:cNvSpPr>
            <a:spLocks noGrp="1"/>
          </p:cNvSpPr>
          <p:nvPr>
            <p:ph sz="half" idx="1"/>
          </p:nvPr>
        </p:nvSpPr>
        <p:spPr>
          <a:xfrm>
            <a:off x="838200" y="650240"/>
            <a:ext cx="4023360" cy="4018844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34820" name="Content Placeholder 3"/>
          <p:cNvSpPr>
            <a:spLocks noGrp="1"/>
          </p:cNvSpPr>
          <p:nvPr>
            <p:ph sz="half" idx="2"/>
          </p:nvPr>
        </p:nvSpPr>
        <p:spPr>
          <a:xfrm>
            <a:off x="5113020" y="650240"/>
            <a:ext cx="4023360" cy="4018844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34821" name="Picture 4" descr="http://parkstad.com/pages/world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1584"/>
            <a:ext cx="10058400" cy="6667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800" b="1" u="sng">
                <a:solidFill>
                  <a:srgbClr val="FF0000"/>
                </a:solidFill>
              </a:rPr>
              <a:t>Warm up: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14774"/>
            <a:ext cx="5615940" cy="4821259"/>
          </a:xfrm>
          <a:prstGeom prst="rect">
            <a:avLst/>
          </a:prstGeom>
          <a:noFill/>
        </p:spPr>
        <p:txBody>
          <a:bodyPr lIns="111191" tIns="55596" rIns="111191" bIns="5559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400" b="1" u="sng" dirty="0">
                <a:solidFill>
                  <a:srgbClr val="FF0000"/>
                </a:solidFill>
                <a:latin typeface="+mn-lt"/>
                <a:cs typeface="+mn-cs"/>
              </a:rPr>
              <a:t>Warm up Activity: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3400" dirty="0">
                <a:latin typeface="+mn-lt"/>
                <a:cs typeface="+mn-cs"/>
              </a:rPr>
              <a:t>What was unique about the Aztec Capital Tenochtitlan?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3400" dirty="0">
                <a:latin typeface="+mn-lt"/>
                <a:cs typeface="+mn-cs"/>
              </a:rPr>
              <a:t>What is Christopher Columbus known for?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3400" dirty="0">
                <a:latin typeface="+mn-lt"/>
                <a:cs typeface="+mn-cs"/>
              </a:rPr>
              <a:t>OCSR:  </a:t>
            </a:r>
            <a:r>
              <a:rPr lang="en-US" sz="3400" dirty="0" smtClean="0">
                <a:latin typeface="+mn-lt"/>
                <a:cs typeface="+mn-cs"/>
              </a:rPr>
              <a:t>Explain the importance of timelines.</a:t>
            </a:r>
            <a:endParaRPr lang="en-US" sz="3400" dirty="0">
              <a:latin typeface="+mn-lt"/>
              <a:cs typeface="+mn-cs"/>
            </a:endParaRP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3400" b="1" dirty="0">
                <a:latin typeface="+mn-lt"/>
                <a:cs typeface="+mn-cs"/>
              </a:rPr>
              <a:t>Define:  Civilization, Ice Age.</a:t>
            </a:r>
          </a:p>
        </p:txBody>
      </p:sp>
      <p:pic>
        <p:nvPicPr>
          <p:cNvPr id="35844" name="Picture 2" descr="http://www.d.umn.edu/cla/faculty/troufs/anth3618/images/Tenochtitlan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8942" y="1490134"/>
            <a:ext cx="4348163" cy="3664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elay 10"/>
          <p:cNvSpPr/>
          <p:nvPr/>
        </p:nvSpPr>
        <p:spPr>
          <a:xfrm>
            <a:off x="83820" y="731521"/>
            <a:ext cx="5783580" cy="4648765"/>
          </a:xfrm>
          <a:prstGeom prst="flowChartDelay">
            <a:avLst/>
          </a:prstGeom>
          <a:solidFill>
            <a:schemeClr val="tx1">
              <a:lumMod val="75000"/>
              <a:lumOff val="25000"/>
              <a:alpha val="1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6195" y="5380991"/>
            <a:ext cx="9786018" cy="943275"/>
          </a:xfrm>
          <a:prstGeom prst="rect">
            <a:avLst/>
          </a:prstGeom>
          <a:solidFill>
            <a:schemeClr val="bg2"/>
          </a:solidFill>
        </p:spPr>
        <p:txBody>
          <a:bodyPr wrap="none" lIns="111191" tIns="55596" rIns="111191" bIns="55596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Daily Question to know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67640" y="851183"/>
            <a:ext cx="4931410" cy="4648764"/>
          </a:xfrm>
        </p:spPr>
        <p:txBody>
          <a:bodyPr rtlCol="0">
            <a:normAutofit lnSpcReduction="100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dirty="0" smtClean="0">
                <a:latin typeface="Bauhaus 93" pitchFamily="82" charset="0"/>
              </a:rPr>
              <a:t>Question: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 smtClean="0"/>
              <a:t>What were some of the major advancements that allowed people to live in permanent settlements?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 smtClean="0"/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/>
              <a:t>SS.8.A.1.6:  Compare interpretations of key events and issues throughout American History.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endParaRPr lang="en-US" dirty="0"/>
          </a:p>
        </p:txBody>
      </p:sp>
      <p:sp>
        <p:nvSpPr>
          <p:cNvPr id="10" name="Flowchart: Alternate Process 9"/>
          <p:cNvSpPr/>
          <p:nvPr/>
        </p:nvSpPr>
        <p:spPr>
          <a:xfrm>
            <a:off x="640875" y="5499947"/>
            <a:ext cx="8914606" cy="975360"/>
          </a:xfrm>
          <a:prstGeom prst="flowChartAlternateProcess">
            <a:avLst/>
          </a:prstGeom>
          <a:solidFill>
            <a:schemeClr val="tx1">
              <a:lumMod val="65000"/>
              <a:lumOff val="3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36870" name="Picture 8" descr="http://mcclungmuseum.utk.edu/permanent/native/images/woodlan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623148"/>
            <a:ext cx="2600167" cy="461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502920" y="-243840"/>
            <a:ext cx="3855720" cy="1239521"/>
          </a:xfrm>
        </p:spPr>
        <p:txBody>
          <a:bodyPr/>
          <a:lstStyle/>
          <a:p>
            <a:pPr eaLnBrk="1" hangingPunct="1"/>
            <a:r>
              <a:rPr lang="en-US" sz="2900">
                <a:latin typeface="Kristen ITC" pitchFamily="66" charset="0"/>
              </a:rPr>
              <a:t>Early Peoples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75360"/>
            <a:ext cx="4861560" cy="5577840"/>
          </a:xfrm>
        </p:spPr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sz="2900" dirty="0"/>
              <a:t>The Journey from Asia.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sz="2400" dirty="0"/>
              <a:t>The first Americans arrived THOUSANDS of years ago.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sz="2400" dirty="0"/>
              <a:t>By 1500ad millions of Native Americans lived on North and South America.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sz="2400" dirty="0"/>
              <a:t>It is suspected that the early people crossed a </a:t>
            </a:r>
            <a:r>
              <a:rPr lang="en-US" sz="2400" b="1" dirty="0">
                <a:solidFill>
                  <a:srgbClr val="FF0000"/>
                </a:solidFill>
              </a:rPr>
              <a:t>land bridge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between Siberia and Alaska.</a:t>
            </a:r>
          </a:p>
          <a:p>
            <a:pPr lvl="2" eaLnBrk="1" hangingPunct="1">
              <a:buFont typeface="Arial" charset="0"/>
              <a:buChar char="•"/>
            </a:pPr>
            <a:r>
              <a:rPr lang="en-US" sz="2200" dirty="0"/>
              <a:t>They did this to find food during an Ice Age.</a:t>
            </a:r>
          </a:p>
        </p:txBody>
      </p:sp>
      <p:pic>
        <p:nvPicPr>
          <p:cNvPr id="39938" name="Picture 2" descr="http://www.flyingsquirrels.com/Graphics/bering_land_bridge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560" y="162561"/>
            <a:ext cx="4861560" cy="3969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4" descr="http://t2.gstatic.com/images?q=tbn:ANd9GcQqdi4ENzKfbQWnIC29L37RdEOjgISLrjN41y62gw0rDKo_nd4&amp;t=1&amp;usg=__oQmg2H-Q7y2eWyHabBhPEP9Q2zs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940" y="4389121"/>
            <a:ext cx="3688080" cy="2677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5029200" cy="939800"/>
          </a:xfrm>
        </p:spPr>
        <p:txBody>
          <a:bodyPr/>
          <a:lstStyle/>
          <a:p>
            <a:pPr eaLnBrk="1" hangingPunct="1"/>
            <a:r>
              <a:rPr lang="en-US" sz="4400" dirty="0">
                <a:latin typeface="Kristen ITC" pitchFamily="66" charset="0"/>
              </a:rPr>
              <a:t>Early Americans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5280660" cy="5181600"/>
          </a:xfrm>
        </p:spPr>
        <p:txBody>
          <a:bodyPr rtlCol="0">
            <a:normAutofit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Early Americans were </a:t>
            </a:r>
            <a:r>
              <a:rPr lang="en-US" b="1" dirty="0" smtClean="0">
                <a:solidFill>
                  <a:srgbClr val="7030A0"/>
                </a:solidFill>
              </a:rPr>
              <a:t>Nomads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i="1" dirty="0" smtClean="0"/>
              <a:t>people who moved place to place).</a:t>
            </a:r>
          </a:p>
          <a:p>
            <a:pPr marL="722742" lvl="1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They were also hunter-gatherer societies.</a:t>
            </a:r>
          </a:p>
          <a:p>
            <a:pPr marL="722742" lvl="1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They hunted things such as the Wooly Mammoths.</a:t>
            </a:r>
          </a:p>
          <a:p>
            <a:pPr marL="722742" lvl="1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They </a:t>
            </a:r>
            <a:r>
              <a:rPr lang="en-US" b="1" dirty="0" smtClean="0"/>
              <a:t>used spears </a:t>
            </a:r>
            <a:r>
              <a:rPr lang="en-US" dirty="0" smtClean="0"/>
              <a:t>to kill bison, mastodons, and mammoths.  They used the spears as throwing weapons.</a:t>
            </a:r>
            <a:endParaRPr lang="en-US" dirty="0"/>
          </a:p>
        </p:txBody>
      </p:sp>
      <p:pic>
        <p:nvPicPr>
          <p:cNvPr id="2" name="Picture 2" descr="http://t1.gstatic.com/images?q=tbn:ANd9GcRXEN_hn8g1H2TmZvoL_Ymry4qsXby3oz76A490ZdEZWob8x2A&amp;t=1&amp;usg=__wv_IkhH4Gi2JbQF36aFA1xGSXtM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0660" y="243840"/>
            <a:ext cx="4369118" cy="3332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7" name="Picture 4" descr="http://t0.gstatic.com/images?q=tbn:ANd9GcTAVUWvFF0bp9KDbpjtOBHfNxSHFtaeBmQBATsy3d46Vv6-kgw&amp;t=1&amp;usg=__6i7QCQnxtgZNfHoc7xtQ8F06Ado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00" y="4145281"/>
            <a:ext cx="4159568" cy="2795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4777740" y="-27093"/>
            <a:ext cx="4777740" cy="1219200"/>
          </a:xfrm>
        </p:spPr>
        <p:txBody>
          <a:bodyPr/>
          <a:lstStyle/>
          <a:p>
            <a:pPr eaLnBrk="1" hangingPunct="1"/>
            <a:r>
              <a:rPr lang="en-US" sz="4400">
                <a:latin typeface="Kristen ITC" pitchFamily="66" charset="0"/>
              </a:rPr>
              <a:t>Early Americans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0" y="812800"/>
            <a:ext cx="5867400" cy="6014720"/>
          </a:xfrm>
        </p:spPr>
        <p:txBody>
          <a:bodyPr rtlCol="0">
            <a:normAutofit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As the large animals disappeared they had to find new sources for food.</a:t>
            </a:r>
          </a:p>
          <a:p>
            <a:pPr marL="722742" lvl="1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Deer, birds, rodents, fish, and smaller game.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 BIG discovery however was in Mexico where they discovered how to plant and grow </a:t>
            </a:r>
            <a:r>
              <a:rPr lang="en-US" b="1" dirty="0" smtClean="0">
                <a:solidFill>
                  <a:srgbClr val="FF0000"/>
                </a:solidFill>
              </a:rPr>
              <a:t>Maize </a:t>
            </a:r>
            <a:r>
              <a:rPr lang="en-US" dirty="0" smtClean="0">
                <a:solidFill>
                  <a:srgbClr val="FF0000"/>
                </a:solidFill>
              </a:rPr>
              <a:t>(corn).</a:t>
            </a:r>
          </a:p>
          <a:p>
            <a:pPr marL="722742" lvl="1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They also grew pumpkins, beans, squash.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With the </a:t>
            </a:r>
            <a:r>
              <a:rPr lang="en-US" b="1" dirty="0" smtClean="0">
                <a:solidFill>
                  <a:srgbClr val="FF0000"/>
                </a:solidFill>
              </a:rPr>
              <a:t>surplus</a:t>
            </a:r>
            <a:r>
              <a:rPr lang="en-US" dirty="0" smtClean="0"/>
              <a:t> of food, the population began to increase.</a:t>
            </a:r>
            <a:endParaRPr lang="en-US" dirty="0"/>
          </a:p>
        </p:txBody>
      </p:sp>
      <p:pic>
        <p:nvPicPr>
          <p:cNvPr id="39940" name="Picture 2" descr="http://t1.gstatic.com/images?q=tbn:ANd9GcRCnKzUuFkkvaVmH40Ltol1SMDqTNwXa0uKlz0jBGPkY7rKF7k&amp;t=1&amp;usg=__UWkI6yBTR-TdjMj5yjsQPtkhVRw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1" y="568960"/>
            <a:ext cx="3693319" cy="2682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4" descr="http://t3.gstatic.com/images?q=tbn:F0bfkGmk7cRNtM: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1" y="3495040"/>
            <a:ext cx="3127534" cy="3007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0" y="81280"/>
            <a:ext cx="5364480" cy="1219200"/>
          </a:xfrm>
        </p:spPr>
        <p:txBody>
          <a:bodyPr/>
          <a:lstStyle/>
          <a:p>
            <a:pPr eaLnBrk="1" hangingPunct="1"/>
            <a:r>
              <a:rPr lang="en-US" sz="3600" dirty="0">
                <a:latin typeface="Kristen ITC" pitchFamily="66" charset="0"/>
              </a:rPr>
              <a:t>Permanent Settlement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65013"/>
            <a:ext cx="5113020" cy="5608320"/>
          </a:xfrm>
        </p:spPr>
        <p:txBody>
          <a:bodyPr/>
          <a:lstStyle/>
          <a:p>
            <a:pPr eaLnBrk="1" hangingPunct="1"/>
            <a:r>
              <a:rPr lang="en-US" smtClean="0"/>
              <a:t>Since these people knew they would have food from their </a:t>
            </a:r>
            <a:r>
              <a:rPr lang="en-US" b="1" smtClean="0">
                <a:solidFill>
                  <a:srgbClr val="FF0000"/>
                </a:solidFill>
              </a:rPr>
              <a:t>harvest</a:t>
            </a:r>
            <a:r>
              <a:rPr lang="en-US" smtClean="0"/>
              <a:t> they began to create permanent houses, and to expand their culture.</a:t>
            </a:r>
          </a:p>
          <a:p>
            <a:pPr lvl="1" eaLnBrk="1" hangingPunct="1"/>
            <a:r>
              <a:rPr lang="en-US" smtClean="0"/>
              <a:t>These houses were made of clay, brick, wood, stone.</a:t>
            </a:r>
          </a:p>
          <a:p>
            <a:pPr eaLnBrk="1" hangingPunct="1"/>
            <a:r>
              <a:rPr lang="en-US" smtClean="0"/>
              <a:t>Agriculture changed the </a:t>
            </a:r>
            <a:r>
              <a:rPr lang="en-US" b="1" smtClean="0">
                <a:solidFill>
                  <a:srgbClr val="FF0000"/>
                </a:solidFill>
              </a:rPr>
              <a:t>culture</a:t>
            </a:r>
            <a:r>
              <a:rPr lang="en-US" smtClean="0"/>
              <a:t> by allowing these people to have more free time.</a:t>
            </a:r>
          </a:p>
        </p:txBody>
      </p:sp>
      <p:pic>
        <p:nvPicPr>
          <p:cNvPr id="40964" name="Picture 2" descr="http://t2.gstatic.com/images?q=tbn:ANd9GcSEUxW2eKj4ijV3axkr8QXcykxVxgJQyrXQvsb4YrffXDZD0MI&amp;t=1&amp;usg=__K96GrfJ1DGF8T2z29HuGV_5u2d4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480" y="243841"/>
            <a:ext cx="4442460" cy="2867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4" descr="http://t0.gstatic.com/images?q=tbn:ANd9GcTtvL7-bQq4M21Ee4cHs1yZ24MY8dGKN0vNLVrI96xDaZ6kgsY&amp;t=1&amp;usg=__IEDTQIrhHVywXaxYvm3ia4J_nFs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940" y="3657600"/>
            <a:ext cx="4117658" cy="2926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Early American Civilizations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>
          <a:xfrm>
            <a:off x="838200" y="-325120"/>
            <a:ext cx="8298180" cy="4145280"/>
          </a:xfrm>
        </p:spPr>
        <p:txBody>
          <a:bodyPr/>
          <a:lstStyle/>
          <a:p>
            <a:pPr eaLnBrk="1" hangingPunct="1"/>
            <a:r>
              <a:rPr lang="en-US" smtClean="0"/>
              <a:t>Thee major civilizations existed in the Americas, they were the Mayas, the Aztecs, and the Incas.</a:t>
            </a:r>
          </a:p>
        </p:txBody>
      </p:sp>
      <p:pic>
        <p:nvPicPr>
          <p:cNvPr id="41988" name="Picture 2" descr="http://t0.gstatic.com/images?q=tbn:ANd9GcRv4vQ4-PcO7hOvRXdzRaeKTjnYBsG0Masosz6vsuVghqmT_jA&amp;t=1&amp;usg=__l_wCCN2I14bvMxokCM0MtYJjL6E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1" y="3495040"/>
            <a:ext cx="4252119" cy="308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9" name="Picture 4" descr="http://t1.gstatic.com/images?q=tbn:ANd9GcRJzZUF8VQP_fDkI8WXwGA77Lu-mSxFzij2yuWWeHzb-SV2RTE&amp;t=1&amp;usg=__qEczY72NISjeM7N8K0zNYTy2Ujw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8081" y="3169920"/>
            <a:ext cx="2680494" cy="373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0" name="Picture 6" descr="http://t2.gstatic.com/images?q=tbn:ANd9GcQHXZUQNHoXPlvgItQ6IbrHY2NiecVIPFAxUgx1bhJp9PJKvVs&amp;t=1&amp;usg=__71JYBQwAS6LXxsmuG0cFonow3Ow=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780" y="3169921"/>
            <a:ext cx="2849880" cy="3689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800" b="1" u="sng">
                <a:solidFill>
                  <a:srgbClr val="FF0000"/>
                </a:solidFill>
              </a:rPr>
              <a:t>Warm Up: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8028"/>
            <a:ext cx="5532120" cy="5190591"/>
          </a:xfrm>
          <a:prstGeom prst="rect">
            <a:avLst/>
          </a:prstGeom>
          <a:noFill/>
        </p:spPr>
        <p:txBody>
          <a:bodyPr lIns="111191" tIns="55596" rIns="111191" bIns="5559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000" b="1" u="sng" dirty="0">
                <a:solidFill>
                  <a:srgbClr val="FF0000"/>
                </a:solidFill>
                <a:latin typeface="+mn-lt"/>
                <a:cs typeface="+mn-cs"/>
              </a:rPr>
              <a:t>Warm up Activity: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3000" dirty="0">
                <a:latin typeface="+mn-lt"/>
                <a:cs typeface="+mn-cs"/>
              </a:rPr>
              <a:t>How did the first people arrive in the Americas?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3000" dirty="0">
                <a:latin typeface="+mn-lt"/>
                <a:cs typeface="+mn-cs"/>
              </a:rPr>
              <a:t>Describe how a surplus of food </a:t>
            </a:r>
            <a:r>
              <a:rPr lang="en-US" sz="3000" dirty="0" smtClean="0">
                <a:latin typeface="+mn-lt"/>
                <a:cs typeface="+mn-cs"/>
              </a:rPr>
              <a:t>allows </a:t>
            </a:r>
            <a:r>
              <a:rPr lang="en-US" sz="3000" dirty="0">
                <a:latin typeface="+mn-lt"/>
                <a:cs typeface="+mn-cs"/>
              </a:rPr>
              <a:t>a culture to develop and thrive?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3000" b="1" dirty="0">
                <a:latin typeface="+mn-lt"/>
                <a:cs typeface="+mn-cs"/>
              </a:rPr>
              <a:t>OCSR:</a:t>
            </a:r>
            <a:r>
              <a:rPr lang="en-US" sz="3000" dirty="0">
                <a:latin typeface="+mn-lt"/>
                <a:cs typeface="+mn-cs"/>
              </a:rPr>
              <a:t>  Who is legally allowed to vote in America?  What </a:t>
            </a:r>
            <a:r>
              <a:rPr lang="en-US" sz="3000" dirty="0" smtClean="0">
                <a:latin typeface="+mn-lt"/>
                <a:cs typeface="+mn-cs"/>
              </a:rPr>
              <a:t>is an </a:t>
            </a:r>
            <a:r>
              <a:rPr lang="en-US" sz="3000" dirty="0" smtClean="0">
                <a:latin typeface="+mn-lt"/>
                <a:cs typeface="+mn-cs"/>
              </a:rPr>
              <a:t>exception </a:t>
            </a:r>
            <a:r>
              <a:rPr lang="en-US" sz="3000" dirty="0">
                <a:latin typeface="+mn-lt"/>
                <a:cs typeface="+mn-cs"/>
              </a:rPr>
              <a:t>to </a:t>
            </a:r>
            <a:r>
              <a:rPr lang="en-US" sz="3000" dirty="0" smtClean="0">
                <a:latin typeface="+mn-lt"/>
                <a:cs typeface="+mn-cs"/>
              </a:rPr>
              <a:t>this rule</a:t>
            </a:r>
            <a:r>
              <a:rPr lang="en-US" sz="3000" dirty="0">
                <a:latin typeface="+mn-lt"/>
                <a:cs typeface="+mn-cs"/>
              </a:rPr>
              <a:t>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3000" b="1" dirty="0">
                <a:latin typeface="+mn-lt"/>
                <a:cs typeface="+mn-cs"/>
              </a:rPr>
              <a:t>Define:  Adobe, Culture</a:t>
            </a:r>
          </a:p>
        </p:txBody>
      </p:sp>
      <p:pic>
        <p:nvPicPr>
          <p:cNvPr id="43012" name="Picture 2" descr="http://www.botany.hawaii.edu/faculty/wong/BOT135/Lect2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120" y="1165014"/>
            <a:ext cx="4452938" cy="4334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elay 10"/>
          <p:cNvSpPr/>
          <p:nvPr/>
        </p:nvSpPr>
        <p:spPr>
          <a:xfrm>
            <a:off x="83820" y="731521"/>
            <a:ext cx="5364480" cy="4648765"/>
          </a:xfrm>
          <a:prstGeom prst="flowChartDelay">
            <a:avLst/>
          </a:prstGeom>
          <a:solidFill>
            <a:schemeClr val="tx1">
              <a:lumMod val="75000"/>
              <a:lumOff val="25000"/>
              <a:alpha val="1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6195" y="5380991"/>
            <a:ext cx="9786018" cy="943275"/>
          </a:xfrm>
          <a:prstGeom prst="rect">
            <a:avLst/>
          </a:prstGeom>
          <a:solidFill>
            <a:schemeClr val="bg2"/>
          </a:solidFill>
        </p:spPr>
        <p:txBody>
          <a:bodyPr wrap="none" lIns="111191" tIns="55596" rIns="111191" bIns="55596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Daily Question to know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67640" y="851183"/>
            <a:ext cx="4931410" cy="4648764"/>
          </a:xfrm>
        </p:spPr>
        <p:txBody>
          <a:bodyPr rtlCol="0">
            <a:normAutofit fontScale="92500" lnSpcReduction="100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dirty="0" smtClean="0">
                <a:latin typeface="Bauhaus 93" pitchFamily="82" charset="0"/>
              </a:rPr>
              <a:t>Question: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 smtClean="0"/>
              <a:t>Put the following civilizations in the correct chronological order;</a:t>
            </a:r>
          </a:p>
          <a:p>
            <a:pPr marL="722742" lvl="1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 smtClean="0"/>
              <a:t>Mayas, Incas, Aztec, Anasazi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 smtClean="0"/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SS.8.A.1.2:  Analyze charts, graphs, maps, photographs and timelines; analyze political cartoons; determine cause and effect.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endParaRPr lang="en-US" dirty="0"/>
          </a:p>
        </p:txBody>
      </p:sp>
      <p:sp>
        <p:nvSpPr>
          <p:cNvPr id="10" name="Flowchart: Alternate Process 9"/>
          <p:cNvSpPr/>
          <p:nvPr/>
        </p:nvSpPr>
        <p:spPr>
          <a:xfrm>
            <a:off x="640875" y="5499947"/>
            <a:ext cx="8914606" cy="975360"/>
          </a:xfrm>
          <a:prstGeom prst="flowChartAlternateProcess">
            <a:avLst/>
          </a:prstGeom>
          <a:solidFill>
            <a:schemeClr val="tx1">
              <a:lumMod val="65000"/>
              <a:lumOff val="3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4038" name="Picture 2" descr="http://aztecs.mrdonn.org/map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492" y="731520"/>
            <a:ext cx="3885406" cy="4036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502920" y="293511"/>
            <a:ext cx="4777740" cy="1219200"/>
          </a:xfrm>
        </p:spPr>
        <p:txBody>
          <a:bodyPr/>
          <a:lstStyle/>
          <a:p>
            <a:pPr eaLnBrk="1" hangingPunct="1"/>
            <a:r>
              <a:rPr lang="en-US" sz="5400">
                <a:latin typeface="Kristen ITC" pitchFamily="66" charset="0"/>
              </a:rPr>
              <a:t>The Maya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06880"/>
            <a:ext cx="5448300" cy="4876800"/>
          </a:xfrm>
        </p:spPr>
        <p:txBody>
          <a:bodyPr rtlCol="0">
            <a:normAutofit fontScale="92500" lnSpcReduction="20000"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 Maya were in present-day Mexico.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They planted;</a:t>
            </a:r>
          </a:p>
          <a:p>
            <a:pPr marL="722742" lvl="1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Maize (corn), beans, sweet potatoes.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They were ruled by their </a:t>
            </a:r>
            <a:r>
              <a:rPr lang="en-US" b="1" dirty="0" smtClean="0">
                <a:solidFill>
                  <a:srgbClr val="FF0000"/>
                </a:solidFill>
              </a:rPr>
              <a:t>religious leaders</a:t>
            </a:r>
            <a:r>
              <a:rPr lang="en-US" dirty="0" smtClean="0">
                <a:solidFill>
                  <a:srgbClr val="FF0000"/>
                </a:solidFill>
              </a:rPr>
              <a:t>. (Theocracy)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They also were advanced scientifically and created and used a very accurate system for telling time/calendar.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 Maya civilization began to decline in 900ad.</a:t>
            </a:r>
            <a:endParaRPr lang="en-US" dirty="0"/>
          </a:p>
        </p:txBody>
      </p:sp>
      <p:pic>
        <p:nvPicPr>
          <p:cNvPr id="45060" name="Picture 2" descr="http://t1.gstatic.com/images?q=tbn:ANd9GcT-p4asmD9HodGpliCn9vfeUTwnILt9lmv268P1ltO_S8sZkac&amp;t=1&amp;usg=__F8-Du_0StwzbdDYxjLlQgs8vr_8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040" y="447041"/>
            <a:ext cx="3185160" cy="299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1" name="Picture 4" descr="http://t2.gstatic.com/images?q=tbn:ANd9GcS_Y9XlF2Yj4BkLLL1Dybo47YT4AInELqrnDVNPxvrfxAzilCM&amp;t=1&amp;usg=__9ms0qvQtCb-gTwsfXSuIaROjCRM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032" y="4009813"/>
            <a:ext cx="4341178" cy="2682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2" name="TextBox 5"/>
          <p:cNvSpPr txBox="1">
            <a:spLocks noChangeArrowheads="1"/>
          </p:cNvSpPr>
          <p:nvPr/>
        </p:nvSpPr>
        <p:spPr bwMode="auto">
          <a:xfrm>
            <a:off x="6621780" y="3413760"/>
            <a:ext cx="2430780" cy="38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1191" tIns="55596" rIns="111191" bIns="5559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Mayan Calendar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46084" name="Picture 4" descr="http://meyerisland.wikispaces.com/file/view/AztecMayaMap2.jpg/31943155/AztecMayaMap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5120"/>
            <a:ext cx="10136982" cy="6177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2120" y="293511"/>
            <a:ext cx="4023360" cy="1219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Kristen ITC" pitchFamily="66" charset="0"/>
              </a:rPr>
              <a:t>The Aztec</a:t>
            </a:r>
            <a:endParaRPr lang="en-US" sz="5400" dirty="0">
              <a:solidFill>
                <a:schemeClr val="tx1">
                  <a:lumMod val="85000"/>
                  <a:lumOff val="15000"/>
                </a:schemeClr>
              </a:solidFill>
              <a:latin typeface="Kristen ITC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1560" y="1381760"/>
            <a:ext cx="5196840" cy="5201920"/>
          </a:xfrm>
        </p:spPr>
        <p:txBody>
          <a:bodyPr rtlCol="0">
            <a:normAutofit fontScale="92500" lnSpcReduction="20000"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 Aztec civilization began in the 1300’s.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 built their capital on an island in the middle of Lake </a:t>
            </a:r>
            <a:r>
              <a:rPr lang="en-US" dirty="0" err="1" smtClean="0"/>
              <a:t>Texcoco</a:t>
            </a:r>
            <a:r>
              <a:rPr lang="en-US" dirty="0" smtClean="0"/>
              <a:t>.</a:t>
            </a:r>
          </a:p>
          <a:p>
            <a:pPr marL="722742" lvl="1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Their capital was called </a:t>
            </a:r>
            <a:r>
              <a:rPr lang="en-US" b="1" dirty="0" smtClean="0">
                <a:solidFill>
                  <a:srgbClr val="FF0000"/>
                </a:solidFill>
              </a:rPr>
              <a:t>Tenochtitlan.</a:t>
            </a:r>
            <a:endParaRPr lang="en-US" dirty="0" smtClean="0">
              <a:solidFill>
                <a:srgbClr val="FF0000"/>
              </a:solidFill>
            </a:endParaRPr>
          </a:p>
          <a:p>
            <a:pPr marL="722742" lvl="1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At its height Tenochtitlan was the largest city in the Americas.</a:t>
            </a:r>
          </a:p>
          <a:p>
            <a:pPr marL="722742" lvl="1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 Aztecs were conquered by the Spanish </a:t>
            </a:r>
            <a:r>
              <a:rPr lang="en-US" dirty="0" smtClean="0"/>
              <a:t>Conquistador </a:t>
            </a:r>
            <a:r>
              <a:rPr lang="en-US" b="1" dirty="0" err="1" smtClean="0">
                <a:solidFill>
                  <a:srgbClr val="7030A0"/>
                </a:solidFill>
              </a:rPr>
              <a:t>Hernan</a:t>
            </a:r>
            <a:r>
              <a:rPr lang="en-US" b="1" dirty="0" smtClean="0">
                <a:solidFill>
                  <a:srgbClr val="7030A0"/>
                </a:solidFill>
              </a:rPr>
              <a:t> Cortes</a:t>
            </a:r>
            <a:r>
              <a:rPr lang="en-US" dirty="0" smtClean="0">
                <a:solidFill>
                  <a:srgbClr val="7030A0"/>
                </a:solidFill>
              </a:rPr>
              <a:t>.</a:t>
            </a:r>
          </a:p>
          <a:p>
            <a:pPr marL="1056315" lvl="2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They didn’t put up much of a fight because of disease and the Spaniards superior weapons.</a:t>
            </a:r>
            <a:endParaRPr lang="en-US" dirty="0"/>
          </a:p>
        </p:txBody>
      </p:sp>
      <p:pic>
        <p:nvPicPr>
          <p:cNvPr id="33794" name="Picture 2" descr="http://t2.gstatic.com/images?q=tbn:ANd9GcTvvii023JQAhDf4clWwVRhmCOXyLoMohE30z8ToMZ9YcV3ITE&amp;t=1&amp;usg=__Zq4xWfrbQPaPSkcKSBhXMx07O6Y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" y="650240"/>
            <a:ext cx="4449445" cy="227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9" name="Picture 4" descr="http://t2.gstatic.com/images?q=tbn:ANd9GcTkhAgmzwBGQ3ylIdL3qRJ-7-1cnKzClswG4_APzV3cuAf9dqo&amp;t=1&amp;usg=__KaXOREpFr79TsJEl4r9hf4bDivw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682240"/>
            <a:ext cx="2952909" cy="3007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0" name="Picture 6" descr="http://t3.gstatic.com/images?q=tbn:ANd9GcTRTQAp_J9aYe7TLspN8e6_n1ouq4rZiNoxL6xT3Q5Juc6DqSA&amp;t=1&amp;usg=__XfWfZtwqf-1q1jh5YjUsahiaaE4=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960" y="3820160"/>
            <a:ext cx="2797493" cy="3169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1" name="TextBox 3"/>
          <p:cNvSpPr txBox="1">
            <a:spLocks noChangeArrowheads="1"/>
          </p:cNvSpPr>
          <p:nvPr/>
        </p:nvSpPr>
        <p:spPr bwMode="auto">
          <a:xfrm>
            <a:off x="5280660" y="6800427"/>
            <a:ext cx="4610100" cy="40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1191" tIns="55596" rIns="111191" bIns="5559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eaLnBrk="1" hangingPunct="1"/>
            <a:r>
              <a:rPr lang="en-US" sz="1900" b="1" dirty="0"/>
              <a:t>Aztec Human Sacrifice Worksheet </a:t>
            </a:r>
            <a:r>
              <a:rPr lang="en-US" sz="1900" b="1" dirty="0" smtClean="0">
                <a:solidFill>
                  <a:srgbClr val="FF0000"/>
                </a:solidFill>
              </a:rPr>
              <a:t>(24pts</a:t>
            </a:r>
            <a:r>
              <a:rPr lang="en-US" sz="1900" dirty="0">
                <a:solidFill>
                  <a:srgbClr val="FF0000"/>
                </a:solidFill>
              </a:rPr>
              <a:t>)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48132" name="Picture 4" descr="http://meyerisland.wikispaces.com/file/view/AztecMayaMap2.jpg/31943155/AztecMayaMap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5120"/>
            <a:ext cx="10136982" cy="6177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502920" y="596053"/>
            <a:ext cx="3939540" cy="1219200"/>
          </a:xfrm>
        </p:spPr>
        <p:txBody>
          <a:bodyPr/>
          <a:lstStyle/>
          <a:p>
            <a:pPr eaLnBrk="1" hangingPunct="1"/>
            <a:r>
              <a:rPr lang="en-US" sz="5800">
                <a:latin typeface="Kristen ITC" pitchFamily="66" charset="0"/>
              </a:rPr>
              <a:t>The Inca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25600"/>
            <a:ext cx="5029200" cy="4389120"/>
          </a:xfrm>
        </p:spPr>
        <p:txBody>
          <a:bodyPr/>
          <a:lstStyle/>
          <a:p>
            <a:pPr eaLnBrk="1" hangingPunct="1"/>
            <a:r>
              <a:rPr lang="en-US" smtClean="0"/>
              <a:t>The Inca Empire became the largest of the three.</a:t>
            </a:r>
          </a:p>
          <a:p>
            <a:pPr eaLnBrk="1" hangingPunct="1"/>
            <a:r>
              <a:rPr lang="en-US" smtClean="0"/>
              <a:t>Their capital was </a:t>
            </a:r>
            <a:r>
              <a:rPr lang="en-US" b="1" smtClean="0">
                <a:solidFill>
                  <a:srgbClr val="FF0000"/>
                </a:solidFill>
              </a:rPr>
              <a:t>Cuzco</a:t>
            </a:r>
            <a:r>
              <a:rPr lang="en-US" smtClean="0"/>
              <a:t>.  They had an excellent emperor named </a:t>
            </a:r>
            <a:r>
              <a:rPr lang="en-US" b="1" smtClean="0">
                <a:solidFill>
                  <a:srgbClr val="7030A0"/>
                </a:solidFill>
              </a:rPr>
              <a:t>Pachacuti</a:t>
            </a:r>
            <a:r>
              <a:rPr lang="en-US" smtClean="0"/>
              <a:t>, he helped to build a militaristic empire.</a:t>
            </a:r>
          </a:p>
        </p:txBody>
      </p:sp>
      <p:pic>
        <p:nvPicPr>
          <p:cNvPr id="49156" name="Picture 2" descr="http://t2.gstatic.com/images?q=tbn:ANd9GcSlI7hF5p2HHIHNGVUhIZkRQop7a1mmebHHbLeBdbmLGHvLwro&amp;t=1&amp;h=157&amp;w=236&amp;usg=__k9lwKuBC_hWGcajtvltPuSsoDbI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740" y="325120"/>
            <a:ext cx="4442460" cy="2865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7" name="Picture 4" descr="http://t2.gstatic.com/images?q=tbn:ANd9GcThZrytCOq8F9H4fDA3ZumehVNZd4gcjAvAxJSgEx3Xg0ewN6o&amp;t=1&amp;usg=__E67bfboN5e3M5nsGM1CRaOAOg_k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055" y="3332480"/>
            <a:ext cx="2516346" cy="3169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8" name="Picture 6" descr="http://t2.gstatic.com/images?q=tbn:ANd9GcTHp9kcAxtvPHr-n_S6nHzqMLg04sjfZjKJNlh31AvVFYMXfO4&amp;t=1&amp;usg=__tFMLy9PTziO4wx93MpsG3XBA2k4=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5380" y="3657601"/>
            <a:ext cx="2514600" cy="2786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6" descr="http://t2.gstatic.com/images?q=tbn:ANd9GcTHp9kcAxtvPHr-n_S6nHzqMLg04sjfZjKJNlh31AvVFYMXfO4&amp;t=1&amp;usg=__tFMLy9PTziO4wx93MpsG3XBA2k4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498970"/>
            <a:ext cx="5783580" cy="6409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0" y="406400"/>
            <a:ext cx="5699760" cy="1219200"/>
          </a:xfrm>
        </p:spPr>
        <p:txBody>
          <a:bodyPr/>
          <a:lstStyle/>
          <a:p>
            <a:pPr algn="ctr" eaLnBrk="1" hangingPunct="1"/>
            <a:r>
              <a:rPr lang="en-US" sz="3900">
                <a:latin typeface="Kristen ITC" pitchFamily="66" charset="0"/>
              </a:rPr>
              <a:t>North American People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44320"/>
            <a:ext cx="5196840" cy="4479431"/>
          </a:xfrm>
        </p:spPr>
        <p:txBody>
          <a:bodyPr/>
          <a:lstStyle/>
          <a:p>
            <a:pPr eaLnBrk="1" hangingPunct="1"/>
            <a:r>
              <a:rPr lang="en-US" smtClean="0"/>
              <a:t>North American civilizations were also flourishing long before Europeans crossed the Atlantic Ocean.</a:t>
            </a:r>
          </a:p>
          <a:p>
            <a:pPr eaLnBrk="1" hangingPunct="1"/>
            <a:r>
              <a:rPr lang="en-US" smtClean="0"/>
              <a:t>Some of the most advanced cultures were the </a:t>
            </a:r>
            <a:r>
              <a:rPr lang="en-US" b="1" smtClean="0">
                <a:solidFill>
                  <a:srgbClr val="FF0000"/>
                </a:solidFill>
              </a:rPr>
              <a:t>Hohokam, Anasazi, and the Mound Builders.</a:t>
            </a:r>
            <a:endParaRPr lang="en-US" smtClean="0">
              <a:solidFill>
                <a:srgbClr val="FF0000"/>
              </a:solidFill>
            </a:endParaRPr>
          </a:p>
        </p:txBody>
      </p:sp>
      <p:pic>
        <p:nvPicPr>
          <p:cNvPr id="51204" name="Picture 2" descr="http://t2.gstatic.com/images?q=tbn:ANd9GcS__-lJctHidBKS1f8np1BI5HBXWc9YBHYOREq9pOw6_lgni78&amp;t=1&amp;usg=__X_zECi567HNpMLQogj-Gytb1Pj0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761" y="325120"/>
            <a:ext cx="3888899" cy="2510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5" name="TextBox 4"/>
          <p:cNvSpPr txBox="1">
            <a:spLocks noChangeArrowheads="1"/>
          </p:cNvSpPr>
          <p:nvPr/>
        </p:nvSpPr>
        <p:spPr bwMode="auto">
          <a:xfrm>
            <a:off x="6286500" y="2844800"/>
            <a:ext cx="3101340" cy="38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1191" tIns="55596" rIns="111191" bIns="5559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Anasazi Cliff Dwellings</a:t>
            </a:r>
          </a:p>
        </p:txBody>
      </p:sp>
      <p:pic>
        <p:nvPicPr>
          <p:cNvPr id="51206" name="Picture 4" descr="http://t0.gstatic.com/images?q=tbn:ANd9GcQVyw9HSJv1N3B6wAvjSScS-cX1DIDqG-SNFKA5XMtdNQf22mM&amp;t=1&amp;usg=__cGoOv6beYus8jyvK2FsZ9LBudkg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480" y="3332480"/>
            <a:ext cx="3771900" cy="308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502920" y="293511"/>
            <a:ext cx="4023360" cy="1219200"/>
          </a:xfrm>
        </p:spPr>
        <p:txBody>
          <a:bodyPr/>
          <a:lstStyle/>
          <a:p>
            <a:pPr eaLnBrk="1" hangingPunct="1"/>
            <a:r>
              <a:rPr lang="en-US" sz="4000" dirty="0">
                <a:latin typeface="Kristen ITC" pitchFamily="66" charset="0"/>
              </a:rPr>
              <a:t>The Hohokam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60" y="1300481"/>
            <a:ext cx="4526280" cy="4827129"/>
          </a:xfrm>
        </p:spPr>
        <p:txBody>
          <a:bodyPr/>
          <a:lstStyle/>
          <a:p>
            <a:pPr eaLnBrk="1" hangingPunct="1"/>
            <a:r>
              <a:rPr lang="en-US" smtClean="0"/>
              <a:t>They lived in present day Arizona.  They flourished from </a:t>
            </a:r>
            <a:r>
              <a:rPr lang="en-US" smtClean="0">
                <a:solidFill>
                  <a:srgbClr val="FF0000"/>
                </a:solidFill>
              </a:rPr>
              <a:t>300ad-1300ad</a:t>
            </a:r>
            <a:r>
              <a:rPr lang="en-US" smtClean="0"/>
              <a:t>.</a:t>
            </a:r>
          </a:p>
          <a:p>
            <a:pPr eaLnBrk="1" hangingPunct="1"/>
            <a:r>
              <a:rPr lang="en-US" smtClean="0"/>
              <a:t>They were very advanced at utilizing irrigation systems.</a:t>
            </a:r>
          </a:p>
          <a:p>
            <a:pPr eaLnBrk="1" hangingPunct="1"/>
            <a:r>
              <a:rPr lang="en-US" smtClean="0"/>
              <a:t>They also left behind a lot of pottery and art.</a:t>
            </a:r>
          </a:p>
        </p:txBody>
      </p:sp>
      <p:pic>
        <p:nvPicPr>
          <p:cNvPr id="52228" name="Picture 2" descr="http://t3.gstatic.com/images?q=tbn:ANd9GcSLQdtva0-prBcahnbdObO6TKnIqDqmlT6MOC9GtF_ARHW48Mw&amp;t=1&amp;usg=__7OFWtT_hahQuG6FK73uafzv4cWQ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940" y="243841"/>
            <a:ext cx="3939540" cy="3312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29" name="Picture 4" descr="http://t2.gstatic.com/images?q=tbn:ANd9GcQt6D0qBRFjcsKk_OE7gLHcQc6mo81WHGRPAb6BxB11Av_eJWg&amp;t=1&amp;usg=__J8uXSgKmAJYIXyUtv05KDjPHuFQ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0660" y="3657600"/>
            <a:ext cx="4143852" cy="284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>
          <a:xfrm>
            <a:off x="5532120" y="293511"/>
            <a:ext cx="4023360" cy="1219200"/>
          </a:xfrm>
        </p:spPr>
        <p:txBody>
          <a:bodyPr/>
          <a:lstStyle/>
          <a:p>
            <a:pPr eaLnBrk="1" hangingPunct="1"/>
            <a:r>
              <a:rPr lang="en-US" sz="4800" dirty="0">
                <a:latin typeface="Kristen ITC" pitchFamily="66" charset="0"/>
              </a:rPr>
              <a:t>The Anasazi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5380" y="1219200"/>
            <a:ext cx="5113020" cy="5608320"/>
          </a:xfrm>
        </p:spPr>
        <p:txBody>
          <a:bodyPr/>
          <a:lstStyle/>
          <a:p>
            <a:pPr eaLnBrk="1" hangingPunct="1"/>
            <a:r>
              <a:rPr lang="en-US" smtClean="0"/>
              <a:t>The Anazazi were present during the same time as the Hohokam (300-1300ad).</a:t>
            </a:r>
          </a:p>
          <a:p>
            <a:pPr eaLnBrk="1" hangingPunct="1"/>
            <a:r>
              <a:rPr lang="en-US" smtClean="0"/>
              <a:t>They lived in the “Four Corners” area. (Present day Utah, Colorado, Arizona, and New Mexico.</a:t>
            </a:r>
          </a:p>
          <a:p>
            <a:pPr eaLnBrk="1" hangingPunct="1"/>
            <a:r>
              <a:rPr lang="en-US" smtClean="0"/>
              <a:t>The Anaszai lived in </a:t>
            </a:r>
            <a:r>
              <a:rPr lang="en-US" b="1" smtClean="0">
                <a:solidFill>
                  <a:srgbClr val="FF0000"/>
                </a:solidFill>
              </a:rPr>
              <a:t>Cliff-dwellings</a:t>
            </a:r>
            <a:r>
              <a:rPr lang="en-US" smtClean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53252" name="Picture 2" descr="http://t0.gstatic.com/images?q=tbn:ANd9GcRg8V7ejkqkGFE6d3YWNND-85_KZndNexOGnfNFJOVkUe1mDQA&amp;t=1&amp;usg=__Fe1bWQNdrvYUP_LHvWoW21RCYQo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01340" cy="2889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3" name="Picture 4" descr="http://t1.gstatic.com/images?q=tbn:ANd9GcRjdwEm6156tJo7kpZ_h_3gvJ3Y5BaZgQf2epUhYwoQETzfwqs&amp;t=1&amp;usg=__9uUm8XVXv90oR5xMvOJHuzBQ_Is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481" y="2275840"/>
            <a:ext cx="3665379" cy="235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4" name="Picture 6" descr="http://t3.gstatic.com/images?q=tbn:ANd9GcS76dork-pa1cdB31HvVDfCP-12Wvvs2cAXLjtj8TGDmwjBL_U&amp;t=1&amp;usg=__BGvMboKrJcBUz6R1gnJ28TlRGfY=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" y="4714240"/>
            <a:ext cx="3558858" cy="227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838200" y="4985173"/>
            <a:ext cx="7459980" cy="1706880"/>
          </a:xfrm>
        </p:spPr>
        <p:txBody>
          <a:bodyPr/>
          <a:lstStyle/>
          <a:p>
            <a:pPr eaLnBrk="1" hangingPunct="1"/>
            <a:r>
              <a:rPr lang="en-US" sz="5400">
                <a:latin typeface="Kristen ITC" pitchFamily="66" charset="0"/>
              </a:rPr>
              <a:t>The Mound Builders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487680"/>
            <a:ext cx="9052560" cy="2519680"/>
          </a:xfrm>
        </p:spPr>
        <p:txBody>
          <a:bodyPr rtlCol="0">
            <a:normAutofit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 smtClean="0"/>
              <a:t>Adena</a:t>
            </a:r>
            <a:r>
              <a:rPr lang="en-US" dirty="0"/>
              <a:t> </a:t>
            </a:r>
            <a:r>
              <a:rPr lang="en-US" dirty="0" smtClean="0"/>
              <a:t>and Hopewell were two of the groups known as the mound builders.  They built mounds similar to the stone pyramids of the Maya and Aztecs.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 </a:t>
            </a:r>
            <a:r>
              <a:rPr lang="en-US" b="1" dirty="0" smtClean="0"/>
              <a:t>Great Serpent Mound</a:t>
            </a:r>
            <a:r>
              <a:rPr lang="en-US" dirty="0" smtClean="0"/>
              <a:t> looks like a giant snake winding across the ground.</a:t>
            </a:r>
            <a:endParaRPr lang="en-US" dirty="0"/>
          </a:p>
        </p:txBody>
      </p:sp>
      <p:pic>
        <p:nvPicPr>
          <p:cNvPr id="54276" name="Picture 2" descr="http://t1.gstatic.com/images?q=tbn:ANd9GcQVvZJhaVrNPlG0Rf01IhZI06W1w71sfBy1bcPDpESGBJH-frA&amp;t=1&amp;usg=__jKAaAPnE5519dz1_kkPhY7HHobI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" y="2980267"/>
            <a:ext cx="4107180" cy="2650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7" name="Picture 4" descr="http://t3.gstatic.com/images?q=tbn:ANd9GcS1XEqblRJTvBjagomZQqTwBR_5-Ls4BovzIlHZarFIyfx9E2w&amp;t=1&amp;usg=__zwSn8m5H6Z4J0lmgPvQzeWCeYbQ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100" y="2519680"/>
            <a:ext cx="5154930" cy="284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MAP </a:t>
            </a:r>
            <a:r>
              <a:rPr lang="en-US" dirty="0" smtClean="0"/>
              <a:t>QUIZ </a:t>
            </a:r>
            <a:r>
              <a:rPr lang="en-US" dirty="0" smtClean="0">
                <a:solidFill>
                  <a:srgbClr val="FF0000"/>
                </a:solidFill>
              </a:rPr>
              <a:t>(15pts)</a:t>
            </a:r>
            <a:endParaRPr lang="en-US" dirty="0" smtClean="0">
              <a:solidFill>
                <a:srgbClr val="FF0000"/>
              </a:solidFill>
            </a:endParaRPr>
          </a:p>
        </p:txBody>
      </p:sp>
      <p:pic>
        <p:nvPicPr>
          <p:cNvPr id="4" name="Picture 4" descr="http://parkstad.com/pages/world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761999"/>
            <a:ext cx="6324600" cy="4192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800" b="1" u="sng">
                <a:solidFill>
                  <a:srgbClr val="FF0000"/>
                </a:solidFill>
              </a:rPr>
              <a:t>Warm Up: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" y="406400"/>
            <a:ext cx="5615940" cy="4852037"/>
          </a:xfrm>
          <a:prstGeom prst="rect">
            <a:avLst/>
          </a:prstGeom>
          <a:noFill/>
        </p:spPr>
        <p:txBody>
          <a:bodyPr lIns="111191" tIns="55596" rIns="111191" bIns="5559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u="sng" dirty="0">
                <a:solidFill>
                  <a:srgbClr val="FF0000"/>
                </a:solidFill>
                <a:latin typeface="+mn-lt"/>
                <a:cs typeface="+mn-cs"/>
              </a:rPr>
              <a:t>Warm up Activity: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Who came first the Mayas, the Aztecs, the Incas?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What are your own personal opinions about religious/political reasons for Human Sacrifice?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b="1" dirty="0">
                <a:latin typeface="+mn-lt"/>
                <a:cs typeface="+mn-cs"/>
              </a:rPr>
              <a:t>OCSR:</a:t>
            </a:r>
            <a:r>
              <a:rPr lang="en-US" sz="2800" dirty="0">
                <a:latin typeface="+mn-lt"/>
                <a:cs typeface="+mn-cs"/>
              </a:rPr>
              <a:t>  How are culture, religion, ethnicity, and nationality alike and different?</a:t>
            </a:r>
            <a:endParaRPr lang="en-US" sz="2800" b="1" dirty="0">
              <a:latin typeface="+mn-lt"/>
              <a:cs typeface="+mn-cs"/>
            </a:endParaRP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b="1" dirty="0">
                <a:latin typeface="+mn-lt"/>
                <a:cs typeface="+mn-cs"/>
              </a:rPr>
              <a:t>Define:  Conquistador, Montezuma</a:t>
            </a:r>
            <a:endParaRPr lang="en-US" sz="2800" dirty="0">
              <a:latin typeface="+mn-lt"/>
              <a:cs typeface="+mn-cs"/>
            </a:endParaRPr>
          </a:p>
        </p:txBody>
      </p:sp>
      <p:pic>
        <p:nvPicPr>
          <p:cNvPr id="56324" name="Picture 2" descr="http://www.hedgehogsrunningamok.com/wp-content/uploads/2011/08/mayans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76217">
            <a:off x="5748146" y="1755238"/>
            <a:ext cx="4011216" cy="347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elay 10"/>
          <p:cNvSpPr/>
          <p:nvPr/>
        </p:nvSpPr>
        <p:spPr>
          <a:xfrm>
            <a:off x="83820" y="731521"/>
            <a:ext cx="5364480" cy="4648765"/>
          </a:xfrm>
          <a:prstGeom prst="flowChartDelay">
            <a:avLst/>
          </a:prstGeom>
          <a:solidFill>
            <a:schemeClr val="tx1">
              <a:lumMod val="75000"/>
              <a:lumOff val="25000"/>
              <a:alpha val="1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6195" y="5380991"/>
            <a:ext cx="9786018" cy="943275"/>
          </a:xfrm>
          <a:prstGeom prst="rect">
            <a:avLst/>
          </a:prstGeom>
          <a:solidFill>
            <a:schemeClr val="bg2"/>
          </a:solidFill>
        </p:spPr>
        <p:txBody>
          <a:bodyPr wrap="none" lIns="111191" tIns="55596" rIns="111191" bIns="55596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Daily Question to know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67640" y="851183"/>
            <a:ext cx="4931410" cy="4648764"/>
          </a:xfrm>
        </p:spPr>
        <p:txBody>
          <a:bodyPr rtlCol="0">
            <a:normAutofit lnSpcReduction="100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dirty="0" smtClean="0">
                <a:latin typeface="Bauhaus 93" pitchFamily="82" charset="0"/>
              </a:rPr>
              <a:t>Question: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 smtClean="0"/>
              <a:t>Why would smaller tribes pay tribute to larger tribes?  Do modern societies still do something similar to this?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 smtClean="0"/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/>
              <a:t>SS.8.A.1.6:  Compare interpretations of key events and issues throughout American History.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endParaRPr lang="en-US" dirty="0"/>
          </a:p>
        </p:txBody>
      </p:sp>
      <p:sp>
        <p:nvSpPr>
          <p:cNvPr id="10" name="Flowchart: Alternate Process 9"/>
          <p:cNvSpPr/>
          <p:nvPr/>
        </p:nvSpPr>
        <p:spPr>
          <a:xfrm>
            <a:off x="640875" y="5499947"/>
            <a:ext cx="8914606" cy="975360"/>
          </a:xfrm>
          <a:prstGeom prst="flowChartAlternateProcess">
            <a:avLst/>
          </a:prstGeom>
          <a:solidFill>
            <a:schemeClr val="tx1">
              <a:lumMod val="65000"/>
              <a:lumOff val="3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57350" name="Picture 2" descr="http://karenswhimsy.com/public-domain-images/american-indian-tribes/american-indian-tribes-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8860" y="514773"/>
            <a:ext cx="3019267" cy="4768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6" descr="http://t1.gstatic.com/images?q=tbn:ANd9GcRT2DPidTB9ppmDi1mclzwhqF-rZZZUyc-m1QCJkGg7aiNpsGc&amp;t=1&amp;usg=__s_yh5mtczlLHP7uq0pUhaOvIXzU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1345" y="3576320"/>
            <a:ext cx="3033236" cy="2241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1" name="Title 1"/>
          <p:cNvSpPr>
            <a:spLocks noGrp="1"/>
          </p:cNvSpPr>
          <p:nvPr>
            <p:ph type="title"/>
          </p:nvPr>
        </p:nvSpPr>
        <p:spPr>
          <a:xfrm>
            <a:off x="0" y="81280"/>
            <a:ext cx="5867400" cy="1219200"/>
          </a:xfrm>
        </p:spPr>
        <p:txBody>
          <a:bodyPr/>
          <a:lstStyle/>
          <a:p>
            <a:pPr algn="ctr" eaLnBrk="1" hangingPunct="1"/>
            <a:r>
              <a:rPr lang="en-US" sz="2800" dirty="0">
                <a:latin typeface="Kristen ITC" pitchFamily="66" charset="0"/>
              </a:rPr>
              <a:t>Other Native North Americans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4358640" cy="5608320"/>
          </a:xfrm>
        </p:spPr>
        <p:txBody>
          <a:bodyPr/>
          <a:lstStyle/>
          <a:p>
            <a:pPr eaLnBrk="1" hangingPunct="1"/>
            <a:r>
              <a:rPr lang="en-US" dirty="0" smtClean="0"/>
              <a:t>The </a:t>
            </a:r>
            <a:r>
              <a:rPr lang="en-US" b="1" dirty="0" smtClean="0">
                <a:solidFill>
                  <a:srgbClr val="FF0000"/>
                </a:solidFill>
              </a:rPr>
              <a:t>Inuit</a:t>
            </a:r>
            <a:r>
              <a:rPr lang="en-US" dirty="0" smtClean="0"/>
              <a:t> people lived way up in North America, around the Arctic Ocean.</a:t>
            </a:r>
          </a:p>
          <a:p>
            <a:pPr eaLnBrk="1" hangingPunct="1"/>
            <a:r>
              <a:rPr lang="en-US" dirty="0" smtClean="0"/>
              <a:t>They built Igloos and their clothing was made of furs and sealskin (was warm and waterproof).</a:t>
            </a:r>
          </a:p>
          <a:p>
            <a:pPr eaLnBrk="1" hangingPunct="1"/>
            <a:r>
              <a:rPr lang="en-US" dirty="0" smtClean="0"/>
              <a:t>They were expert hunter and fishers.</a:t>
            </a:r>
          </a:p>
        </p:txBody>
      </p:sp>
      <p:pic>
        <p:nvPicPr>
          <p:cNvPr id="58373" name="Picture 2" descr="http://t3.gstatic.com/images?q=tbn:ANd9GcS9F6t2FEny_bvwOmtEK-iWrF9ttADACT4S1cDfgjBlX9khy40&amp;t=1&amp;usg=__3u3mF94kFoXxJpieqFeZMF-By0c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8860" y="447041"/>
            <a:ext cx="3855720" cy="2804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4" name="Picture 4" descr="http://t0.gstatic.com/images?q=tbn:ANd9GcRTMGP79w0wgRMveF8S8KPD4sRo9vH0dDYQw0n6VPjN2CzeTzU&amp;t=1&amp;usg=__HZaY8FqxK1zfCfXT6cu-awGBx0k=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641" y="3251200"/>
            <a:ext cx="2463959" cy="2880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612836"/>
            <a:ext cx="7459980" cy="107921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Kristen ITC" pitchFamily="66" charset="0"/>
              </a:rPr>
              <a:t>Inuit People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Kristen ITC" pitchFamily="66" charset="0"/>
            </a:endParaRPr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59396" name="Picture 2" descr="http://www.worldclimatereport.com/wp-images/Nunavut_fig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20" y="-27093"/>
            <a:ext cx="7124700" cy="5531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167640" y="1137920"/>
            <a:ext cx="4526280" cy="1219200"/>
          </a:xfrm>
        </p:spPr>
        <p:txBody>
          <a:bodyPr/>
          <a:lstStyle/>
          <a:p>
            <a:pPr algn="ctr" eaLnBrk="1" hangingPunct="1"/>
            <a:r>
              <a:rPr lang="en-US" sz="5400">
                <a:latin typeface="Kristen ITC" pitchFamily="66" charset="0"/>
              </a:rPr>
              <a:t>Peoples of the West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81760"/>
            <a:ext cx="5113020" cy="5933440"/>
          </a:xfrm>
        </p:spPr>
        <p:txBody>
          <a:bodyPr/>
          <a:lstStyle/>
          <a:p>
            <a:pPr eaLnBrk="1" hangingPunct="1"/>
            <a:r>
              <a:rPr lang="en-US" smtClean="0"/>
              <a:t>Tlingit, Haida, and Chinook developed a way of life that used the resources of the Forest and the Sea.</a:t>
            </a:r>
          </a:p>
          <a:p>
            <a:pPr eaLnBrk="1" hangingPunct="1"/>
            <a:r>
              <a:rPr lang="en-US" smtClean="0"/>
              <a:t>They had wooden houses, canoes, and used spears and nets.</a:t>
            </a:r>
          </a:p>
          <a:p>
            <a:pPr eaLnBrk="1" hangingPunct="1"/>
            <a:r>
              <a:rPr lang="en-US" smtClean="0"/>
              <a:t>They fished a lot of Salmon.</a:t>
            </a:r>
          </a:p>
        </p:txBody>
      </p:sp>
      <p:pic>
        <p:nvPicPr>
          <p:cNvPr id="60420" name="Picture 2" descr="http://t2.gstatic.com/images?q=tbn:ANd9GcTYJhWI2RQKKcjnHb4sbJp-FJT6xi1-JpTVf9ZM8craLdMtwiY&amp;t=1&amp;usg=__nPZb1dc1JBha1Jw5WcATz9FKQ_o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25121"/>
            <a:ext cx="4526280" cy="2921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1" name="Picture 4" descr="http://t2.gstatic.com/images?q=tbn:ANd9GcT8jIG3MduDnbLaY0jnchlZ0D_X0uqyJBTIYTsqO-ox-fqiWws&amp;t=1&amp;usg=__uLThulVvSQvs-fJZRjJgrDtbVX4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940" y="3332480"/>
            <a:ext cx="3939540" cy="3154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>
          <a:xfrm>
            <a:off x="4526280" y="812800"/>
            <a:ext cx="5364480" cy="1219200"/>
          </a:xfrm>
        </p:spPr>
        <p:txBody>
          <a:bodyPr/>
          <a:lstStyle/>
          <a:p>
            <a:pPr algn="ctr" eaLnBrk="1" hangingPunct="1"/>
            <a:r>
              <a:rPr lang="en-US" sz="4400">
                <a:latin typeface="Kristen ITC" pitchFamily="66" charset="0"/>
              </a:rPr>
              <a:t>People of the Southwest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0" y="1706880"/>
            <a:ext cx="5029200" cy="4876800"/>
          </a:xfrm>
        </p:spPr>
        <p:txBody>
          <a:bodyPr rtlCol="0">
            <a:normAutofit fontScale="92500" lnSpcReduction="20000"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These people were descendents of the </a:t>
            </a:r>
            <a:r>
              <a:rPr lang="en-US" dirty="0" err="1" smtClean="0"/>
              <a:t>Anasazi</a:t>
            </a:r>
            <a:r>
              <a:rPr lang="en-US" dirty="0" smtClean="0"/>
              <a:t>.  The </a:t>
            </a:r>
            <a:r>
              <a:rPr lang="en-US" b="1" dirty="0" smtClean="0"/>
              <a:t>Hopi, Acoma, and the Zuni</a:t>
            </a:r>
            <a:r>
              <a:rPr lang="en-US" dirty="0" smtClean="0"/>
              <a:t>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They built their homes out of a type of </a:t>
            </a:r>
            <a:r>
              <a:rPr lang="en-US" dirty="0" err="1" smtClean="0"/>
              <a:t>mudbrick</a:t>
            </a:r>
            <a:r>
              <a:rPr lang="en-US" dirty="0" smtClean="0"/>
              <a:t> called </a:t>
            </a:r>
            <a:r>
              <a:rPr lang="en-US" b="1" dirty="0" smtClean="0">
                <a:solidFill>
                  <a:srgbClr val="FF0000"/>
                </a:solidFill>
              </a:rPr>
              <a:t>Adobe</a:t>
            </a:r>
            <a:r>
              <a:rPr lang="en-US" dirty="0" smtClean="0"/>
              <a:t>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They raised a wide variety of crops.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These people were joined in the 1500’s by the </a:t>
            </a:r>
            <a:r>
              <a:rPr lang="en-US" b="1" dirty="0" smtClean="0">
                <a:solidFill>
                  <a:srgbClr val="FF0000"/>
                </a:solidFill>
              </a:rPr>
              <a:t>Apache and the Navajo</a:t>
            </a:r>
            <a:r>
              <a:rPr lang="en-US" dirty="0" smtClean="0"/>
              <a:t>.  </a:t>
            </a:r>
          </a:p>
          <a:p>
            <a:pPr marL="722742" lvl="1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Unlike the others the Apache and Navajo were hunter-gatherer societies.</a:t>
            </a:r>
            <a:endParaRPr lang="en-US" dirty="0"/>
          </a:p>
        </p:txBody>
      </p:sp>
      <p:pic>
        <p:nvPicPr>
          <p:cNvPr id="61444" name="Picture 2" descr="http://t2.gstatic.com/images?q=tbn:ANd9GcSPKDgJfNnUT--xudGDtjtz6C8BqiZNolArOKJ8bSDtr7R6T6c&amp;t=1&amp;usg=__6zRMEEnIr3uhAWpMQj6oWwIXNtc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" y="243840"/>
            <a:ext cx="4039077" cy="284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5" name="Picture 4" descr="http://t0.gstatic.com/images?q=tbn:ANd9GcQTucvda9t_K0dYwghNT6eOAGZL8c95rfghpP1qYYbge2cb0mo&amp;t=1&amp;usg=__bkysbOqx_5vEs3v3uqQgURCdnM4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922" y="3332480"/>
            <a:ext cx="4140358" cy="3007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>
          <a:xfrm>
            <a:off x="0" y="298027"/>
            <a:ext cx="5615940" cy="1219200"/>
          </a:xfrm>
        </p:spPr>
        <p:txBody>
          <a:bodyPr/>
          <a:lstStyle/>
          <a:p>
            <a:pPr algn="ctr" eaLnBrk="1" hangingPunct="1"/>
            <a:r>
              <a:rPr lang="en-US" sz="4000" dirty="0">
                <a:latin typeface="Kristen ITC" pitchFamily="66" charset="0"/>
              </a:rPr>
              <a:t>Peoples of the Plains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040"/>
            <a:ext cx="5615940" cy="5120640"/>
          </a:xfrm>
        </p:spPr>
        <p:txBody>
          <a:bodyPr rtlCol="0">
            <a:normAutofit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 peoples of the Great Plains (central north </a:t>
            </a:r>
            <a:r>
              <a:rPr lang="en-US" dirty="0"/>
              <a:t>A</a:t>
            </a:r>
            <a:r>
              <a:rPr lang="en-US" dirty="0" smtClean="0"/>
              <a:t>merica) were </a:t>
            </a:r>
            <a:r>
              <a:rPr lang="en-US" b="1" dirty="0" smtClean="0">
                <a:solidFill>
                  <a:srgbClr val="FF0000"/>
                </a:solidFill>
              </a:rPr>
              <a:t>Nomadic</a:t>
            </a:r>
            <a:r>
              <a:rPr lang="en-US" b="1" dirty="0" smtClean="0"/>
              <a:t>.</a:t>
            </a:r>
            <a:r>
              <a:rPr lang="en-US" dirty="0" smtClean="0"/>
              <a:t> 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When they moved they brought with them EVERYTHING.  They also lived in </a:t>
            </a:r>
            <a:r>
              <a:rPr lang="en-US" b="1" dirty="0" smtClean="0"/>
              <a:t>tepees.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Eventually these people became skilled horse riders and hunted while on horseback.  They also utilized horses during warfare.</a:t>
            </a:r>
            <a:endParaRPr lang="en-US" dirty="0"/>
          </a:p>
        </p:txBody>
      </p:sp>
      <p:pic>
        <p:nvPicPr>
          <p:cNvPr id="62468" name="Picture 2" descr="http://t3.gstatic.com/images?q=tbn:ANd9GcRur95u5ROw4xP9gncgufeyDvo1C3GWiZBu2uaKOhMU2kmiu0w&amp;t=1&amp;usg=__6KU6tlR3uBraioYVXUiM2BGHbuk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940" y="487680"/>
            <a:ext cx="3729990" cy="284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9" name="Picture 4" descr="http://www.melodee-stables.com/images/pix5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221" y="3445370"/>
            <a:ext cx="2834164" cy="2975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>
          <a:xfrm>
            <a:off x="0" y="4849707"/>
            <a:ext cx="10058400" cy="1706880"/>
          </a:xfrm>
        </p:spPr>
        <p:txBody>
          <a:bodyPr/>
          <a:lstStyle/>
          <a:p>
            <a:pPr algn="ctr" eaLnBrk="1" hangingPunct="1"/>
            <a:r>
              <a:rPr lang="en-US" sz="3900" dirty="0">
                <a:latin typeface="Kristen ITC" pitchFamily="66" charset="0"/>
              </a:rPr>
              <a:t>Peoples of the East and Southeast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6400"/>
            <a:ext cx="10058400" cy="4145280"/>
          </a:xfrm>
        </p:spPr>
        <p:txBody>
          <a:bodyPr/>
          <a:lstStyle/>
          <a:p>
            <a:pPr eaLnBrk="1" hangingPunct="1"/>
            <a:r>
              <a:rPr lang="en-US" smtClean="0"/>
              <a:t>These people had a much more complex political systems.</a:t>
            </a:r>
          </a:p>
          <a:p>
            <a:pPr eaLnBrk="1" hangingPunct="1"/>
            <a:r>
              <a:rPr lang="en-US" smtClean="0"/>
              <a:t>The </a:t>
            </a:r>
            <a:r>
              <a:rPr lang="en-US" b="1" smtClean="0"/>
              <a:t>Iroquois and Cherokee</a:t>
            </a:r>
          </a:p>
          <a:p>
            <a:pPr lvl="1" eaLnBrk="1" hangingPunct="1"/>
            <a:r>
              <a:rPr lang="en-US" smtClean="0"/>
              <a:t>They utilized many law codes and federations that linked different groups.</a:t>
            </a:r>
          </a:p>
          <a:p>
            <a:pPr eaLnBrk="1" hangingPunct="1"/>
            <a:r>
              <a:rPr lang="en-US" b="1" smtClean="0"/>
              <a:t>Iroquois Nations</a:t>
            </a:r>
            <a:endParaRPr lang="en-US" smtClean="0"/>
          </a:p>
          <a:p>
            <a:pPr lvl="1" eaLnBrk="1" hangingPunct="1"/>
            <a:r>
              <a:rPr lang="en-US" b="1" smtClean="0"/>
              <a:t>Onondaga, Seneca, Mohawk, Oneida, Cayuga. </a:t>
            </a:r>
          </a:p>
          <a:p>
            <a:pPr lvl="1" eaLnBrk="1" hangingPunct="1"/>
            <a:r>
              <a:rPr lang="en-US" smtClean="0"/>
              <a:t>These were all tribes that were once at war, then were united in the</a:t>
            </a:r>
            <a:r>
              <a:rPr lang="en-US" b="1" smtClean="0"/>
              <a:t> Iroquois League.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838200" y="5283200"/>
            <a:ext cx="7459980" cy="1300480"/>
          </a:xfrm>
        </p:spPr>
        <p:txBody>
          <a:bodyPr/>
          <a:lstStyle/>
          <a:p>
            <a:pPr eaLnBrk="1" hangingPunct="1"/>
            <a:r>
              <a:rPr lang="en-US" sz="3900">
                <a:latin typeface="Kristen ITC" pitchFamily="66" charset="0"/>
              </a:rPr>
              <a:t>First Americans Review </a:t>
            </a:r>
            <a:r>
              <a:rPr lang="en-US" sz="2900">
                <a:solidFill>
                  <a:srgbClr val="FF0000"/>
                </a:solidFill>
                <a:latin typeface="Kristen ITC" pitchFamily="66" charset="0"/>
              </a:rPr>
              <a:t>(12pts)</a:t>
            </a:r>
            <a:br>
              <a:rPr lang="en-US" sz="2900">
                <a:solidFill>
                  <a:srgbClr val="FF0000"/>
                </a:solidFill>
                <a:latin typeface="Kristen ITC" pitchFamily="66" charset="0"/>
              </a:rPr>
            </a:br>
            <a:r>
              <a:rPr lang="en-US" sz="2900">
                <a:solidFill>
                  <a:srgbClr val="FF0000"/>
                </a:solidFill>
                <a:latin typeface="Kristen ITC" pitchFamily="66" charset="0"/>
              </a:rPr>
              <a:t>Answers should be 2-3 sentences each.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66987"/>
            <a:ext cx="10058400" cy="4741333"/>
          </a:xfrm>
        </p:spPr>
        <p:txBody>
          <a:bodyPr/>
          <a:lstStyle/>
          <a:p>
            <a:pPr marL="625450" indent="-625450" eaLnBrk="1" hangingPunct="1">
              <a:buFont typeface="Arial" charset="0"/>
              <a:buAutoNum type="arabicPeriod"/>
            </a:pPr>
            <a:r>
              <a:rPr lang="en-US" smtClean="0"/>
              <a:t>For what reasons did Asians cross the land bridge to the Americas?</a:t>
            </a:r>
          </a:p>
          <a:p>
            <a:pPr marL="625450" indent="-625450" eaLnBrk="1" hangingPunct="1">
              <a:buFont typeface="Arial" charset="0"/>
              <a:buAutoNum type="arabicPeriod"/>
            </a:pPr>
            <a:r>
              <a:rPr lang="en-US" smtClean="0"/>
              <a:t>What was the first crop raised by Native Americans in Mexico?</a:t>
            </a:r>
          </a:p>
          <a:p>
            <a:pPr marL="625450" indent="-625450" eaLnBrk="1" hangingPunct="1">
              <a:buFont typeface="Arial" charset="0"/>
              <a:buAutoNum type="arabicPeriod"/>
            </a:pPr>
            <a:r>
              <a:rPr lang="en-US" smtClean="0"/>
              <a:t>Who came first the Mayas or the Aztecs?</a:t>
            </a:r>
          </a:p>
          <a:p>
            <a:pPr marL="625450" indent="-625450" eaLnBrk="1" hangingPunct="1">
              <a:buFont typeface="Arial" charset="0"/>
              <a:buAutoNum type="arabicPeriod"/>
            </a:pPr>
            <a:r>
              <a:rPr lang="en-US" smtClean="0"/>
              <a:t>What does it mean to be Nomadic?</a:t>
            </a:r>
          </a:p>
          <a:p>
            <a:pPr marL="625450" indent="-625450" eaLnBrk="1" hangingPunct="1">
              <a:buFont typeface="Arial" charset="0"/>
              <a:buAutoNum type="arabicPeriod"/>
            </a:pPr>
            <a:r>
              <a:rPr lang="en-US" smtClean="0"/>
              <a:t>How do hunter-gatherer societies differ from societies that grow crops?</a:t>
            </a:r>
          </a:p>
          <a:p>
            <a:pPr marL="625450" indent="-625450" eaLnBrk="1" hangingPunct="1">
              <a:buFont typeface="Arial" charset="0"/>
              <a:buAutoNum type="arabicPeriod"/>
            </a:pPr>
            <a:r>
              <a:rPr lang="en-US" smtClean="0"/>
              <a:t>How does growing crops allow your population to expand?</a:t>
            </a:r>
          </a:p>
          <a:p>
            <a:pPr marL="625450" indent="-625450" eaLnBrk="1" hangingPunct="1">
              <a:buFont typeface="Arial" charset="0"/>
              <a:buAutoNum type="arabicPeriod"/>
            </a:pPr>
            <a:endParaRPr lang="en-US" smtClean="0"/>
          </a:p>
          <a:p>
            <a:pPr marL="625450" indent="-625450" eaLnBrk="1" hangingPunct="1">
              <a:buFont typeface="Arial" charset="0"/>
              <a:buAutoNum type="arabicPeriod"/>
            </a:pPr>
            <a:endParaRPr lang="en-US" smtClean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>
          <a:xfrm>
            <a:off x="0" y="4876800"/>
            <a:ext cx="10058400" cy="1706880"/>
          </a:xfrm>
        </p:spPr>
        <p:txBody>
          <a:bodyPr/>
          <a:lstStyle/>
          <a:p>
            <a:pPr algn="ctr" eaLnBrk="1" hangingPunct="1"/>
            <a:r>
              <a:rPr lang="en-US" sz="6000" dirty="0" smtClean="0"/>
              <a:t>Native Americans Map Project</a:t>
            </a:r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>
          <a:xfrm>
            <a:off x="0" y="406400"/>
            <a:ext cx="9136380" cy="4470400"/>
          </a:xfrm>
        </p:spPr>
        <p:txBody>
          <a:bodyPr/>
          <a:lstStyle/>
          <a:p>
            <a:pPr eaLnBrk="1" hangingPunct="1"/>
            <a:r>
              <a:rPr lang="en-US" smtClean="0"/>
              <a:t>Using a blank world map and our previous notes identify on a map the following tribes/peoples.</a:t>
            </a:r>
          </a:p>
          <a:p>
            <a:pPr lvl="1" eaLnBrk="1" hangingPunct="1"/>
            <a:endParaRPr lang="en-US" smtClean="0"/>
          </a:p>
          <a:p>
            <a:pPr lvl="1" eaLnBrk="1" hangingPunct="1"/>
            <a:endParaRPr lang="en-US" smtClean="0"/>
          </a:p>
          <a:p>
            <a:pPr lvl="1" eaLnBrk="1" hangingPunct="1"/>
            <a:endParaRPr lang="en-US" smtClean="0"/>
          </a:p>
          <a:p>
            <a:pPr lvl="1" eaLnBrk="1" hangingPunct="1"/>
            <a:endParaRPr lang="en-US" smtClean="0"/>
          </a:p>
          <a:p>
            <a:pPr lvl="1" eaLnBrk="1" hangingPunct="1"/>
            <a:endParaRPr lang="en-US" smtClean="0"/>
          </a:p>
          <a:p>
            <a:pPr lvl="1" eaLnBrk="1" hangingPunct="1"/>
            <a:endParaRPr lang="en-US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9100" y="1598507"/>
          <a:ext cx="9304020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2010"/>
                <a:gridCol w="4652010"/>
              </a:tblGrid>
              <a:tr h="3576320">
                <a:tc>
                  <a:txBody>
                    <a:bodyPr/>
                    <a:lstStyle/>
                    <a:p>
                      <a:pPr lvl="1"/>
                      <a:r>
                        <a:rPr lang="en-US" sz="4000" dirty="0" smtClean="0"/>
                        <a:t>Inuit</a:t>
                      </a:r>
                    </a:p>
                    <a:p>
                      <a:pPr lvl="1"/>
                      <a:r>
                        <a:rPr lang="en-US" sz="4000" dirty="0" err="1" smtClean="0"/>
                        <a:t>Haida</a:t>
                      </a:r>
                      <a:r>
                        <a:rPr lang="en-US" sz="4000" dirty="0" smtClean="0"/>
                        <a:t> and Tlingit</a:t>
                      </a:r>
                    </a:p>
                    <a:p>
                      <a:pPr lvl="1"/>
                      <a:r>
                        <a:rPr lang="en-US" sz="4000" dirty="0" smtClean="0"/>
                        <a:t>Maya</a:t>
                      </a:r>
                    </a:p>
                    <a:p>
                      <a:pPr lvl="1"/>
                      <a:r>
                        <a:rPr lang="en-US" sz="4000" dirty="0" smtClean="0"/>
                        <a:t>Inca</a:t>
                      </a:r>
                    </a:p>
                    <a:p>
                      <a:endParaRPr lang="en-US" sz="3100" dirty="0"/>
                    </a:p>
                  </a:txBody>
                  <a:tcPr marL="100584" marR="100584" marT="65024" marB="65024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Hohokam</a:t>
                      </a:r>
                    </a:p>
                    <a:p>
                      <a:r>
                        <a:rPr lang="en-US" sz="4000" dirty="0" smtClean="0"/>
                        <a:t>Apache</a:t>
                      </a:r>
                    </a:p>
                    <a:p>
                      <a:r>
                        <a:rPr lang="en-US" sz="4000" dirty="0" smtClean="0"/>
                        <a:t>Navajo</a:t>
                      </a:r>
                    </a:p>
                    <a:p>
                      <a:r>
                        <a:rPr lang="en-US" sz="4000" dirty="0" smtClean="0"/>
                        <a:t>Aztec</a:t>
                      </a:r>
                      <a:endParaRPr lang="en-US" sz="4000" dirty="0"/>
                    </a:p>
                  </a:txBody>
                  <a:tcPr marL="100584" marR="100584" marT="65024" marB="65024"/>
                </a:tc>
              </a:tr>
            </a:tbl>
          </a:graphicData>
        </a:graphic>
      </p:graphicFrame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 descr="http://0.tqn.com/d/geography/1/0/A/H/usa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0"/>
            <a:ext cx="8381999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800" b="1" u="sng">
                <a:solidFill>
                  <a:srgbClr val="FF0000"/>
                </a:solidFill>
              </a:rPr>
              <a:t>Warm Up: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" y="406400"/>
            <a:ext cx="5615940" cy="4174928"/>
          </a:xfrm>
          <a:prstGeom prst="rect">
            <a:avLst/>
          </a:prstGeom>
          <a:noFill/>
        </p:spPr>
        <p:txBody>
          <a:bodyPr lIns="111191" tIns="55596" rIns="111191" bIns="5559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u="sng" dirty="0">
                <a:solidFill>
                  <a:srgbClr val="FF0000"/>
                </a:solidFill>
                <a:latin typeface="+mn-lt"/>
                <a:cs typeface="+mn-cs"/>
              </a:rPr>
              <a:t>Warm up Activity: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400" dirty="0">
                <a:latin typeface="+mn-lt"/>
                <a:cs typeface="+mn-cs"/>
              </a:rPr>
              <a:t>The Mayas are talked about in the news all of the time, why are people still talking about them?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400" dirty="0">
                <a:latin typeface="+mn-lt"/>
                <a:cs typeface="+mn-cs"/>
              </a:rPr>
              <a:t>Do you see any reason that the Aztec’s could NOT have made a city out of solid gold?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400" b="1" dirty="0">
                <a:latin typeface="+mn-lt"/>
                <a:cs typeface="+mn-cs"/>
              </a:rPr>
              <a:t>OCSR:</a:t>
            </a:r>
            <a:r>
              <a:rPr lang="en-US" sz="2400" dirty="0">
                <a:latin typeface="+mn-lt"/>
                <a:cs typeface="+mn-cs"/>
              </a:rPr>
              <a:t>  How many official jobs does the Vice President have according to the constitution?</a:t>
            </a:r>
            <a:endParaRPr lang="en-US" sz="2400" b="1" dirty="0">
              <a:latin typeface="+mn-lt"/>
              <a:cs typeface="+mn-cs"/>
            </a:endParaRP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400" b="1" dirty="0">
                <a:latin typeface="+mn-lt"/>
                <a:cs typeface="+mn-cs"/>
              </a:rPr>
              <a:t>Define:  Drought, Federation</a:t>
            </a:r>
            <a:endParaRPr lang="en-US" sz="2400" dirty="0">
              <a:latin typeface="+mn-lt"/>
              <a:cs typeface="+mn-cs"/>
            </a:endParaRPr>
          </a:p>
        </p:txBody>
      </p:sp>
      <p:pic>
        <p:nvPicPr>
          <p:cNvPr id="67588" name="Picture 2" descr="http://t3.gstatic.com/images?q=tbn:ANd9GcSqKdoEcQdQ0Gj-5Qtn68jz28AwTe0zlckbTt8yZQ_G0cxDiTzrTrN6aw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948267"/>
            <a:ext cx="3251200" cy="4660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elay 10"/>
          <p:cNvSpPr/>
          <p:nvPr/>
        </p:nvSpPr>
        <p:spPr>
          <a:xfrm>
            <a:off x="83820" y="731521"/>
            <a:ext cx="5631180" cy="4648765"/>
          </a:xfrm>
          <a:prstGeom prst="flowChartDelay">
            <a:avLst/>
          </a:prstGeom>
          <a:solidFill>
            <a:schemeClr val="tx1">
              <a:lumMod val="75000"/>
              <a:lumOff val="25000"/>
              <a:alpha val="1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6195" y="5380991"/>
            <a:ext cx="9786018" cy="943275"/>
          </a:xfrm>
          <a:prstGeom prst="rect">
            <a:avLst/>
          </a:prstGeom>
          <a:solidFill>
            <a:schemeClr val="bg2"/>
          </a:solidFill>
        </p:spPr>
        <p:txBody>
          <a:bodyPr wrap="none" lIns="111191" tIns="55596" rIns="111191" bIns="55596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Daily Question to know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67640" y="851183"/>
            <a:ext cx="4931410" cy="4648764"/>
          </a:xfrm>
        </p:spPr>
        <p:txBody>
          <a:bodyPr rtlCol="0">
            <a:normAutofit lnSpcReduction="100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dirty="0" smtClean="0">
                <a:latin typeface="Bauhaus 93" pitchFamily="82" charset="0"/>
              </a:rPr>
              <a:t>Question: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 smtClean="0"/>
              <a:t>How does repetition help you to remember certain things?  Does this method work for everybody?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 smtClean="0"/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/>
              <a:t>SS.8.A.1.6:  Compare interpretations of key events and issues throughout American History.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endParaRPr lang="en-US" dirty="0"/>
          </a:p>
        </p:txBody>
      </p:sp>
      <p:sp>
        <p:nvSpPr>
          <p:cNvPr id="10" name="Flowchart: Alternate Process 9"/>
          <p:cNvSpPr/>
          <p:nvPr/>
        </p:nvSpPr>
        <p:spPr>
          <a:xfrm>
            <a:off x="640875" y="5499947"/>
            <a:ext cx="8914606" cy="975360"/>
          </a:xfrm>
          <a:prstGeom prst="flowChartAlternateProcess">
            <a:avLst/>
          </a:prstGeom>
          <a:solidFill>
            <a:schemeClr val="tx1">
              <a:lumMod val="65000"/>
              <a:lumOff val="3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8614" name="Picture 2" descr="http://www.allmusclenofat.com/wp-content/uploads/2011/10/improper-weight-lifting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120" y="839894"/>
            <a:ext cx="4239895" cy="4104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3"/>
          <p:cNvSpPr>
            <a:spLocks noGrp="1"/>
          </p:cNvSpPr>
          <p:nvPr>
            <p:ph type="title"/>
          </p:nvPr>
        </p:nvSpPr>
        <p:spPr>
          <a:xfrm>
            <a:off x="0" y="298027"/>
            <a:ext cx="5312093" cy="747325"/>
          </a:xfrm>
        </p:spPr>
        <p:txBody>
          <a:bodyPr/>
          <a:lstStyle/>
          <a:p>
            <a:pPr eaLnBrk="1" hangingPunct="1"/>
            <a:r>
              <a:rPr lang="en-US" sz="2900" b="1" u="sng"/>
              <a:t>Unit  I Vocabulary Bingo!!!</a:t>
            </a:r>
          </a:p>
        </p:txBody>
      </p:sp>
      <p:sp>
        <p:nvSpPr>
          <p:cNvPr id="2" name="Rectangle 1"/>
          <p:cNvSpPr/>
          <p:nvPr/>
        </p:nvSpPr>
        <p:spPr>
          <a:xfrm>
            <a:off x="3939540" y="2366151"/>
            <a:ext cx="5699760" cy="3982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4945380" y="2366151"/>
            <a:ext cx="0" cy="3982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118860" y="2366151"/>
            <a:ext cx="0" cy="3982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376160" y="2366151"/>
            <a:ext cx="0" cy="3982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8633460" y="2366151"/>
            <a:ext cx="0" cy="3982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3855720" y="2772551"/>
            <a:ext cx="57835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3939540" y="4154311"/>
            <a:ext cx="57835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3939540" y="4885831"/>
            <a:ext cx="57835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3939540" y="5698631"/>
            <a:ext cx="57835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3855720" y="3504071"/>
            <a:ext cx="57835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-Point Star 20"/>
          <p:cNvSpPr/>
          <p:nvPr/>
        </p:nvSpPr>
        <p:spPr>
          <a:xfrm>
            <a:off x="6370320" y="4154311"/>
            <a:ext cx="754380" cy="65024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939540" y="1598507"/>
            <a:ext cx="5951220" cy="1127941"/>
          </a:xfrm>
          <a:prstGeom prst="rect">
            <a:avLst/>
          </a:prstGeom>
          <a:noFill/>
        </p:spPr>
        <p:txBody>
          <a:bodyPr lIns="111191" tIns="55596" rIns="111191" bIns="55596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600" b="1" spc="61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B    I    N  </a:t>
            </a:r>
            <a:r>
              <a:rPr lang="en-US" sz="6600" b="1" spc="61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G  O</a:t>
            </a:r>
            <a:endParaRPr lang="en-US" sz="6600" b="1" spc="61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lt"/>
              <a:cs typeface="+mn-cs"/>
            </a:endParaRPr>
          </a:p>
        </p:txBody>
      </p:sp>
      <p:sp>
        <p:nvSpPr>
          <p:cNvPr id="69647" name="TextBox 22"/>
          <p:cNvSpPr txBox="1">
            <a:spLocks noChangeArrowheads="1"/>
          </p:cNvSpPr>
          <p:nvPr/>
        </p:nvSpPr>
        <p:spPr bwMode="auto">
          <a:xfrm>
            <a:off x="4945380" y="390596"/>
            <a:ext cx="4945380" cy="128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1191" tIns="55596" rIns="111191" bIns="5559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eaLnBrk="1" hangingPunct="1"/>
            <a:r>
              <a:rPr lang="en-US" sz="1900"/>
              <a:t>Create a bingo chart similar to the one below.  You may need to use words multiple times.  You can’t use any word more than twice.  Place them in a random order!!!</a:t>
            </a:r>
          </a:p>
        </p:txBody>
      </p:sp>
      <p:sp>
        <p:nvSpPr>
          <p:cNvPr id="69648" name="Content Placeholder 2"/>
          <p:cNvSpPr>
            <a:spLocks noGrp="1"/>
          </p:cNvSpPr>
          <p:nvPr>
            <p:ph sz="quarter" idx="1"/>
          </p:nvPr>
        </p:nvSpPr>
        <p:spPr>
          <a:xfrm>
            <a:off x="83820" y="1431432"/>
            <a:ext cx="2346960" cy="5368996"/>
          </a:xfrm>
        </p:spPr>
        <p:txBody>
          <a:bodyPr/>
          <a:lstStyle/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800"/>
              <a:t>Archaeology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800"/>
              <a:t>Artifact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800"/>
              <a:t>Ice Age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800"/>
              <a:t>Migration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800"/>
              <a:t>Culture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800"/>
              <a:t>Civilization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800"/>
              <a:t>Theocracy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800"/>
              <a:t>Hieroglyphics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800"/>
              <a:t>Terrace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800"/>
              <a:t>Drought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800"/>
              <a:t>Adobe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800"/>
              <a:t>Federation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800"/>
              <a:t>Bartholomeu Dias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r>
              <a:rPr lang="en-US" sz="1800"/>
              <a:t>Vasco da Gama</a:t>
            </a:r>
          </a:p>
          <a:p>
            <a:pPr marL="625450" indent="-625450" eaLnBrk="1" hangingPunct="1">
              <a:buFont typeface="Impact" pitchFamily="34" charset="0"/>
              <a:buAutoNum type="arabicPeriod"/>
            </a:pPr>
            <a:endParaRPr lang="en-US" sz="1800"/>
          </a:p>
        </p:txBody>
      </p:sp>
      <p:sp>
        <p:nvSpPr>
          <p:cNvPr id="69649" name="Content Placeholder 2"/>
          <p:cNvSpPr>
            <a:spLocks noGrp="1"/>
          </p:cNvSpPr>
          <p:nvPr>
            <p:ph sz="quarter" idx="1"/>
          </p:nvPr>
        </p:nvSpPr>
        <p:spPr>
          <a:xfrm>
            <a:off x="1927860" y="1431432"/>
            <a:ext cx="2011680" cy="4827129"/>
          </a:xfrm>
        </p:spPr>
        <p:txBody>
          <a:bodyPr/>
          <a:lstStyle/>
          <a:p>
            <a:pPr marL="625450" indent="-625450" eaLnBrk="1" hangingPunct="1">
              <a:buFont typeface="Impact" pitchFamily="34" charset="0"/>
              <a:buAutoNum type="arabicPeriod" startAt="15"/>
            </a:pPr>
            <a:r>
              <a:rPr lang="en-US" sz="1700" dirty="0"/>
              <a:t>Juan Ponce de Leon</a:t>
            </a:r>
          </a:p>
          <a:p>
            <a:pPr marL="625450" indent="-625450" eaLnBrk="1" hangingPunct="1">
              <a:buFont typeface="Impact" pitchFamily="34" charset="0"/>
              <a:buAutoNum type="arabicPeriod" startAt="15"/>
            </a:pPr>
            <a:r>
              <a:rPr lang="en-US" sz="1700" dirty="0"/>
              <a:t>Montezuma</a:t>
            </a:r>
          </a:p>
          <a:p>
            <a:pPr marL="625450" indent="-625450" eaLnBrk="1" hangingPunct="1">
              <a:buFont typeface="Impact" pitchFamily="34" charset="0"/>
              <a:buAutoNum type="arabicPeriod" startAt="15"/>
            </a:pPr>
            <a:r>
              <a:rPr lang="en-US" sz="1700" dirty="0"/>
              <a:t>Ferdinand Magellan</a:t>
            </a:r>
          </a:p>
          <a:p>
            <a:pPr marL="625450" indent="-625450" eaLnBrk="1" hangingPunct="1">
              <a:buFont typeface="Impact" pitchFamily="34" charset="0"/>
              <a:buAutoNum type="arabicPeriod" startAt="15"/>
            </a:pPr>
            <a:r>
              <a:rPr lang="en-US" sz="1700" dirty="0"/>
              <a:t>Astrolabe</a:t>
            </a:r>
          </a:p>
          <a:p>
            <a:pPr marL="625450" indent="-625450" eaLnBrk="1" hangingPunct="1">
              <a:buFont typeface="Impact" pitchFamily="34" charset="0"/>
              <a:buAutoNum type="arabicPeriod" startAt="15"/>
            </a:pPr>
            <a:r>
              <a:rPr lang="en-US" sz="1700" dirty="0"/>
              <a:t>Caravel</a:t>
            </a:r>
          </a:p>
          <a:p>
            <a:pPr marL="625450" indent="-625450" eaLnBrk="1" hangingPunct="1">
              <a:buFont typeface="Impact" pitchFamily="34" charset="0"/>
              <a:buAutoNum type="arabicPeriod" startAt="15"/>
            </a:pPr>
            <a:r>
              <a:rPr lang="en-US" sz="1700" dirty="0"/>
              <a:t>Pilgrimage</a:t>
            </a:r>
          </a:p>
          <a:p>
            <a:pPr marL="625450" indent="-625450" eaLnBrk="1" hangingPunct="1">
              <a:buFont typeface="Impact" pitchFamily="34" charset="0"/>
              <a:buAutoNum type="arabicPeriod" startAt="15"/>
            </a:pPr>
            <a:r>
              <a:rPr lang="en-US" sz="1700" dirty="0"/>
              <a:t>Mosque</a:t>
            </a:r>
          </a:p>
          <a:p>
            <a:pPr marL="625450" indent="-625450" eaLnBrk="1" hangingPunct="1">
              <a:buFont typeface="Impact" pitchFamily="34" charset="0"/>
              <a:buAutoNum type="arabicPeriod" startAt="15"/>
            </a:pPr>
            <a:r>
              <a:rPr lang="en-US" sz="1700" dirty="0"/>
              <a:t>Conquistador</a:t>
            </a:r>
          </a:p>
          <a:p>
            <a:pPr marL="625450" indent="-625450" eaLnBrk="1" hangingPunct="1">
              <a:buFont typeface="Impact" pitchFamily="34" charset="0"/>
              <a:buAutoNum type="arabicPeriod" startAt="15"/>
            </a:pPr>
            <a:r>
              <a:rPr lang="en-US" sz="1700" dirty="0"/>
              <a:t>Pueblo</a:t>
            </a:r>
          </a:p>
          <a:p>
            <a:pPr marL="625450" indent="-625450" eaLnBrk="1" hangingPunct="1">
              <a:buFont typeface="Impact" pitchFamily="34" charset="0"/>
              <a:buAutoNum type="arabicPeriod" startAt="15"/>
            </a:pPr>
            <a:r>
              <a:rPr lang="en-US" sz="1700" dirty="0"/>
              <a:t>Mission</a:t>
            </a:r>
          </a:p>
          <a:p>
            <a:pPr marL="625450" indent="-625450" eaLnBrk="1" hangingPunct="1">
              <a:buFont typeface="Impact" pitchFamily="34" charset="0"/>
              <a:buAutoNum type="arabicPeriod" startAt="15"/>
            </a:pPr>
            <a:r>
              <a:rPr lang="en-US" sz="1700" dirty="0"/>
              <a:t>Plantation</a:t>
            </a:r>
          </a:p>
          <a:p>
            <a:pPr marL="625450" indent="-625450" eaLnBrk="1" hangingPunct="1">
              <a:buFont typeface="Impact" pitchFamily="34" charset="0"/>
              <a:buAutoNum type="arabicPeriod" startAt="15"/>
            </a:pPr>
            <a:r>
              <a:rPr lang="en-US" sz="1700" dirty="0"/>
              <a:t>Christopher Columbus</a:t>
            </a:r>
          </a:p>
          <a:p>
            <a:pPr marL="625450" indent="-625450" eaLnBrk="1" hangingPunct="1">
              <a:buFont typeface="Impact" pitchFamily="34" charset="0"/>
              <a:buAutoNum type="arabicPeriod" startAt="15"/>
            </a:pPr>
            <a:endParaRPr lang="en-US" sz="17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800" b="1" u="sng">
                <a:solidFill>
                  <a:srgbClr val="FF0000"/>
                </a:solidFill>
              </a:rPr>
              <a:t>Warm Up: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" y="406401"/>
            <a:ext cx="5867400" cy="5036703"/>
          </a:xfrm>
          <a:prstGeom prst="rect">
            <a:avLst/>
          </a:prstGeom>
          <a:noFill/>
        </p:spPr>
        <p:txBody>
          <a:bodyPr lIns="111191" tIns="55596" rIns="111191" bIns="5559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u="sng" dirty="0">
                <a:solidFill>
                  <a:srgbClr val="FF0000"/>
                </a:solidFill>
                <a:latin typeface="+mn-lt"/>
                <a:cs typeface="+mn-cs"/>
              </a:rPr>
              <a:t>Warm up Activity: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3200" dirty="0">
                <a:latin typeface="+mn-lt"/>
                <a:cs typeface="+mn-cs"/>
              </a:rPr>
              <a:t>What is a unique characteristic of the </a:t>
            </a:r>
            <a:r>
              <a:rPr lang="en-US" sz="3200" dirty="0" err="1">
                <a:latin typeface="+mn-lt"/>
                <a:cs typeface="+mn-cs"/>
              </a:rPr>
              <a:t>Anasazi</a:t>
            </a:r>
            <a:r>
              <a:rPr lang="en-US" sz="3200" dirty="0">
                <a:latin typeface="+mn-lt"/>
                <a:cs typeface="+mn-cs"/>
              </a:rPr>
              <a:t> tribe?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3200" dirty="0">
                <a:latin typeface="+mn-lt"/>
                <a:cs typeface="+mn-cs"/>
              </a:rPr>
              <a:t>What </a:t>
            </a:r>
            <a:r>
              <a:rPr lang="en-US" sz="3200" dirty="0" smtClean="0">
                <a:latin typeface="+mn-lt"/>
                <a:cs typeface="+mn-cs"/>
              </a:rPr>
              <a:t> is an Indian tribe that is </a:t>
            </a:r>
            <a:r>
              <a:rPr lang="en-US" sz="3200" dirty="0">
                <a:latin typeface="+mn-lt"/>
                <a:cs typeface="+mn-cs"/>
              </a:rPr>
              <a:t>native to Florida?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3200" b="1" dirty="0">
                <a:latin typeface="+mn-lt"/>
                <a:cs typeface="+mn-cs"/>
              </a:rPr>
              <a:t>OCSR:</a:t>
            </a:r>
            <a:r>
              <a:rPr lang="en-US" sz="3200" dirty="0">
                <a:latin typeface="+mn-lt"/>
                <a:cs typeface="+mn-cs"/>
              </a:rPr>
              <a:t>  When would a Vice President take over for the President</a:t>
            </a:r>
            <a:r>
              <a:rPr lang="en-US" sz="3200" dirty="0" smtClean="0">
                <a:latin typeface="+mn-lt"/>
                <a:cs typeface="+mn-cs"/>
              </a:rPr>
              <a:t>? (list two scenarios)</a:t>
            </a:r>
            <a:endParaRPr lang="en-US" sz="3200" b="1" dirty="0">
              <a:latin typeface="+mn-lt"/>
              <a:cs typeface="+mn-cs"/>
            </a:endParaRP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3200" b="1" dirty="0">
                <a:latin typeface="+mn-lt"/>
                <a:cs typeface="+mn-cs"/>
              </a:rPr>
              <a:t>Define:  Hieroglyphics, Theocracy</a:t>
            </a:r>
            <a:endParaRPr lang="en-US" sz="3200" dirty="0">
              <a:latin typeface="+mn-lt"/>
              <a:cs typeface="+mn-cs"/>
            </a:endParaRPr>
          </a:p>
        </p:txBody>
      </p:sp>
      <p:pic>
        <p:nvPicPr>
          <p:cNvPr id="70660" name="Picture 2" descr="http://t0.gstatic.com/images?q=tbn:ANd9GcRhF_eQXPFd6PW5M7XWlXdR4u5RzDCgzYYDE69kJCK5NSSjmnQjy5Qa6bNr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056639"/>
            <a:ext cx="3154680" cy="3770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elay 10"/>
          <p:cNvSpPr/>
          <p:nvPr/>
        </p:nvSpPr>
        <p:spPr>
          <a:xfrm>
            <a:off x="83820" y="731521"/>
            <a:ext cx="5364480" cy="4648765"/>
          </a:xfrm>
          <a:prstGeom prst="flowChartDelay">
            <a:avLst/>
          </a:prstGeom>
          <a:solidFill>
            <a:schemeClr val="tx1">
              <a:lumMod val="75000"/>
              <a:lumOff val="25000"/>
              <a:alpha val="1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6195" y="5380991"/>
            <a:ext cx="9786018" cy="943275"/>
          </a:xfrm>
          <a:prstGeom prst="rect">
            <a:avLst/>
          </a:prstGeom>
          <a:solidFill>
            <a:schemeClr val="bg2"/>
          </a:solidFill>
        </p:spPr>
        <p:txBody>
          <a:bodyPr wrap="none" lIns="111191" tIns="55596" rIns="111191" bIns="55596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Daily Question to know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67640" y="851183"/>
            <a:ext cx="4931410" cy="4648764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dirty="0" smtClean="0">
                <a:latin typeface="Bauhaus 93" pitchFamily="82" charset="0"/>
              </a:rPr>
              <a:t>Question: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 smtClean="0"/>
              <a:t>What sort of grade should you get on a take home exam?  Why?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 smtClean="0"/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/>
              <a:t>SS.8.A.1.6:  Compare interpretations of key events and issues throughout American History.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endParaRPr lang="en-US" dirty="0"/>
          </a:p>
        </p:txBody>
      </p:sp>
      <p:sp>
        <p:nvSpPr>
          <p:cNvPr id="10" name="Flowchart: Alternate Process 9"/>
          <p:cNvSpPr/>
          <p:nvPr/>
        </p:nvSpPr>
        <p:spPr>
          <a:xfrm>
            <a:off x="640875" y="5499947"/>
            <a:ext cx="8914606" cy="975360"/>
          </a:xfrm>
          <a:prstGeom prst="flowChartAlternateProcess">
            <a:avLst/>
          </a:prstGeom>
          <a:solidFill>
            <a:schemeClr val="tx1">
              <a:lumMod val="65000"/>
              <a:lumOff val="3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71686" name="Picture 2" descr="http://t1.gstatic.com/images?q=tbn:ANd9GcQI1X0CZ-IIdhC5I6OoHuLn-m7ZbQZMdVoE6K7BBzX388f-9hswUJBkYCE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835" y="731520"/>
            <a:ext cx="2062321" cy="3901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When you get to this slide do the vocabulary Bingo, then the quiz the following day.</a:t>
            </a:r>
            <a:endParaRPr lang="en-US" dirty="0"/>
          </a:p>
        </p:txBody>
      </p:sp>
      <p:sp>
        <p:nvSpPr>
          <p:cNvPr id="72707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VOCAB QUIZ </a:t>
            </a:r>
            <a:r>
              <a:rPr lang="en-US" sz="3900" u="sng">
                <a:solidFill>
                  <a:srgbClr val="FF0000"/>
                </a:solidFill>
              </a:rPr>
              <a:t>(16pts)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Anything above this slide is eligible to be on the quiz for Unit I.</a:t>
            </a:r>
            <a:endParaRPr lang="en-US" dirty="0"/>
          </a:p>
        </p:txBody>
      </p:sp>
      <p:sp>
        <p:nvSpPr>
          <p:cNvPr id="73731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QUIZ BREAK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800" b="1" u="sng">
                <a:solidFill>
                  <a:srgbClr val="FF0000"/>
                </a:solidFill>
              </a:rPr>
              <a:t>Warm Up: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" y="298027"/>
            <a:ext cx="6202680" cy="4575038"/>
          </a:xfrm>
          <a:prstGeom prst="rect">
            <a:avLst/>
          </a:prstGeom>
          <a:noFill/>
        </p:spPr>
        <p:txBody>
          <a:bodyPr lIns="111191" tIns="55596" rIns="111191" bIns="5559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u="sng" dirty="0">
                <a:solidFill>
                  <a:srgbClr val="FF0000"/>
                </a:solidFill>
                <a:latin typeface="+mn-lt"/>
                <a:cs typeface="+mn-cs"/>
              </a:rPr>
              <a:t>Warm up Activity: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Why were many Native American tribes Nomadic?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How could a society change if it was in one permanent </a:t>
            </a:r>
            <a:r>
              <a:rPr lang="en-US" sz="2900" dirty="0" smtClean="0">
                <a:latin typeface="+mn-lt"/>
                <a:cs typeface="+mn-cs"/>
              </a:rPr>
              <a:t>location, why?</a:t>
            </a:r>
            <a:endParaRPr lang="en-US" sz="2900" dirty="0">
              <a:latin typeface="+mn-lt"/>
              <a:cs typeface="+mn-cs"/>
            </a:endParaRP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OCSR:  </a:t>
            </a:r>
            <a:r>
              <a:rPr lang="en-US" sz="2900" dirty="0" smtClean="0">
                <a:latin typeface="+mn-lt"/>
                <a:cs typeface="+mn-cs"/>
              </a:rPr>
              <a:t>Describe the steps needed to create a vocabulary poster.</a:t>
            </a:r>
            <a:endParaRPr lang="en-US" sz="2900" dirty="0">
              <a:latin typeface="+mn-lt"/>
              <a:cs typeface="+mn-cs"/>
            </a:endParaRP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Define: Christopher Columbus, Caravel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900" dirty="0">
              <a:latin typeface="+mn-lt"/>
              <a:cs typeface="+mn-cs"/>
            </a:endParaRPr>
          </a:p>
        </p:txBody>
      </p:sp>
      <p:pic>
        <p:nvPicPr>
          <p:cNvPr id="74756" name="Picture 2" descr="http://www.oocities.org/southbeach/cove/8286/iroquoi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514774"/>
            <a:ext cx="3359785" cy="5960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800" b="1" u="sng">
                <a:solidFill>
                  <a:srgbClr val="FF0000"/>
                </a:solidFill>
              </a:rPr>
              <a:t>Warm Up: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" y="298027"/>
            <a:ext cx="6202680" cy="5021314"/>
          </a:xfrm>
          <a:prstGeom prst="rect">
            <a:avLst/>
          </a:prstGeom>
          <a:noFill/>
        </p:spPr>
        <p:txBody>
          <a:bodyPr lIns="111191" tIns="55596" rIns="111191" bIns="5559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u="sng" dirty="0">
                <a:solidFill>
                  <a:srgbClr val="FF0000"/>
                </a:solidFill>
                <a:latin typeface="+mn-lt"/>
                <a:cs typeface="+mn-cs"/>
              </a:rPr>
              <a:t>Warm up Activity: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How were the members of the Iroquois nation a more complex culture than previous tribes?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What does it mean to be </a:t>
            </a:r>
            <a:r>
              <a:rPr lang="en-US" sz="2900" b="1" dirty="0">
                <a:latin typeface="+mn-lt"/>
                <a:cs typeface="+mn-cs"/>
              </a:rPr>
              <a:t>nomadic</a:t>
            </a:r>
            <a:r>
              <a:rPr lang="en-US" sz="2900" dirty="0">
                <a:latin typeface="+mn-lt"/>
                <a:cs typeface="+mn-cs"/>
              </a:rPr>
              <a:t> and which of the discussed tribes were nomads?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OCSR:  </a:t>
            </a:r>
            <a:r>
              <a:rPr lang="en-US" sz="2900" dirty="0">
                <a:latin typeface="+mn-lt"/>
                <a:cs typeface="+mn-cs"/>
              </a:rPr>
              <a:t>How is the President of the United States elected?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Define: Caravel, Conquistador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900" dirty="0">
              <a:latin typeface="+mn-lt"/>
              <a:cs typeface="+mn-cs"/>
            </a:endParaRPr>
          </a:p>
        </p:txBody>
      </p:sp>
      <p:pic>
        <p:nvPicPr>
          <p:cNvPr id="75780" name="Picture 2" descr="http://www.oocities.org/southbeach/cove/8286/iroquoi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514774"/>
            <a:ext cx="3359785" cy="5960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800" b="1" u="sng">
                <a:solidFill>
                  <a:srgbClr val="FF0000"/>
                </a:solidFill>
              </a:rPr>
              <a:t>Warm Up: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" y="298027"/>
            <a:ext cx="6202680" cy="5467590"/>
          </a:xfrm>
          <a:prstGeom prst="rect">
            <a:avLst/>
          </a:prstGeom>
          <a:noFill/>
        </p:spPr>
        <p:txBody>
          <a:bodyPr lIns="111191" tIns="55596" rIns="111191" bIns="5559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u="sng" dirty="0">
                <a:solidFill>
                  <a:srgbClr val="FF0000"/>
                </a:solidFill>
                <a:latin typeface="+mn-lt"/>
                <a:cs typeface="+mn-cs"/>
              </a:rPr>
              <a:t>Warm up Activity: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What is a privateer, how did you know this from the reading?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Why is not always a good idea to have your family work with or for you (think of Columbus’ brothers)?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OCSR:  </a:t>
            </a:r>
            <a:r>
              <a:rPr lang="en-US" sz="2900" dirty="0">
                <a:latin typeface="+mn-lt"/>
                <a:cs typeface="+mn-cs"/>
              </a:rPr>
              <a:t>During the Age of Exploration how many continents did they think there were in the world?  What were they?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Define: Pilgrimage, Mission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900" dirty="0">
              <a:latin typeface="+mn-lt"/>
              <a:cs typeface="+mn-cs"/>
            </a:endParaRPr>
          </a:p>
        </p:txBody>
      </p:sp>
      <p:pic>
        <p:nvPicPr>
          <p:cNvPr id="76804" name="Picture 2" descr="http://t3.gstatic.com/images?q=tbn:ANd9GcSrl5BeN8gGidhBiP5tNfrmlr1QPG7DHmVMGKv7E53JV3NtDJJ7Fh1K2M_3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335" y="1056640"/>
            <a:ext cx="3338830" cy="325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elay 10"/>
          <p:cNvSpPr/>
          <p:nvPr/>
        </p:nvSpPr>
        <p:spPr>
          <a:xfrm>
            <a:off x="83820" y="731521"/>
            <a:ext cx="5364480" cy="4648765"/>
          </a:xfrm>
          <a:prstGeom prst="flowChartDelay">
            <a:avLst/>
          </a:prstGeom>
          <a:solidFill>
            <a:schemeClr val="tx1">
              <a:lumMod val="75000"/>
              <a:lumOff val="25000"/>
              <a:alpha val="1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6195" y="5380991"/>
            <a:ext cx="9786018" cy="943275"/>
          </a:xfrm>
          <a:prstGeom prst="rect">
            <a:avLst/>
          </a:prstGeom>
          <a:solidFill>
            <a:schemeClr val="bg2"/>
          </a:solidFill>
        </p:spPr>
        <p:txBody>
          <a:bodyPr wrap="none" lIns="111191" tIns="55596" rIns="111191" bIns="55596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Daily Question to know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67640" y="851183"/>
            <a:ext cx="4931410" cy="4648764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dirty="0" smtClean="0">
                <a:latin typeface="Bauhaus 93" pitchFamily="82" charset="0"/>
              </a:rPr>
              <a:t>Question: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 smtClean="0"/>
              <a:t>What were the reasons that people began to explore the world?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 smtClean="0"/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/>
              <a:t>SS.8.A.1.6:  Compare interpretations of key events and issues throughout American History.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endParaRPr lang="en-US" dirty="0"/>
          </a:p>
        </p:txBody>
      </p:sp>
      <p:sp>
        <p:nvSpPr>
          <p:cNvPr id="10" name="Flowchart: Alternate Process 9"/>
          <p:cNvSpPr/>
          <p:nvPr/>
        </p:nvSpPr>
        <p:spPr>
          <a:xfrm>
            <a:off x="640875" y="5499947"/>
            <a:ext cx="8914606" cy="975360"/>
          </a:xfrm>
          <a:prstGeom prst="flowChartAlternateProcess">
            <a:avLst/>
          </a:prstGeom>
          <a:solidFill>
            <a:schemeClr val="tx1">
              <a:lumMod val="65000"/>
              <a:lumOff val="3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77830" name="Picture 2" descr="http://bvapush.pbworks.com/f/carave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448" y="948267"/>
            <a:ext cx="4278313" cy="411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elay 10"/>
          <p:cNvSpPr/>
          <p:nvPr/>
        </p:nvSpPr>
        <p:spPr>
          <a:xfrm>
            <a:off x="83820" y="731521"/>
            <a:ext cx="5364480" cy="4648765"/>
          </a:xfrm>
          <a:prstGeom prst="flowChartDelay">
            <a:avLst/>
          </a:prstGeom>
          <a:solidFill>
            <a:schemeClr val="tx1">
              <a:lumMod val="75000"/>
              <a:lumOff val="25000"/>
              <a:alpha val="1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6195" y="5380991"/>
            <a:ext cx="9786018" cy="943275"/>
          </a:xfrm>
          <a:prstGeom prst="rect">
            <a:avLst/>
          </a:prstGeom>
          <a:solidFill>
            <a:schemeClr val="bg2"/>
          </a:solidFill>
        </p:spPr>
        <p:txBody>
          <a:bodyPr wrap="none" lIns="111191" tIns="55596" rIns="111191" bIns="55596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Daily Question to know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67640" y="851183"/>
            <a:ext cx="4931410" cy="4648764"/>
          </a:xfrm>
        </p:spPr>
        <p:txBody>
          <a:bodyPr rtlCol="0">
            <a:normAutofit lnSpcReduction="100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dirty="0" smtClean="0">
                <a:latin typeface="Bauhaus 93" pitchFamily="82" charset="0"/>
              </a:rPr>
              <a:t>Question: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 smtClean="0"/>
              <a:t>What are three interesting facts about Columbus that you did not know prior to reading his biography?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 smtClean="0"/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/>
              <a:t>SS.8.A.1.6:  Compare interpretations of key events and issues throughout American History.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endParaRPr lang="en-US" dirty="0"/>
          </a:p>
        </p:txBody>
      </p:sp>
      <p:sp>
        <p:nvSpPr>
          <p:cNvPr id="10" name="Flowchart: Alternate Process 9"/>
          <p:cNvSpPr/>
          <p:nvPr/>
        </p:nvSpPr>
        <p:spPr>
          <a:xfrm>
            <a:off x="640875" y="5499947"/>
            <a:ext cx="8914606" cy="975360"/>
          </a:xfrm>
          <a:prstGeom prst="flowChartAlternateProcess">
            <a:avLst/>
          </a:prstGeom>
          <a:solidFill>
            <a:schemeClr val="tx1">
              <a:lumMod val="65000"/>
              <a:lumOff val="3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78854" name="Picture 2" descr="http://bvapush.pbworks.com/f/carave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448" y="948267"/>
            <a:ext cx="4278313" cy="411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elay 10"/>
          <p:cNvSpPr/>
          <p:nvPr/>
        </p:nvSpPr>
        <p:spPr>
          <a:xfrm>
            <a:off x="83820" y="731521"/>
            <a:ext cx="5364480" cy="4648765"/>
          </a:xfrm>
          <a:prstGeom prst="flowChartDelay">
            <a:avLst/>
          </a:prstGeom>
          <a:solidFill>
            <a:schemeClr val="tx1">
              <a:lumMod val="75000"/>
              <a:lumOff val="25000"/>
              <a:alpha val="1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6195" y="5380991"/>
            <a:ext cx="9786018" cy="943275"/>
          </a:xfrm>
          <a:prstGeom prst="rect">
            <a:avLst/>
          </a:prstGeom>
          <a:solidFill>
            <a:schemeClr val="bg2"/>
          </a:solidFill>
        </p:spPr>
        <p:txBody>
          <a:bodyPr wrap="none" lIns="111191" tIns="55596" rIns="111191" bIns="55596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Daily Question to know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67640" y="851183"/>
            <a:ext cx="4931410" cy="4648764"/>
          </a:xfrm>
        </p:spPr>
        <p:txBody>
          <a:bodyPr rtlCol="0">
            <a:normAutofit lnSpcReduction="100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dirty="0" smtClean="0">
                <a:latin typeface="Bauhaus 93" pitchFamily="82" charset="0"/>
              </a:rPr>
              <a:t>Question: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 smtClean="0"/>
              <a:t>Which of the three explorers studied today made the ‘riskiest’ voyage? Explain how/why.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 smtClean="0"/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/>
              <a:t>SS.8.A.1.6:  Compare interpretations of key events and issues throughout American History.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endParaRPr lang="en-US" dirty="0"/>
          </a:p>
        </p:txBody>
      </p:sp>
      <p:sp>
        <p:nvSpPr>
          <p:cNvPr id="10" name="Flowchart: Alternate Process 9"/>
          <p:cNvSpPr/>
          <p:nvPr/>
        </p:nvSpPr>
        <p:spPr>
          <a:xfrm>
            <a:off x="640875" y="5499947"/>
            <a:ext cx="8914606" cy="975360"/>
          </a:xfrm>
          <a:prstGeom prst="flowChartAlternateProcess">
            <a:avLst/>
          </a:prstGeom>
          <a:solidFill>
            <a:schemeClr val="tx1">
              <a:lumMod val="65000"/>
              <a:lumOff val="3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79878" name="Picture 2" descr="http://www.mce.k12tn.net/explorers/columbus_ships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948267"/>
            <a:ext cx="3667125" cy="3413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>
          <a:xfrm>
            <a:off x="0" y="293511"/>
            <a:ext cx="5783580" cy="1219200"/>
          </a:xfrm>
        </p:spPr>
        <p:txBody>
          <a:bodyPr/>
          <a:lstStyle/>
          <a:p>
            <a:pPr algn="ctr" eaLnBrk="1" hangingPunct="1"/>
            <a:r>
              <a:rPr lang="en-US" sz="3400">
                <a:latin typeface="Kristen ITC" pitchFamily="66" charset="0"/>
              </a:rPr>
              <a:t>Reasons for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06880"/>
            <a:ext cx="5196840" cy="4795520"/>
          </a:xfrm>
        </p:spPr>
        <p:txBody>
          <a:bodyPr rtlCol="0">
            <a:normAutofit fontScale="85000" lnSpcReduction="20000"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Three G’s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God, Glory, Gold.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Merchants could make tons of money selling goods from the Orient.  If they had direct routes they could cut out the middle man and make more money.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People wanted to spread Christianity.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During this time the </a:t>
            </a:r>
            <a:r>
              <a:rPr lang="en-US" b="1" dirty="0" smtClean="0">
                <a:solidFill>
                  <a:srgbClr val="7030A0"/>
                </a:solidFill>
              </a:rPr>
              <a:t>Renaissance</a:t>
            </a:r>
            <a:r>
              <a:rPr lang="en-US" dirty="0" smtClean="0"/>
              <a:t> was in full swing in Europe.  They wanted to continue to develop and utilize new technologies.</a:t>
            </a:r>
            <a:endParaRPr lang="en-US" dirty="0"/>
          </a:p>
        </p:txBody>
      </p:sp>
      <p:pic>
        <p:nvPicPr>
          <p:cNvPr id="80900" name="Picture 2" descr="http://t1.gstatic.com/images?q=tbn:ANd9GcTTiwOSBi36t1jr_lj0P-iz44KNYmHwATELK9kJH-MBiqlG-xY&amp;t=1&amp;usg=__2FiRf0x4L3T0qxSfoow-P2nFJWI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580" y="162561"/>
            <a:ext cx="4274820" cy="3120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01" name="Picture 4" descr="http://t0.gstatic.com/images?q=tbn:ANd9GcSmITnXiECfVUhExBm-xgN_H9IQibUYECmkuHZ9n2bWYlCUZgY&amp;t=1&amp;usg=__RSULIIjPa7PG3nx5w-OXXT7N8uE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481" y="3169920"/>
            <a:ext cx="2945924" cy="227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02" name="Picture 6" descr="http://t2.gstatic.com/images?q=tbn:ANd9GcQqjfpIWcF-X1bd78pVaW6dmuV24p94v_7Ul-bEMk3VNa-BFwU&amp;t=1&amp;usg=__BzChSw-1iCCcK5GIUCfCbxKDaK8=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9135" y="3820160"/>
            <a:ext cx="1739265" cy="3079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>
          <a:xfrm>
            <a:off x="0" y="5334000"/>
            <a:ext cx="6858000" cy="1706880"/>
          </a:xfrm>
        </p:spPr>
        <p:txBody>
          <a:bodyPr/>
          <a:lstStyle/>
          <a:p>
            <a:pPr eaLnBrk="1" hangingPunct="1"/>
            <a:r>
              <a:rPr lang="en-US" sz="2900" dirty="0">
                <a:latin typeface="Kristen ITC" pitchFamily="66" charset="0"/>
              </a:rPr>
              <a:t>Technology Allowed for Exploration</a:t>
            </a:r>
            <a:br>
              <a:rPr lang="en-US" sz="2900" dirty="0">
                <a:latin typeface="Kristen ITC" pitchFamily="66" charset="0"/>
              </a:rPr>
            </a:br>
            <a:r>
              <a:rPr lang="en-US" sz="2200" dirty="0">
                <a:solidFill>
                  <a:srgbClr val="FF0000"/>
                </a:solidFill>
                <a:latin typeface="Kristen ITC" pitchFamily="66" charset="0"/>
              </a:rPr>
              <a:t>Latitude and Longitude Map Homework (15pts)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16747"/>
            <a:ext cx="5448300" cy="5608320"/>
          </a:xfrm>
        </p:spPr>
        <p:txBody>
          <a:bodyPr/>
          <a:lstStyle/>
          <a:p>
            <a:pPr eaLnBrk="1" hangingPunct="1"/>
            <a:r>
              <a:rPr lang="en-US" smtClean="0"/>
              <a:t>Coming out of the </a:t>
            </a:r>
            <a:r>
              <a:rPr lang="en-US" b="1" smtClean="0">
                <a:solidFill>
                  <a:srgbClr val="FF0000"/>
                </a:solidFill>
              </a:rPr>
              <a:t>Renaissance</a:t>
            </a:r>
            <a:r>
              <a:rPr lang="en-US" smtClean="0">
                <a:solidFill>
                  <a:srgbClr val="FF0000"/>
                </a:solidFill>
              </a:rPr>
              <a:t> </a:t>
            </a:r>
            <a:r>
              <a:rPr lang="en-US" smtClean="0"/>
              <a:t>there was an abundance of new technology that allowed for easier exploration.</a:t>
            </a:r>
          </a:p>
          <a:p>
            <a:pPr eaLnBrk="1" hangingPunct="1"/>
            <a:r>
              <a:rPr lang="en-US" smtClean="0"/>
              <a:t>Better Maps and better ships were the two main advances which allowed for exploration.</a:t>
            </a:r>
          </a:p>
          <a:p>
            <a:pPr lvl="1" eaLnBrk="1" hangingPunct="1"/>
            <a:r>
              <a:rPr lang="en-US" smtClean="0"/>
              <a:t>Maps began to show the direction of ocean currents, and lines of latitude.  They also began to use a compass.</a:t>
            </a:r>
          </a:p>
        </p:txBody>
      </p:sp>
      <p:pic>
        <p:nvPicPr>
          <p:cNvPr id="81924" name="Picture 2" descr="http://t3.gstatic.com/images?q=tbn:ANd9GcSDVKUCibh7ZA-AgGpAT6fWzLOQxawKlTaBHPkGe3LnuJbfsDM&amp;t=1&amp;usg=__S5P_lvgpbploU1VzdD0X6yzn-xE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00" y="568960"/>
            <a:ext cx="4297522" cy="227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25" name="Picture 4" descr="http://t1.gstatic.com/images?q=tbn:ANd9GcTfWwrX5VpV_pjebVawBeURmKY8dOTBXoaPigJGPq-VAvpdWbU&amp;t=1&amp;usg=__kmo1SBzEWfgveTojm6D3SjLEcko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680" y="3169920"/>
            <a:ext cx="3017520" cy="2926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/>
          </p:nvPr>
        </p:nvSpPr>
        <p:spPr>
          <a:xfrm>
            <a:off x="4526280" y="-27093"/>
            <a:ext cx="5029200" cy="1219200"/>
          </a:xfrm>
        </p:spPr>
        <p:txBody>
          <a:bodyPr/>
          <a:lstStyle/>
          <a:p>
            <a:pPr eaLnBrk="1" hangingPunct="1"/>
            <a:r>
              <a:rPr lang="en-US" sz="2900">
                <a:latin typeface="Kristen ITC" pitchFamily="66" charset="0"/>
              </a:rPr>
              <a:t>African Trading Kingdoms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4820" y="975360"/>
            <a:ext cx="5196840" cy="5608320"/>
          </a:xfrm>
        </p:spPr>
        <p:txBody>
          <a:bodyPr/>
          <a:lstStyle/>
          <a:p>
            <a:pPr eaLnBrk="1" hangingPunct="1"/>
            <a:r>
              <a:rPr lang="en-US" smtClean="0"/>
              <a:t>The African Kingdoms on the west coast of Africa also benefited from these new technologies. </a:t>
            </a:r>
          </a:p>
          <a:p>
            <a:pPr eaLnBrk="1" hangingPunct="1"/>
            <a:r>
              <a:rPr lang="en-US" smtClean="0"/>
              <a:t>They traded gold, copper, and Iron with Islamic nations, as well as European nations.</a:t>
            </a:r>
          </a:p>
          <a:p>
            <a:pPr eaLnBrk="1" hangingPunct="1"/>
            <a:r>
              <a:rPr lang="en-US" smtClean="0"/>
              <a:t>Eventually they traded what?</a:t>
            </a:r>
          </a:p>
          <a:p>
            <a:pPr lvl="1" eaLnBrk="1" hangingPunct="1"/>
            <a:r>
              <a:rPr lang="en-US" smtClean="0"/>
              <a:t>Slaves.</a:t>
            </a:r>
          </a:p>
          <a:p>
            <a:pPr eaLnBrk="1" hangingPunct="1"/>
            <a:r>
              <a:rPr lang="en-US" smtClean="0"/>
              <a:t>How did the Slave trade begin?</a:t>
            </a:r>
          </a:p>
        </p:txBody>
      </p:sp>
      <p:pic>
        <p:nvPicPr>
          <p:cNvPr id="82948" name="Picture 2" descr="http://t1.gstatic.com/images?q=tbn:ANd9GcQxoaCrOSRXJoMYZM5dXWAo13XChY1Ox10nI_ROzssXYnqcC-Y&amp;t=1&amp;usg=__kLd5B6TJsKQnvMW11CP0Gv__dIw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" y="406400"/>
            <a:ext cx="3433128" cy="3169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49" name="Picture 4" descr="http://t0.gstatic.com/images?q=tbn:ANd9GcRUtRR8BtX1KvERuF7_amNo8cCzCjpg2YDFlgEPJsAfif4hPBU&amp;t=1&amp;usg=__ULTY0_QkNNc3-PpDtVfrF0VbMtc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20160"/>
            <a:ext cx="3003550" cy="2926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800">
                <a:latin typeface="Kristen ITC" pitchFamily="66" charset="0"/>
              </a:rPr>
              <a:t>Early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70933"/>
            <a:ext cx="4023360" cy="5337387"/>
          </a:xfrm>
        </p:spPr>
        <p:txBody>
          <a:bodyPr rtlCol="0">
            <a:normAutofit fontScale="92500" lnSpcReduction="10000"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When </a:t>
            </a:r>
            <a:r>
              <a:rPr lang="en-US" b="1" dirty="0" smtClean="0"/>
              <a:t>Columbus </a:t>
            </a:r>
            <a:r>
              <a:rPr lang="en-US" dirty="0" smtClean="0"/>
              <a:t>and other early explorers began to sail, their maps only showed three continents.</a:t>
            </a:r>
          </a:p>
          <a:p>
            <a:pPr marL="722742" lvl="1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Europe, Asia, and Africa.</a:t>
            </a:r>
          </a:p>
          <a:p>
            <a:pPr marL="722742" lvl="1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They also did not realize how large the oceans actually are.</a:t>
            </a:r>
          </a:p>
          <a:p>
            <a:pPr marL="722742" lvl="1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Do we really know anything about oceans today?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39540" y="650240"/>
          <a:ext cx="5951220" cy="5061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51220"/>
              </a:tblGrid>
              <a:tr h="2438913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/>
                        <a:t>Causes</a:t>
                      </a:r>
                      <a:r>
                        <a:rPr lang="en-US" sz="2300" baseline="0" dirty="0" smtClean="0"/>
                        <a:t> of European Exploration</a:t>
                      </a:r>
                    </a:p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2300" baseline="0" dirty="0" smtClean="0"/>
                        <a:t> European desire for new trade routes (mostly to the orient)</a:t>
                      </a:r>
                    </a:p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2300" baseline="0" dirty="0" smtClean="0"/>
                        <a:t>  Growing power and wealth of European nations.</a:t>
                      </a:r>
                    </a:p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2300" baseline="0" dirty="0" smtClean="0"/>
                        <a:t>Competition for trade.</a:t>
                      </a:r>
                    </a:p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2300" baseline="0" dirty="0" smtClean="0"/>
                        <a:t>Missionaries’ desire to convert others to Christianity</a:t>
                      </a:r>
                      <a:endParaRPr lang="en-US" sz="2300" dirty="0"/>
                    </a:p>
                  </a:txBody>
                  <a:tcPr marL="100584" marR="100584" marT="48778" marB="48778"/>
                </a:tc>
              </a:tr>
              <a:tr h="2160181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smtClean="0"/>
                        <a:t>Effects of European Exploration</a:t>
                      </a:r>
                    </a:p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2600" dirty="0" smtClean="0"/>
                        <a:t>  Knowledge grows about other regions.</a:t>
                      </a:r>
                    </a:p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2600" dirty="0" smtClean="0"/>
                        <a:t>  Europeans and Native Americans clash.</a:t>
                      </a:r>
                    </a:p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2600" dirty="0" smtClean="0"/>
                        <a:t>  Enslavement</a:t>
                      </a:r>
                      <a:r>
                        <a:rPr lang="en-US" sz="2600" baseline="0" dirty="0" smtClean="0"/>
                        <a:t> of Africans</a:t>
                      </a:r>
                    </a:p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2600" baseline="0" dirty="0" smtClean="0"/>
                        <a:t>  Rivalry in the Americas grows.</a:t>
                      </a:r>
                      <a:endParaRPr lang="en-US" sz="2600" dirty="0"/>
                    </a:p>
                  </a:txBody>
                  <a:tcPr marL="100584" marR="100584" marT="48778" marB="48778"/>
                </a:tc>
              </a:tr>
            </a:tbl>
          </a:graphicData>
        </a:graphic>
      </p:graphicFrame>
      <p:pic>
        <p:nvPicPr>
          <p:cNvPr id="83980" name="Picture 2" descr="http://t2.gstatic.com/images?q=tbn:ANd9GcStFFcu4P7bK_QTK_5D3xzo6bEQxp1VKeQT-yizr4RqGveVIEw&amp;t=1&amp;usg=__XL_0sNR_G4ksVkQN3aW-CaVJMSI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835" y="5638800"/>
            <a:ext cx="1933448" cy="1656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>
          <a:xfrm>
            <a:off x="502920" y="293511"/>
            <a:ext cx="4693920" cy="1219200"/>
          </a:xfrm>
        </p:spPr>
        <p:txBody>
          <a:bodyPr/>
          <a:lstStyle/>
          <a:p>
            <a:pPr eaLnBrk="1" hangingPunct="1"/>
            <a:r>
              <a:rPr lang="en-US" sz="4400" dirty="0">
                <a:latin typeface="Kristen ITC" pitchFamily="66" charset="0"/>
              </a:rPr>
              <a:t>Early Explorers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5615940" cy="5608320"/>
          </a:xfrm>
        </p:spPr>
        <p:txBody>
          <a:bodyPr/>
          <a:lstStyle/>
          <a:p>
            <a:pPr eaLnBrk="1" hangingPunct="1"/>
            <a:r>
              <a:rPr lang="en-US" b="1" dirty="0" err="1" smtClean="0">
                <a:solidFill>
                  <a:srgbClr val="7030A0"/>
                </a:solidFill>
              </a:rPr>
              <a:t>Bartholomeu</a:t>
            </a:r>
            <a:r>
              <a:rPr lang="en-US" b="1" dirty="0" smtClean="0">
                <a:solidFill>
                  <a:srgbClr val="7030A0"/>
                </a:solidFill>
              </a:rPr>
              <a:t> Dias </a:t>
            </a:r>
            <a:r>
              <a:rPr lang="en-US" dirty="0" smtClean="0"/>
              <a:t>(Portugal, 1487)</a:t>
            </a:r>
          </a:p>
          <a:p>
            <a:pPr lvl="1" eaLnBrk="1" hangingPunct="1"/>
            <a:r>
              <a:rPr lang="en-US" dirty="0" smtClean="0"/>
              <a:t>Sent to explore the southernmost part of Africa. (Cape of Good Hope)</a:t>
            </a:r>
          </a:p>
          <a:p>
            <a:pPr eaLnBrk="1" hangingPunct="1"/>
            <a:r>
              <a:rPr lang="en-US" b="1" dirty="0" smtClean="0">
                <a:solidFill>
                  <a:srgbClr val="7030A0"/>
                </a:solidFill>
              </a:rPr>
              <a:t>Vasco da Gama </a:t>
            </a:r>
            <a:r>
              <a:rPr lang="en-US" dirty="0" smtClean="0"/>
              <a:t>(Portugal, 1497)</a:t>
            </a:r>
          </a:p>
          <a:p>
            <a:pPr lvl="1" eaLnBrk="1" hangingPunct="1"/>
            <a:r>
              <a:rPr lang="en-US" dirty="0" smtClean="0"/>
              <a:t>Sent from Portugal with four ships.  Sailed around the Cape of Good Hope and visited cities along the coast of East Africa.  Eventually making it to India.</a:t>
            </a:r>
          </a:p>
          <a:p>
            <a:pPr lvl="1" eaLnBrk="1" hangingPunct="1">
              <a:buFont typeface="Arial" charset="0"/>
              <a:buNone/>
            </a:pPr>
            <a:endParaRPr lang="en-US" dirty="0" smtClean="0"/>
          </a:p>
        </p:txBody>
      </p:sp>
      <p:pic>
        <p:nvPicPr>
          <p:cNvPr id="84996" name="Picture 2" descr="http://www.globalgayz.com/image/cape-of-good-hop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220" y="568960"/>
            <a:ext cx="3953510" cy="2682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 descr="http://www.bbc.co.uk/history/british/tudors/images/vasco_da_gama_route_map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940" y="3982720"/>
            <a:ext cx="4152583" cy="2763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0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>
          <a:xfrm>
            <a:off x="0" y="189653"/>
            <a:ext cx="5867400" cy="1219200"/>
          </a:xfrm>
        </p:spPr>
        <p:txBody>
          <a:bodyPr/>
          <a:lstStyle/>
          <a:p>
            <a:pPr eaLnBrk="1" hangingPunct="1"/>
            <a:r>
              <a:rPr lang="en-US" sz="3600" dirty="0">
                <a:latin typeface="Kristen ITC" pitchFamily="66" charset="0"/>
              </a:rPr>
              <a:t>Christopher Columbus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75360"/>
            <a:ext cx="5196840" cy="5608320"/>
          </a:xfrm>
        </p:spPr>
        <p:txBody>
          <a:bodyPr/>
          <a:lstStyle/>
          <a:p>
            <a:pPr eaLnBrk="1" hangingPunct="1"/>
            <a:r>
              <a:rPr lang="en-US" b="1" smtClean="0">
                <a:solidFill>
                  <a:srgbClr val="7030A0"/>
                </a:solidFill>
              </a:rPr>
              <a:t>Christopher Columbus </a:t>
            </a:r>
            <a:r>
              <a:rPr lang="en-US" smtClean="0"/>
              <a:t>sailed for Spain even though he was Italian.  </a:t>
            </a:r>
          </a:p>
          <a:p>
            <a:pPr eaLnBrk="1" hangingPunct="1"/>
            <a:r>
              <a:rPr lang="en-US" smtClean="0"/>
              <a:t>He thought he could reach Asia by sailing west.</a:t>
            </a:r>
          </a:p>
          <a:p>
            <a:pPr eaLnBrk="1" hangingPunct="1"/>
            <a:r>
              <a:rPr lang="en-US" smtClean="0"/>
              <a:t>Eventually Spain’s </a:t>
            </a:r>
            <a:r>
              <a:rPr lang="en-US" b="1" smtClean="0">
                <a:solidFill>
                  <a:srgbClr val="7030A0"/>
                </a:solidFill>
              </a:rPr>
              <a:t>King Ferdinand and Queen Isabella</a:t>
            </a:r>
            <a:r>
              <a:rPr lang="en-US" smtClean="0">
                <a:solidFill>
                  <a:srgbClr val="7030A0"/>
                </a:solidFill>
              </a:rPr>
              <a:t> </a:t>
            </a:r>
            <a:r>
              <a:rPr lang="en-US" smtClean="0"/>
              <a:t>funded Columbus plan to sail west to get east.</a:t>
            </a:r>
          </a:p>
        </p:txBody>
      </p:sp>
      <p:pic>
        <p:nvPicPr>
          <p:cNvPr id="86020" name="Picture 2" descr="http://t0.gstatic.com/images?q=tbn:ANd9GcRpB7YWpDl2kOjEjIGlpEKS70weROMcK46lILFRWPYzttx5WsE&amp;t=1&amp;usg=__Fi1cHulQK0ry9ITx0txevAV2qlk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1" y="487681"/>
            <a:ext cx="3525679" cy="2397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21" name="Picture 4" descr="http://t0.gstatic.com/images?q=tbn:ANd9GcRva2IgH66A6e24ScGZ2PGhyk9HL7ZtkCilGsCoaVM_QGSILOk&amp;t=1&amp;usg=__0CResrTo-WeN3huzlvSC-wMYlIo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760" y="3495040"/>
            <a:ext cx="3743960" cy="284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>
          <a:xfrm>
            <a:off x="5029200" y="81280"/>
            <a:ext cx="5029200" cy="1219200"/>
          </a:xfrm>
        </p:spPr>
        <p:txBody>
          <a:bodyPr/>
          <a:lstStyle/>
          <a:p>
            <a:pPr eaLnBrk="1" hangingPunct="1"/>
            <a:r>
              <a:rPr lang="en-US" sz="3200" dirty="0">
                <a:latin typeface="Kristen ITC" pitchFamily="66" charset="0"/>
              </a:rPr>
              <a:t>Christopher Columbus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5380" y="1219200"/>
            <a:ext cx="5113020" cy="5364480"/>
          </a:xfrm>
        </p:spPr>
        <p:txBody>
          <a:bodyPr/>
          <a:lstStyle/>
          <a:p>
            <a:pPr eaLnBrk="1" hangingPunct="1"/>
            <a:r>
              <a:rPr lang="en-US" sz="3400"/>
              <a:t>On August 3, </a:t>
            </a:r>
            <a:r>
              <a:rPr lang="en-US" sz="3400" b="1" u="sng">
                <a:solidFill>
                  <a:srgbClr val="FF0000"/>
                </a:solidFill>
              </a:rPr>
              <a:t>1492</a:t>
            </a:r>
            <a:r>
              <a:rPr lang="en-US" sz="3400"/>
              <a:t> Columbus set sail from Spain with three ships.</a:t>
            </a:r>
          </a:p>
          <a:p>
            <a:pPr lvl="1" eaLnBrk="1" hangingPunct="1"/>
            <a:r>
              <a:rPr lang="en-US" sz="2900">
                <a:solidFill>
                  <a:srgbClr val="FF0000"/>
                </a:solidFill>
              </a:rPr>
              <a:t>The Nina, The Pinta, and the Santa Maria.</a:t>
            </a:r>
          </a:p>
          <a:p>
            <a:pPr eaLnBrk="1" hangingPunct="1"/>
            <a:r>
              <a:rPr lang="en-US" sz="3400"/>
              <a:t>Two months later Columbus and his crew spotted land in present day Bahamas.</a:t>
            </a:r>
          </a:p>
        </p:txBody>
      </p:sp>
      <p:pic>
        <p:nvPicPr>
          <p:cNvPr id="87044" name="Picture 2" descr="http://t2.gstatic.com/images?q=tbn:ANd9GcQ4zYug4w5MiCc1ve6XP1D--dByPGAX_u73Ow55pOlqrYLjO-A&amp;t=1&amp;usg=__IWznzIP55LzT-iq2eg280SSIpmM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" y="243841"/>
            <a:ext cx="4777740" cy="2851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045" name="Picture 4" descr="http://t0.gstatic.com/images?q=tbn:ANd9GcS4sw0jt8AhOjPYbxUZ_f0wvBtOsFkgpC2t05C54gqlCK9tjok&amp;t=1&amp;usg=__wX2jS9AT0e_dH7gGatYR8Jntmhc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" y="3495040"/>
            <a:ext cx="4341178" cy="2926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6" name="TextBox 3"/>
          <p:cNvSpPr txBox="1">
            <a:spLocks noChangeArrowheads="1"/>
          </p:cNvSpPr>
          <p:nvPr/>
        </p:nvSpPr>
        <p:spPr bwMode="auto">
          <a:xfrm>
            <a:off x="922020" y="6585938"/>
            <a:ext cx="7376160" cy="38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1191" tIns="55596" rIns="111191" bIns="5559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</a:rPr>
              <a:t>Christopher Columbus Biography Homework (15pts)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3"/>
          <p:cNvSpPr>
            <a:spLocks noGrp="1"/>
          </p:cNvSpPr>
          <p:nvPr>
            <p:ph type="title"/>
          </p:nvPr>
        </p:nvSpPr>
        <p:spPr>
          <a:xfrm>
            <a:off x="685800" y="4876800"/>
            <a:ext cx="7459980" cy="1706880"/>
          </a:xfrm>
        </p:spPr>
        <p:txBody>
          <a:bodyPr/>
          <a:lstStyle/>
          <a:p>
            <a:pPr eaLnBrk="1" hangingPunct="1"/>
            <a:r>
              <a:rPr lang="en-US" sz="2800" dirty="0"/>
              <a:t>Christopher Columbus Comic </a:t>
            </a:r>
            <a:r>
              <a:rPr lang="en-US" sz="2800" dirty="0" smtClean="0"/>
              <a:t>Strip/Story </a:t>
            </a:r>
            <a:r>
              <a:rPr lang="en-US" sz="2800" dirty="0" smtClean="0">
                <a:solidFill>
                  <a:srgbClr val="FF0000"/>
                </a:solidFill>
              </a:rPr>
              <a:t>(20pts)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4708" y="650241"/>
            <a:ext cx="4023360" cy="681849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Comic Strip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167640" y="1417885"/>
            <a:ext cx="4690428" cy="4407182"/>
          </a:xfrm>
        </p:spPr>
        <p:txBody>
          <a:bodyPr rtlCol="0">
            <a:normAutofit lnSpcReduction="10000"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Create a comic strip with at least 8 events which shows Columbus voyage.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 events should span from the beginning to end of his exploration of the Americas.  You can use your Christopher Columbus Biography to help you with this assignment.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5109528" y="650241"/>
            <a:ext cx="4023360" cy="681849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Story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5109528" y="1417885"/>
            <a:ext cx="4613593" cy="4407182"/>
          </a:xfrm>
        </p:spPr>
        <p:txBody>
          <a:bodyPr rtlCol="0">
            <a:normAutofit lnSpcReduction="10000"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Instead of creating a comic strip you can create a fictional story BASED OFF the life of Christopher Columbus.  You should create your own characters, places, and reasons for exploration.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Minimum for this assignment is 1.5pages.</a:t>
            </a:r>
            <a:endParaRPr lang="en-US" dirty="0"/>
          </a:p>
        </p:txBody>
      </p:sp>
      <p:pic>
        <p:nvPicPr>
          <p:cNvPr id="88071" name="Picture 2" descr="https://encrypted-tbn1.google.com/images?q=tbn:ANd9GcTn2NGbSWDh8E_H_6oGJXV5JMu2DNkwM_d1TqetM_pzt2leCNKkD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5562600"/>
            <a:ext cx="1617813" cy="1676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876800"/>
            <a:ext cx="10058400" cy="170688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Explorers Foldable/Explorers </a:t>
            </a:r>
            <a:r>
              <a:rPr lang="en-US" sz="4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Map </a:t>
            </a:r>
            <a:r>
              <a:rPr lang="en-US" sz="3600" dirty="0" smtClean="0">
                <a:solidFill>
                  <a:srgbClr val="FF0000"/>
                </a:solidFill>
              </a:rPr>
              <a:t>(30pts)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" y="533400"/>
            <a:ext cx="9555480" cy="4018844"/>
          </a:xfrm>
        </p:spPr>
        <p:txBody>
          <a:bodyPr rtlCol="0">
            <a:normAutofit fontScale="92500" lnSpcReduction="20000"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Create a foldable or a tri-fold each of the following explorers should have their own section.</a:t>
            </a:r>
          </a:p>
          <a:p>
            <a:pPr marL="722742" lvl="1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b="1" dirty="0" smtClean="0"/>
              <a:t>Christopher Columbus</a:t>
            </a:r>
          </a:p>
          <a:p>
            <a:pPr marL="722742" lvl="1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b="1" dirty="0" smtClean="0"/>
              <a:t>Vasco da Gama</a:t>
            </a:r>
          </a:p>
          <a:p>
            <a:pPr marL="722742" lvl="1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b="1" dirty="0" err="1" smtClean="0"/>
              <a:t>Bartolomeu</a:t>
            </a:r>
            <a:r>
              <a:rPr lang="en-US" b="1" dirty="0" smtClean="0"/>
              <a:t> Dias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Inside of their foldable write </a:t>
            </a:r>
            <a:r>
              <a:rPr lang="en-US" b="1" dirty="0" smtClean="0">
                <a:solidFill>
                  <a:srgbClr val="FF0000"/>
                </a:solidFill>
              </a:rPr>
              <a:t>3-5 facts </a:t>
            </a:r>
            <a:r>
              <a:rPr lang="en-US" dirty="0" smtClean="0"/>
              <a:t>about each explorer, and draw a map of their route.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Also include </a:t>
            </a:r>
            <a:r>
              <a:rPr lang="en-US" b="1" dirty="0" smtClean="0">
                <a:solidFill>
                  <a:srgbClr val="FF0000"/>
                </a:solidFill>
              </a:rPr>
              <a:t>2-3 sentences </a:t>
            </a:r>
            <a:r>
              <a:rPr lang="en-US" dirty="0" smtClean="0"/>
              <a:t>about why their exploration was important to the western world.</a:t>
            </a:r>
            <a:endParaRPr 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/>
          </p:cNvSpPr>
          <p:nvPr>
            <p:ph type="title"/>
          </p:nvPr>
        </p:nvSpPr>
        <p:spPr>
          <a:xfrm>
            <a:off x="838200" y="4985173"/>
            <a:ext cx="7459980" cy="1706880"/>
          </a:xfrm>
        </p:spPr>
        <p:txBody>
          <a:bodyPr/>
          <a:lstStyle/>
          <a:p>
            <a:pPr eaLnBrk="1" hangingPunct="1"/>
            <a:r>
              <a:rPr lang="en-US" sz="5800" b="1" u="sng">
                <a:solidFill>
                  <a:srgbClr val="FF0000"/>
                </a:solidFill>
              </a:rPr>
              <a:t>Warm Up: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640" y="406400"/>
            <a:ext cx="5951220" cy="5021314"/>
          </a:xfrm>
          <a:prstGeom prst="rect">
            <a:avLst/>
          </a:prstGeom>
          <a:noFill/>
        </p:spPr>
        <p:txBody>
          <a:bodyPr lIns="111191" tIns="55596" rIns="111191" bIns="5559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u="sng" dirty="0">
                <a:solidFill>
                  <a:srgbClr val="FF0000"/>
                </a:solidFill>
                <a:latin typeface="+mn-lt"/>
                <a:cs typeface="+mn-cs"/>
              </a:rPr>
              <a:t>Warm up Activity: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Out of the previously discussed explorers, who do you think made the largest impact, why?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How does the phrase God, Glory, and Gold contribute to exploration?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OCSR: </a:t>
            </a:r>
            <a:r>
              <a:rPr lang="en-US" sz="2900" dirty="0">
                <a:latin typeface="+mn-lt"/>
                <a:cs typeface="+mn-cs"/>
              </a:rPr>
              <a:t>Which Native American tribe practiced human sacrifice, why did they do this?</a:t>
            </a:r>
            <a:endParaRPr lang="en-US" sz="2900" b="1" dirty="0">
              <a:latin typeface="+mn-lt"/>
              <a:cs typeface="+mn-cs"/>
            </a:endParaRP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Define:  Conquistador, Mission.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sz="2900" dirty="0">
              <a:latin typeface="+mn-lt"/>
              <a:cs typeface="+mn-cs"/>
            </a:endParaRPr>
          </a:p>
        </p:txBody>
      </p:sp>
      <p:pic>
        <p:nvPicPr>
          <p:cNvPr id="90116" name="Picture 2" descr="http://upload.wikimedia.org/wikipedia/commons/thumb/d/d6/Bartolomeu_Dias_Voyage.PNG/220px-Bartolomeu_Dias_Voya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8860" y="521548"/>
            <a:ext cx="3702050" cy="5960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elay 10"/>
          <p:cNvSpPr/>
          <p:nvPr/>
        </p:nvSpPr>
        <p:spPr>
          <a:xfrm>
            <a:off x="83820" y="731521"/>
            <a:ext cx="5863908" cy="4648765"/>
          </a:xfrm>
          <a:prstGeom prst="flowChartDelay">
            <a:avLst/>
          </a:prstGeom>
          <a:solidFill>
            <a:schemeClr val="tx1">
              <a:lumMod val="75000"/>
              <a:lumOff val="25000"/>
              <a:alpha val="1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6195" y="5380991"/>
            <a:ext cx="9786018" cy="943275"/>
          </a:xfrm>
          <a:prstGeom prst="rect">
            <a:avLst/>
          </a:prstGeom>
          <a:solidFill>
            <a:schemeClr val="bg2"/>
          </a:solidFill>
        </p:spPr>
        <p:txBody>
          <a:bodyPr wrap="none" lIns="111191" tIns="55596" rIns="111191" bIns="55596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Daily Question to know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67640" y="851183"/>
            <a:ext cx="4931410" cy="4648764"/>
          </a:xfrm>
        </p:spPr>
        <p:txBody>
          <a:bodyPr rtlCol="0">
            <a:normAutofit fontScale="925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dirty="0" smtClean="0">
                <a:latin typeface="Bauhaus 93" pitchFamily="82" charset="0"/>
              </a:rPr>
              <a:t>Question: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 smtClean="0"/>
              <a:t>How did the Spanish appear to the  First Americans?  Also what were the differences in technology between the Americans and Spanish?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 smtClean="0"/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SS.8.A.1.2:  Analyze charts, graphs, maps, photographs and timelines; analyze political cartoons; determine cause and effect.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endParaRPr lang="en-US" dirty="0"/>
          </a:p>
        </p:txBody>
      </p:sp>
      <p:sp>
        <p:nvSpPr>
          <p:cNvPr id="10" name="Flowchart: Alternate Process 9"/>
          <p:cNvSpPr/>
          <p:nvPr/>
        </p:nvSpPr>
        <p:spPr>
          <a:xfrm>
            <a:off x="640875" y="5499947"/>
            <a:ext cx="8914606" cy="975360"/>
          </a:xfrm>
          <a:prstGeom prst="flowChartAlternateProcess">
            <a:avLst/>
          </a:prstGeom>
          <a:solidFill>
            <a:schemeClr val="tx1">
              <a:lumMod val="65000"/>
              <a:lumOff val="3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91142" name="Picture 2" descr="http://www.hernancortes-vs-hernancortes.com/IMAGES/HERNANCORT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728" y="514774"/>
            <a:ext cx="3469799" cy="486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>
          <a:xfrm>
            <a:off x="502920" y="293511"/>
            <a:ext cx="4358640" cy="1219200"/>
          </a:xfrm>
        </p:spPr>
        <p:txBody>
          <a:bodyPr/>
          <a:lstStyle/>
          <a:p>
            <a:pPr eaLnBrk="1" hangingPunct="1"/>
            <a:r>
              <a:rPr lang="en-US" sz="5400">
                <a:latin typeface="Kristen ITC" pitchFamily="66" charset="0"/>
              </a:rPr>
              <a:t>The Vikings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5029200" cy="5608320"/>
          </a:xfrm>
        </p:spPr>
        <p:txBody>
          <a:bodyPr rtlCol="0">
            <a:normAutofit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Centuries before Columbus had reached the Americas, the Vikings had visited Iceland and Greenland and established colonies.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 Vikings tried to establish permanent settlement in the Americas however they did not succeed.  The “World” did not discover the Americas until Columbus’ voyage.</a:t>
            </a:r>
            <a:endParaRPr lang="en-US" dirty="0"/>
          </a:p>
        </p:txBody>
      </p:sp>
      <p:pic>
        <p:nvPicPr>
          <p:cNvPr id="92164" name="Picture 2" descr="http://t1.gstatic.com/images?q=tbn:ANd9GcRxcAZ3nKaVMcFjonq8M21c3K5uN1EJFmQH1TJ7MRMTjXQfSfE&amp;t=1&amp;usg=__49d7-PxA7dfEEblNJI9KKC7LQm4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8860" y="162560"/>
            <a:ext cx="2587943" cy="3332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5" name="Picture 4" descr="http://t2.gstatic.com/images?q=tbn:ANd9GcT_Dn6pmru0J0NEsOHADDvz1_Uldl2aN4u3_P51VUveaPEaEHI&amp;t=1&amp;usg=__ZNFzkrvjQM9bbTO9lVcg-eezRVg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064000"/>
            <a:ext cx="1927860" cy="2140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6" name="Picture 6" descr="http://t2.gstatic.com/images?q=tbn:ANd9GcS3HY3ufMCIfz4LpXlqPhJeWY0OKx8knz5s5f0WzTv7olSHVSc&amp;t=1&amp;usg=__CnMUkQ-PCzaVYz-zLoFs6pcgCPY=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0880" y="4226560"/>
            <a:ext cx="2921477" cy="2113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4777740" cy="1219200"/>
          </a:xfrm>
        </p:spPr>
        <p:txBody>
          <a:bodyPr/>
          <a:lstStyle/>
          <a:p>
            <a:pPr algn="ctr" eaLnBrk="1" hangingPunct="1"/>
            <a:r>
              <a:rPr lang="en-US" sz="4400" dirty="0">
                <a:latin typeface="Kristen ITC" pitchFamily="66" charset="0"/>
              </a:rPr>
              <a:t>Spain in America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88160"/>
            <a:ext cx="4945380" cy="4795520"/>
          </a:xfrm>
        </p:spPr>
        <p:txBody>
          <a:bodyPr/>
          <a:lstStyle/>
          <a:p>
            <a:pPr eaLnBrk="1" hangingPunct="1"/>
            <a:r>
              <a:rPr lang="en-US" smtClean="0"/>
              <a:t>The Spanish had a large presence in the development of America.</a:t>
            </a:r>
          </a:p>
          <a:p>
            <a:pPr eaLnBrk="1" hangingPunct="1"/>
            <a:r>
              <a:rPr lang="en-US" smtClean="0">
                <a:solidFill>
                  <a:srgbClr val="FF0000"/>
                </a:solidFill>
              </a:rPr>
              <a:t>Spanish </a:t>
            </a:r>
            <a:r>
              <a:rPr lang="en-US" b="1" smtClean="0">
                <a:solidFill>
                  <a:srgbClr val="FF0000"/>
                </a:solidFill>
              </a:rPr>
              <a:t>Conquistadores</a:t>
            </a:r>
            <a:r>
              <a:rPr lang="en-US" smtClean="0">
                <a:solidFill>
                  <a:srgbClr val="FF0000"/>
                </a:solidFill>
              </a:rPr>
              <a:t> </a:t>
            </a:r>
            <a:r>
              <a:rPr lang="en-US" smtClean="0"/>
              <a:t>came over to Central and Southern America and conquered the remnants of the Incas, and Aztecs.</a:t>
            </a:r>
          </a:p>
        </p:txBody>
      </p:sp>
      <p:pic>
        <p:nvPicPr>
          <p:cNvPr id="93188" name="Picture 2" descr="http://www.ling.gu.se/projekt/sprakfrageladan/images/europe_map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740" y="1"/>
            <a:ext cx="5280660" cy="3556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/>
          <p:cNvSpPr/>
          <p:nvPr/>
        </p:nvSpPr>
        <p:spPr>
          <a:xfrm>
            <a:off x="4945380" y="2275840"/>
            <a:ext cx="1424940" cy="1381760"/>
          </a:xfrm>
          <a:prstGeom prst="ellipse">
            <a:avLst/>
          </a:prstGeom>
          <a:solidFill>
            <a:schemeClr val="accent1">
              <a:alpha val="3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93190" name="Picture 4" descr="http://t3.gstatic.com/images?q=tbn:ANd9GcRXOqpBuChVNCuhHE4yJDzmwHnMi_N-wD1HAaDN-y73E04-z10&amp;t=1&amp;usg=__LHCQ6_VFLZNkD9d5To3b5MrwEw0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740" y="3820160"/>
            <a:ext cx="2263140" cy="3298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91" name="Picture 6" descr="http://t3.gstatic.com/images?q=tbn:ANd9GcTnKvAuqEqXDxsBvQzPn23dM2iKwD9JWAIywcYRYskfx6U4Tmc&amp;t=1&amp;usg=__8IDUqJERh7QUDGa9SgU1UMmXBHc=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6160" y="3657601"/>
            <a:ext cx="2011680" cy="3483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>
          <a:xfrm>
            <a:off x="5364480" y="325120"/>
            <a:ext cx="4191000" cy="1219200"/>
          </a:xfrm>
        </p:spPr>
        <p:txBody>
          <a:bodyPr/>
          <a:lstStyle/>
          <a:p>
            <a:pPr algn="ctr" eaLnBrk="1" hangingPunct="1"/>
            <a:r>
              <a:rPr lang="en-US" sz="2900">
                <a:latin typeface="Kristen ITC" pitchFamily="66" charset="0"/>
              </a:rPr>
              <a:t>Cortes Conquers the Aztecs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3020" y="1463040"/>
            <a:ext cx="4945380" cy="5120640"/>
          </a:xfrm>
        </p:spPr>
        <p:txBody>
          <a:bodyPr rtlCol="0">
            <a:normAutofit fontScale="85000" lnSpcReduction="20000"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b="1" dirty="0" err="1" smtClean="0">
                <a:solidFill>
                  <a:srgbClr val="7030A0"/>
                </a:solidFill>
              </a:rPr>
              <a:t>Hernan</a:t>
            </a:r>
            <a:r>
              <a:rPr lang="en-US" b="1" dirty="0" smtClean="0">
                <a:solidFill>
                  <a:srgbClr val="7030A0"/>
                </a:solidFill>
              </a:rPr>
              <a:t> Cortes </a:t>
            </a:r>
            <a:r>
              <a:rPr lang="en-US" dirty="0" smtClean="0"/>
              <a:t>landed on the East Coast of Mexico in 1519.  He like the other Conquistadores was after </a:t>
            </a:r>
            <a:r>
              <a:rPr lang="en-US" b="1" dirty="0" smtClean="0"/>
              <a:t>Gold and Glory</a:t>
            </a:r>
            <a:r>
              <a:rPr lang="en-US" dirty="0" smtClean="0"/>
              <a:t>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He had roughly 500 soldiers, some horses, and some cannons.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Cortes made alliances with the small tribes that were conquered by the Aztecs.  Eventually with the help of these tribes Cortes overthrew </a:t>
            </a:r>
            <a:r>
              <a:rPr lang="en-US" b="1" dirty="0" smtClean="0">
                <a:solidFill>
                  <a:srgbClr val="7030A0"/>
                </a:solidFill>
              </a:rPr>
              <a:t>Montezuma</a:t>
            </a:r>
            <a:r>
              <a:rPr lang="en-US" b="1" dirty="0" smtClean="0"/>
              <a:t> </a:t>
            </a:r>
            <a:r>
              <a:rPr lang="en-US" dirty="0" smtClean="0"/>
              <a:t>(leader of the Aztecs)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This caused the Aztec Empire to dissipate and Spain gained control of the region.</a:t>
            </a:r>
            <a:endParaRPr lang="en-US" dirty="0"/>
          </a:p>
        </p:txBody>
      </p:sp>
      <p:pic>
        <p:nvPicPr>
          <p:cNvPr id="94212" name="Picture 2" descr="http://t1.gstatic.com/images?q=tbn:ANd9GcTdtTGoQrkOPptbygijlcUygokVf3P6F7E3FWMTjiuU_7zb9uY&amp;t=1&amp;usg=__4FxgW5FLNNOb-HAbpM4ZpPAoZKI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960" y="243841"/>
            <a:ext cx="2766060" cy="3140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13" name="Picture 4" descr="http://t0.gstatic.com/images?q=tbn:ANd9GcSkQ8TCFOJW7SToRDttBK838Z6ZUh7YsnFHstduXI8Vde8fj78&amp;t=1&amp;usg=__nA8QlJh2TMePXMP6MXD3UEt8Zuc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" y="894081"/>
            <a:ext cx="1760220" cy="2542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14" name="Picture 6" descr="http://t3.gstatic.com/images?q=tbn:ANd9GcTKjRUWe8xewMx2EFCL7IXk3CY3UG_PVTXCsVJi3--KGvQV_dY&amp;t=1&amp;usg=__Y76j-EqKaGnDHsEdeER3roR6E94=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" y="3820160"/>
            <a:ext cx="470789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>
          <a:xfrm>
            <a:off x="251460" y="298027"/>
            <a:ext cx="4107180" cy="1842347"/>
          </a:xfrm>
        </p:spPr>
        <p:txBody>
          <a:bodyPr/>
          <a:lstStyle/>
          <a:p>
            <a:pPr algn="ctr" eaLnBrk="1" hangingPunct="1"/>
            <a:r>
              <a:rPr lang="en-US" sz="4000" dirty="0" err="1">
                <a:latin typeface="Kristen ITC" pitchFamily="66" charset="0"/>
              </a:rPr>
              <a:t>Pizzaro</a:t>
            </a:r>
            <a:r>
              <a:rPr lang="en-US" sz="4000" dirty="0">
                <a:latin typeface="Kristen ITC" pitchFamily="66" charset="0"/>
              </a:rPr>
              <a:t> Conquers Peru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90133"/>
            <a:ext cx="5364480" cy="5608320"/>
          </a:xfrm>
        </p:spPr>
        <p:txBody>
          <a:bodyPr/>
          <a:lstStyle/>
          <a:p>
            <a:pPr eaLnBrk="1" hangingPunct="1"/>
            <a:r>
              <a:rPr lang="en-US" b="1" smtClean="0">
                <a:solidFill>
                  <a:srgbClr val="7030A0"/>
                </a:solidFill>
              </a:rPr>
              <a:t>Francisco Pizzaro</a:t>
            </a:r>
            <a:r>
              <a:rPr lang="en-US" smtClean="0">
                <a:solidFill>
                  <a:srgbClr val="7030A0"/>
                </a:solidFill>
              </a:rPr>
              <a:t> </a:t>
            </a:r>
            <a:r>
              <a:rPr lang="en-US" smtClean="0"/>
              <a:t>was the downfall of the Incan Empire.</a:t>
            </a:r>
          </a:p>
          <a:p>
            <a:pPr eaLnBrk="1" hangingPunct="1"/>
            <a:r>
              <a:rPr lang="en-US" smtClean="0"/>
              <a:t>In 1532 he captured the Incan ruler </a:t>
            </a:r>
            <a:r>
              <a:rPr lang="en-US" b="1" smtClean="0">
                <a:solidFill>
                  <a:srgbClr val="7030A0"/>
                </a:solidFill>
              </a:rPr>
              <a:t>Atahualpa</a:t>
            </a:r>
            <a:r>
              <a:rPr lang="en-US" smtClean="0"/>
              <a:t> and destroyed most of the Inca army.</a:t>
            </a:r>
          </a:p>
          <a:p>
            <a:pPr eaLnBrk="1" hangingPunct="1"/>
            <a:r>
              <a:rPr lang="en-US" smtClean="0"/>
              <a:t>Without an effective leader, Pizzaro and his troops quickly stomped out the Incas.</a:t>
            </a:r>
          </a:p>
        </p:txBody>
      </p:sp>
      <p:pic>
        <p:nvPicPr>
          <p:cNvPr id="95236" name="Picture 2" descr="http://t0.gstatic.com/images?q=tbn:ANd9GcTkAzSpXJakgPc6D_Aw9UcDR2YwzVNNMXzIMIyPfHnuMU1OFfk&amp;t=1&amp;usg=__u3uOlL0u3yLO2PpaulZK1NpJGNE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3675" y="568961"/>
            <a:ext cx="2186305" cy="2903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237" name="Picture 4" descr="http://www.zoomschool.com/explorers/gifs/Pizarromap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220" y="3738881"/>
            <a:ext cx="3520440" cy="257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>
          <a:xfrm>
            <a:off x="838200" y="5743787"/>
            <a:ext cx="7459980" cy="1706880"/>
          </a:xfrm>
        </p:spPr>
        <p:txBody>
          <a:bodyPr/>
          <a:lstStyle/>
          <a:p>
            <a:pPr eaLnBrk="1" hangingPunct="1"/>
            <a:r>
              <a:rPr lang="en-US" sz="4400">
                <a:latin typeface="Kristen ITC" pitchFamily="66" charset="0"/>
              </a:rPr>
              <a:t>Technology Difference</a:t>
            </a:r>
          </a:p>
        </p:txBody>
      </p:sp>
      <p:graphicFrame>
        <p:nvGraphicFramePr>
          <p:cNvPr id="6" name="Diagram 5"/>
          <p:cNvGraphicFramePr/>
          <p:nvPr/>
        </p:nvGraphicFramePr>
        <p:xfrm>
          <a:off x="0" y="406400"/>
          <a:ext cx="9974580" cy="57799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876800"/>
            <a:ext cx="10058400" cy="1706880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5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Demonstration of Guns vs. Spears</a:t>
            </a:r>
            <a:endParaRPr lang="en-US" sz="5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>
          <a:xfrm>
            <a:off x="83820" y="812800"/>
            <a:ext cx="4777740" cy="1219200"/>
          </a:xfrm>
        </p:spPr>
        <p:txBody>
          <a:bodyPr/>
          <a:lstStyle/>
          <a:p>
            <a:pPr algn="ctr" eaLnBrk="1" hangingPunct="1"/>
            <a:r>
              <a:rPr lang="en-US" sz="4400">
                <a:latin typeface="Kristen ITC" pitchFamily="66" charset="0"/>
              </a:rPr>
              <a:t>Why did Spain Succeed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7800"/>
            <a:ext cx="5699760" cy="5608320"/>
          </a:xfrm>
        </p:spPr>
        <p:txBody>
          <a:bodyPr/>
          <a:lstStyle/>
          <a:p>
            <a:pPr eaLnBrk="1" hangingPunct="1"/>
            <a:r>
              <a:rPr lang="en-US" sz="2700" dirty="0"/>
              <a:t>Why could the smaller Spanish Armies take over empires many times larger than them?</a:t>
            </a:r>
          </a:p>
          <a:p>
            <a:pPr lvl="1" eaLnBrk="1" hangingPunct="1"/>
            <a:r>
              <a:rPr lang="en-US" dirty="0" smtClean="0"/>
              <a:t>Weapons (guns, cannons, horses)</a:t>
            </a:r>
          </a:p>
          <a:p>
            <a:pPr lvl="1" eaLnBrk="1" hangingPunct="1"/>
            <a:r>
              <a:rPr lang="en-US" dirty="0" smtClean="0"/>
              <a:t>Assistance from other tribes (many tribes hated the Aztecs and united with the Spanish against them.)</a:t>
            </a:r>
          </a:p>
          <a:p>
            <a:pPr lvl="1" eaLnBrk="1" hangingPunct="1"/>
            <a:r>
              <a:rPr lang="en-US" dirty="0" smtClean="0"/>
              <a:t>Disease (smallpox wiped out LARGE groups of Native Americans.)</a:t>
            </a:r>
          </a:p>
        </p:txBody>
      </p:sp>
      <p:pic>
        <p:nvPicPr>
          <p:cNvPr id="8194" name="Picture 2" descr="http://t1.gstatic.com/images?q=tbn:ANd9GcTjPXuc0MVMxb8SGN_T-lBHvW_phTCIRqusI3xguzrWHGscCTM&amp;t=1&amp;usg=__kGgt-swX2eayDQGx1zfQ4YVUQYc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1440" y="243840"/>
            <a:ext cx="2095500" cy="3115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 descr="http://t2.gstatic.com/images?q=tbn:ANd9GcRBpJNnb2x0AsYRcXiS34owB0euXhmRRa1aGAeFixVqmJFklvo&amp;t=1&amp;h=150&amp;w=247&amp;usg=__a6PaoyA7ZGfJI1kin9elIxyIVls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760" y="4064000"/>
            <a:ext cx="4002405" cy="235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10" name="Picture 6" descr="http://t3.gstatic.com/images?q=tbn:ANd9GcRLJhgvj8N5Bk1W0a4JyvRz5_p_HyQ5fuFhHyeDfjmYtzyX-KY&amp;t=1&amp;usg=__iutBD2ecZWTERadgf5nssd5VMxw=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5380" y="0"/>
            <a:ext cx="2745105" cy="2113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>
          <a:xfrm>
            <a:off x="502920" y="298027"/>
            <a:ext cx="3939540" cy="1219200"/>
          </a:xfrm>
        </p:spPr>
        <p:txBody>
          <a:bodyPr/>
          <a:lstStyle/>
          <a:p>
            <a:pPr algn="ctr" eaLnBrk="1" hangingPunct="1"/>
            <a:r>
              <a:rPr lang="en-US" sz="3600" dirty="0">
                <a:latin typeface="Kristen ITC" pitchFamily="66" charset="0"/>
              </a:rPr>
              <a:t>Ponce De Leon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44320"/>
            <a:ext cx="4777740" cy="5039360"/>
          </a:xfrm>
        </p:spPr>
        <p:txBody>
          <a:bodyPr/>
          <a:lstStyle/>
          <a:p>
            <a:pPr eaLnBrk="1" hangingPunct="1"/>
            <a:r>
              <a:rPr lang="en-US" b="1" smtClean="0">
                <a:solidFill>
                  <a:srgbClr val="7030A0"/>
                </a:solidFill>
              </a:rPr>
              <a:t>Pone De Leon</a:t>
            </a:r>
            <a:r>
              <a:rPr lang="en-US" smtClean="0">
                <a:solidFill>
                  <a:srgbClr val="7030A0"/>
                </a:solidFill>
              </a:rPr>
              <a:t> </a:t>
            </a:r>
            <a:r>
              <a:rPr lang="en-US" smtClean="0"/>
              <a:t>made the first Spanish landing in North America.  Present Day Florida.</a:t>
            </a:r>
          </a:p>
          <a:p>
            <a:pPr eaLnBrk="1" hangingPunct="1"/>
            <a:r>
              <a:rPr lang="en-US" smtClean="0"/>
              <a:t>He was searching for the </a:t>
            </a:r>
            <a:r>
              <a:rPr lang="en-US" b="1" smtClean="0">
                <a:solidFill>
                  <a:srgbClr val="FF0000"/>
                </a:solidFill>
              </a:rPr>
              <a:t>Fountain of Youth</a:t>
            </a:r>
            <a:r>
              <a:rPr lang="en-US" smtClean="0"/>
              <a:t>.  </a:t>
            </a:r>
          </a:p>
          <a:p>
            <a:pPr eaLnBrk="1" hangingPunct="1"/>
            <a:r>
              <a:rPr lang="en-US" smtClean="0"/>
              <a:t>In 1565 The Spanish established their first settlement in North America. </a:t>
            </a:r>
            <a:r>
              <a:rPr lang="en-US" b="1" smtClean="0">
                <a:solidFill>
                  <a:srgbClr val="FF0000"/>
                </a:solidFill>
              </a:rPr>
              <a:t>St. Augustine</a:t>
            </a:r>
            <a:r>
              <a:rPr lang="en-US" b="1" smtClean="0"/>
              <a:t>.</a:t>
            </a:r>
            <a:endParaRPr lang="en-US" smtClean="0"/>
          </a:p>
        </p:txBody>
      </p:sp>
      <p:pic>
        <p:nvPicPr>
          <p:cNvPr id="99332" name="Picture 2" descr="http://t0.gstatic.com/images?q=tbn:ANd9GcSVAqShYh_Szu3AFNvIbfErGtk3V2D5y9ne50Fza8XYcVAmZec&amp;t=1&amp;usg=__v_SUfPjoriW_a3YLzdFjhgclFVk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0660" y="243841"/>
            <a:ext cx="3855720" cy="2542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333" name="Picture 4" descr="http://t2.gstatic.com/images?q=tbn:ANd9GcScdLRerJ0_0fDZtNQsYMtMSA5INLHLzasLRzqOvtGWLLc9vtg&amp;t=1&amp;usg=__ra0H1KbDq9LZ1lVlMX1wN2A0Gh8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3173" y="3657600"/>
            <a:ext cx="2455228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334" name="Picture 6" descr="http://t1.gstatic.com/images?q=tbn:ANd9GcQNnUJpYPshzUD79JXGLceMpG-3aqc7sXR1dg75U2RqvjkDsms&amp;t=1&amp;usg=__JNCvDbsAY3Jo_jjNpHNDev2GDuU=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920" y="2898987"/>
            <a:ext cx="2874328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The Viking </a:t>
            </a:r>
            <a:r>
              <a:rPr lang="en-US" sz="6000" dirty="0" smtClean="0"/>
              <a:t>Diaries </a:t>
            </a:r>
            <a:r>
              <a:rPr lang="en-US" sz="2800" dirty="0" smtClean="0">
                <a:solidFill>
                  <a:srgbClr val="FF0000"/>
                </a:solidFill>
              </a:rPr>
              <a:t>(20pts)</a:t>
            </a:r>
            <a:endParaRPr lang="en-US" sz="2800" dirty="0" smtClean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8600"/>
            <a:ext cx="7627620" cy="5379720"/>
          </a:xfrm>
        </p:spPr>
        <p:txBody>
          <a:bodyPr rtlCol="0">
            <a:normAutofit fontScale="70000" lnSpcReduction="20000"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Imagine you are a Viking (make up your own Viking name), your leader is a man named Leif Ericsson.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You were in a boat that consisted of a primitive sail and a bunch of oars, you were in the ‘open sea’ for several days not knowing exactly where you were going, then you arrive on a strange land where people speak in different languages, have different color skin, and are terrified of you.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3600" b="1" dirty="0" smtClean="0"/>
              <a:t>Your assignment is to write a ‘diary’ (really you wouldn’t be writing you would be telling this story to your children/grandchildren upon your arrival home).</a:t>
            </a:r>
          </a:p>
          <a:p>
            <a:pPr marL="722742" lvl="1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3600" dirty="0" smtClean="0"/>
              <a:t>Your story should be about what you experienced on the Voyage.  </a:t>
            </a:r>
            <a:endParaRPr lang="en-US" sz="3600" dirty="0" smtClean="0"/>
          </a:p>
          <a:p>
            <a:pPr marL="1056701" lvl="2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3300" dirty="0" smtClean="0"/>
              <a:t>This </a:t>
            </a:r>
            <a:r>
              <a:rPr lang="en-US" sz="3300" dirty="0" smtClean="0"/>
              <a:t>includes the way there, your time spent in the Americas, and your return trip.  This should be 1-2pages in length, and written in the first person (I felt, I saw… </a:t>
            </a:r>
            <a:r>
              <a:rPr lang="en-US" sz="3300" dirty="0" err="1" smtClean="0"/>
              <a:t>etc</a:t>
            </a:r>
            <a:r>
              <a:rPr lang="en-US" sz="3300" dirty="0" smtClean="0"/>
              <a:t>)</a:t>
            </a:r>
            <a:endParaRPr lang="en-US" sz="3300" dirty="0"/>
          </a:p>
        </p:txBody>
      </p:sp>
      <p:pic>
        <p:nvPicPr>
          <p:cNvPr id="100356" name="Picture 2" descr="https://encrypted-tbn0.google.com/images?q=tbn:ANd9GcSOk78MBO_nbFt-uotO9i9CEOKnoDQ7ttKQB_t-y7gITXDwm5A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2900" y="514774"/>
            <a:ext cx="1697355" cy="421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57" name="Picture 4" descr="https://encrypted-tbn3.google.com/images?q=tbn:ANd9GcREuCzkZPuXkJFJjSc0uFJ9E7TWWeW7AopZmQ8qndtiGnlBF6U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5418" y="5181599"/>
            <a:ext cx="2079161" cy="2013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800" b="1" u="sng">
                <a:solidFill>
                  <a:srgbClr val="FF0000"/>
                </a:solidFill>
              </a:rPr>
              <a:t>Warm Up: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" y="406400"/>
            <a:ext cx="6621780" cy="5908605"/>
          </a:xfrm>
          <a:prstGeom prst="rect">
            <a:avLst/>
          </a:prstGeom>
          <a:noFill/>
        </p:spPr>
        <p:txBody>
          <a:bodyPr lIns="111191" tIns="55596" rIns="111191" bIns="5559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u="sng" dirty="0">
                <a:solidFill>
                  <a:srgbClr val="FF0000"/>
                </a:solidFill>
                <a:latin typeface="+mn-lt"/>
                <a:cs typeface="+mn-cs"/>
              </a:rPr>
              <a:t>Warm up Activity: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What is smallpox, and what was its effect on the Native Americans?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Why could the conquistador’s conqueror the large Native American tribes with such a small force?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OCSR: </a:t>
            </a:r>
            <a:r>
              <a:rPr lang="en-US" sz="2900" dirty="0">
                <a:latin typeface="+mn-lt"/>
                <a:cs typeface="+mn-cs"/>
              </a:rPr>
              <a:t>Explain how a surplus in food and supplies can lead to a population surge.</a:t>
            </a:r>
            <a:endParaRPr lang="en-US" sz="2900" b="1" dirty="0">
              <a:latin typeface="+mn-lt"/>
              <a:cs typeface="+mn-cs"/>
            </a:endParaRP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Define:  Plantation, Ferdinand Magellan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sz="2900" dirty="0">
              <a:latin typeface="+mn-lt"/>
              <a:cs typeface="+mn-cs"/>
            </a:endParaRP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sz="2900" dirty="0">
              <a:latin typeface="+mn-lt"/>
              <a:cs typeface="+mn-cs"/>
            </a:endParaRPr>
          </a:p>
        </p:txBody>
      </p:sp>
      <p:pic>
        <p:nvPicPr>
          <p:cNvPr id="101380" name="Picture 2" descr="http://upload.wikimedia.org/wikipedia/commons/thumb/6/66/Child_with_Smallpox_Bangladesh.jpg/230px-Child_with_Smallpox_Banglades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6447" y="94827"/>
            <a:ext cx="2409825" cy="4741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81" name="Picture 4" descr="http://2.bp.blogspot.com/_-663HFTZehw/TE_MJbPbukI/AAAAAAAAAdw/ffG-mH--ypg/s320/smallpox0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38" y="4741334"/>
            <a:ext cx="3286443" cy="2497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elay 10"/>
          <p:cNvSpPr/>
          <p:nvPr/>
        </p:nvSpPr>
        <p:spPr>
          <a:xfrm>
            <a:off x="83820" y="731521"/>
            <a:ext cx="5364480" cy="4648765"/>
          </a:xfrm>
          <a:prstGeom prst="flowChartDelay">
            <a:avLst/>
          </a:prstGeom>
          <a:solidFill>
            <a:schemeClr val="tx1">
              <a:lumMod val="75000"/>
              <a:lumOff val="25000"/>
              <a:alpha val="1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6195" y="5380991"/>
            <a:ext cx="9786018" cy="943275"/>
          </a:xfrm>
          <a:prstGeom prst="rect">
            <a:avLst/>
          </a:prstGeom>
          <a:solidFill>
            <a:schemeClr val="bg2"/>
          </a:solidFill>
        </p:spPr>
        <p:txBody>
          <a:bodyPr wrap="none" lIns="111191" tIns="55596" rIns="111191" bIns="55596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Daily Question to know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0" y="1067929"/>
            <a:ext cx="4931410" cy="4648764"/>
          </a:xfrm>
        </p:spPr>
        <p:txBody>
          <a:bodyPr rtlCol="0">
            <a:normAutofit fontScale="925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dirty="0" smtClean="0">
                <a:latin typeface="Bauhaus 93" pitchFamily="82" charset="0"/>
              </a:rPr>
              <a:t>Question: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 smtClean="0"/>
              <a:t>How did the Columbian Exchange work?  What HUGE trading network do you think eventually will tie into the Columbian exchange?  (Hint; from Africa)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 smtClean="0"/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/>
              <a:t>SS.8.A.1.6:  Compare interpretations of key events and issues throughout American History.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endParaRPr lang="en-US" dirty="0"/>
          </a:p>
        </p:txBody>
      </p:sp>
      <p:sp>
        <p:nvSpPr>
          <p:cNvPr id="10" name="Flowchart: Alternate Process 9"/>
          <p:cNvSpPr/>
          <p:nvPr/>
        </p:nvSpPr>
        <p:spPr>
          <a:xfrm>
            <a:off x="640875" y="5499947"/>
            <a:ext cx="8914606" cy="975360"/>
          </a:xfrm>
          <a:prstGeom prst="flowChartAlternateProcess">
            <a:avLst/>
          </a:prstGeom>
          <a:solidFill>
            <a:schemeClr val="tx1">
              <a:lumMod val="65000"/>
              <a:lumOff val="3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2406" name="Picture 2" descr="http://mrmelnick.wikispaces.com/file/view/Triangle_trade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6840" y="731521"/>
            <a:ext cx="4693920" cy="4429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6" name="Picture 2" descr="http://www.zoomdinosaurs.com/explorers/gifs/deleonmap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487680"/>
            <a:ext cx="7580472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/>
          <p:cNvSpPr>
            <a:spLocks noGrp="1"/>
          </p:cNvSpPr>
          <p:nvPr>
            <p:ph type="title"/>
          </p:nvPr>
        </p:nvSpPr>
        <p:spPr>
          <a:xfrm>
            <a:off x="0" y="81280"/>
            <a:ext cx="5951220" cy="1219200"/>
          </a:xfrm>
        </p:spPr>
        <p:txBody>
          <a:bodyPr/>
          <a:lstStyle/>
          <a:p>
            <a:pPr algn="ctr" eaLnBrk="1" hangingPunct="1"/>
            <a:r>
              <a:rPr lang="en-US" sz="4400" dirty="0">
                <a:latin typeface="Kristen ITC" pitchFamily="66" charset="0"/>
              </a:rPr>
              <a:t>Spanish settlements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5951220" cy="6150187"/>
          </a:xfrm>
        </p:spPr>
        <p:txBody>
          <a:bodyPr/>
          <a:lstStyle/>
          <a:p>
            <a:pPr eaLnBrk="1" hangingPunct="1"/>
            <a:r>
              <a:rPr lang="en-US" dirty="0" smtClean="0"/>
              <a:t>Spanish law called for three kinds of settlements in the Americas;</a:t>
            </a:r>
          </a:p>
          <a:p>
            <a:pPr eaLnBrk="1" hangingPunct="1"/>
            <a:r>
              <a:rPr lang="en-US" b="1" dirty="0" smtClean="0">
                <a:solidFill>
                  <a:srgbClr val="FF0000"/>
                </a:solidFill>
              </a:rPr>
              <a:t>Pueblos</a:t>
            </a:r>
            <a:endParaRPr lang="en-US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dirty="0" smtClean="0"/>
              <a:t>Towns, and the center of trade.</a:t>
            </a:r>
          </a:p>
          <a:p>
            <a:pPr eaLnBrk="1" hangingPunct="1"/>
            <a:r>
              <a:rPr lang="en-US" b="1" dirty="0" smtClean="0">
                <a:solidFill>
                  <a:srgbClr val="FF0000"/>
                </a:solidFill>
              </a:rPr>
              <a:t>Missions</a:t>
            </a:r>
            <a:endParaRPr lang="en-US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dirty="0" smtClean="0"/>
              <a:t>Religious communities, usually including a small town, farmland, and a church.</a:t>
            </a:r>
          </a:p>
          <a:p>
            <a:pPr eaLnBrk="1" hangingPunct="1"/>
            <a:r>
              <a:rPr lang="en-US" b="1" dirty="0" err="1" smtClean="0">
                <a:solidFill>
                  <a:srgbClr val="FF0000"/>
                </a:solidFill>
              </a:rPr>
              <a:t>Presido</a:t>
            </a:r>
            <a:endParaRPr lang="en-US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dirty="0" smtClean="0"/>
              <a:t>Fort that was usually built by a mission.</a:t>
            </a:r>
          </a:p>
        </p:txBody>
      </p:sp>
      <p:pic>
        <p:nvPicPr>
          <p:cNvPr id="104452" name="Picture 2" descr="http://t0.gstatic.com/images?q=tbn:ANd9GcT57ThqDBSCIudVPcH7gJWRPuwb5ZN0zvNSapz128SGhFAaamw&amp;t=1&amp;usg=__Rnx9jSYZtb84Z3G26jeitBuWLqg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221" y="406400"/>
            <a:ext cx="3469799" cy="2519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53" name="Picture 4" descr="http://t3.gstatic.com/images?q=tbn:ANd9GcTYNRFZgpIqyvmn4tJyrXwBfn1tFjr_AAQI4VDTLm0dhOyFhK8&amp;t=1&amp;usg=__gRcU2DTfkwI7XdoJvjKBSwXYWFc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040" y="3413761"/>
            <a:ext cx="3688080" cy="2677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454" name="TextBox 5"/>
          <p:cNvSpPr txBox="1">
            <a:spLocks noChangeArrowheads="1"/>
          </p:cNvSpPr>
          <p:nvPr/>
        </p:nvSpPr>
        <p:spPr bwMode="auto">
          <a:xfrm>
            <a:off x="6370320" y="6096000"/>
            <a:ext cx="3050700" cy="38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1191" tIns="55596" rIns="111191" bIns="5559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eaLnBrk="1" hangingPunct="1"/>
            <a:r>
              <a:rPr lang="en-US" dirty="0"/>
              <a:t>San Jose </a:t>
            </a:r>
            <a:r>
              <a:rPr lang="en-US" dirty="0" smtClean="0"/>
              <a:t>Mission (California)</a:t>
            </a:r>
            <a:endParaRPr 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/>
          <p:cNvSpPr>
            <a:spLocks noGrp="1"/>
          </p:cNvSpPr>
          <p:nvPr>
            <p:ph type="title"/>
          </p:nvPr>
        </p:nvSpPr>
        <p:spPr>
          <a:xfrm>
            <a:off x="502920" y="-81280"/>
            <a:ext cx="9052560" cy="1219200"/>
          </a:xfrm>
        </p:spPr>
        <p:txBody>
          <a:bodyPr/>
          <a:lstStyle/>
          <a:p>
            <a:pPr eaLnBrk="1" hangingPunct="1"/>
            <a:r>
              <a:rPr lang="en-US" sz="3600" dirty="0" err="1">
                <a:latin typeface="Kristen ITC" pitchFamily="66" charset="0"/>
              </a:rPr>
              <a:t>Encomienda</a:t>
            </a:r>
            <a:r>
              <a:rPr lang="en-US" sz="3600" dirty="0">
                <a:latin typeface="Kristen ITC" pitchFamily="66" charset="0"/>
              </a:rPr>
              <a:t> and the Plantation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900" y="866987"/>
            <a:ext cx="6286500" cy="5608320"/>
          </a:xfrm>
        </p:spPr>
        <p:txBody>
          <a:bodyPr rtlCol="0">
            <a:normAutofit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In the 1500’s the Spanish government granted Conquistadores </a:t>
            </a:r>
            <a:r>
              <a:rPr lang="en-US" b="1" dirty="0" err="1" smtClean="0">
                <a:solidFill>
                  <a:srgbClr val="FF0000"/>
                </a:solidFill>
              </a:rPr>
              <a:t>encomendia</a:t>
            </a:r>
            <a:r>
              <a:rPr lang="en-US" b="1" dirty="0" smtClean="0"/>
              <a:t>.</a:t>
            </a:r>
          </a:p>
          <a:p>
            <a:pPr marL="722742" lvl="1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This allowed them to demand taxes and labor from the Native Americans on their land.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Many plantations began to rise to export tobacco and sugarcane.  A </a:t>
            </a:r>
            <a:r>
              <a:rPr lang="en-US" b="1" dirty="0" smtClean="0">
                <a:solidFill>
                  <a:srgbClr val="FF0000"/>
                </a:solidFill>
              </a:rPr>
              <a:t>plantation</a:t>
            </a:r>
            <a:r>
              <a:rPr lang="en-US" dirty="0" smtClean="0"/>
              <a:t> is a large estate. </a:t>
            </a:r>
          </a:p>
          <a:p>
            <a:pPr marL="722742" lvl="1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Native Americans originally worked the farms, however they were eventually replaced by slaves from Africa.</a:t>
            </a:r>
            <a:endParaRPr lang="en-US" dirty="0"/>
          </a:p>
        </p:txBody>
      </p:sp>
      <p:pic>
        <p:nvPicPr>
          <p:cNvPr id="105476" name="Picture 2" descr="http://t0.gstatic.com/images?q=tbn:ANd9GcS7vFUsQ4IEJeE0rGHJPOGiUeAYRVohm9XpvP7hhmq2sjUuPGA&amp;t=1&amp;usg=__P21ruELD0RspyODUXuJQFcm-HIo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" y="1143000"/>
            <a:ext cx="2593181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77" name="Picture 4" descr="http://t2.gstatic.com/images?q=tbn:ANd9GcRH1A57qNsAoLXs3TApCtm7GN-3nr3TvuIaapxgAVkumj-JQdg&amp;t=1&amp;usg=__SVKbrcAiGP8O3jfDu4U1J5Od-nw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62" y="4145280"/>
            <a:ext cx="3805078" cy="2763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78" name="TextBox 5"/>
          <p:cNvSpPr txBox="1">
            <a:spLocks noChangeArrowheads="1"/>
          </p:cNvSpPr>
          <p:nvPr/>
        </p:nvSpPr>
        <p:spPr bwMode="auto">
          <a:xfrm>
            <a:off x="586740" y="3657600"/>
            <a:ext cx="2598420" cy="38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1191" tIns="55596" rIns="111191" bIns="5559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Tobacco Leaves</a:t>
            </a:r>
          </a:p>
        </p:txBody>
      </p:sp>
      <p:sp>
        <p:nvSpPr>
          <p:cNvPr id="105479" name="TextBox 6"/>
          <p:cNvSpPr txBox="1">
            <a:spLocks noChangeArrowheads="1"/>
          </p:cNvSpPr>
          <p:nvPr/>
        </p:nvSpPr>
        <p:spPr bwMode="auto">
          <a:xfrm>
            <a:off x="419100" y="6908800"/>
            <a:ext cx="2849880" cy="38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1191" tIns="55596" rIns="111191" bIns="5559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Sugar Cane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/>
          <p:cNvSpPr>
            <a:spLocks noGrp="1"/>
          </p:cNvSpPr>
          <p:nvPr>
            <p:ph type="title"/>
          </p:nvPr>
        </p:nvSpPr>
        <p:spPr>
          <a:xfrm>
            <a:off x="0" y="189653"/>
            <a:ext cx="10058400" cy="1219200"/>
          </a:xfrm>
        </p:spPr>
        <p:txBody>
          <a:bodyPr/>
          <a:lstStyle/>
          <a:p>
            <a:pPr eaLnBrk="1" hangingPunct="1"/>
            <a:r>
              <a:rPr lang="en-US" sz="4400">
                <a:latin typeface="Kristen ITC" pitchFamily="66" charset="0"/>
              </a:rPr>
              <a:t>The Columbian Exchange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219200"/>
            <a:ext cx="10058400" cy="219456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Two parts of the globe were now connected.  The Americas to the west, and Europe/Africa, to the east.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This led to an exchange of plants, animals, and diseases that altered life on both sides of the Atlantic.</a:t>
            </a:r>
            <a:endParaRPr lang="en-US" dirty="0"/>
          </a:p>
        </p:txBody>
      </p:sp>
      <p:pic>
        <p:nvPicPr>
          <p:cNvPr id="106500" name="Picture 2" descr="http://www.sbceo.k12.ca.us/~vms/carlton/Renaissance/columbianexchan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940" y="3332480"/>
            <a:ext cx="7376160" cy="38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2" name="Picture 4" descr="http://www.japanfocus.org/data/The_Columbian_Exchan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" y="1300480"/>
            <a:ext cx="9445467" cy="4795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/>
          <p:cNvSpPr>
            <a:spLocks noGrp="1"/>
          </p:cNvSpPr>
          <p:nvPr>
            <p:ph type="title"/>
          </p:nvPr>
        </p:nvSpPr>
        <p:spPr>
          <a:xfrm>
            <a:off x="259080" y="6324600"/>
            <a:ext cx="5532120" cy="1114213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Kristen ITC" pitchFamily="66" charset="0"/>
              </a:rPr>
              <a:t>More Countries begin to Settle</a:t>
            </a:r>
            <a:br>
              <a:rPr lang="en-US" sz="2400" dirty="0">
                <a:latin typeface="Kristen ITC" pitchFamily="66" charset="0"/>
              </a:rPr>
            </a:br>
            <a:endParaRPr lang="en-US" sz="1600" b="1" u="sng" dirty="0">
              <a:solidFill>
                <a:srgbClr val="FF0000"/>
              </a:solidFill>
              <a:latin typeface="Kristen ITC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6400"/>
            <a:ext cx="4945380" cy="5608320"/>
          </a:xfrm>
        </p:spPr>
        <p:txBody>
          <a:bodyPr/>
          <a:lstStyle/>
          <a:p>
            <a:pPr eaLnBrk="1" hangingPunct="1"/>
            <a:r>
              <a:rPr lang="en-US" smtClean="0"/>
              <a:t>Portugal and Spain had a trade </a:t>
            </a:r>
            <a:r>
              <a:rPr lang="en-US" b="1" smtClean="0"/>
              <a:t>(The Treaty of Tordesillas) </a:t>
            </a:r>
            <a:r>
              <a:rPr lang="en-US" smtClean="0"/>
              <a:t>that split the Americas between Spain and Portugal.</a:t>
            </a:r>
          </a:p>
          <a:p>
            <a:pPr eaLnBrk="1" hangingPunct="1"/>
            <a:r>
              <a:rPr lang="en-US" smtClean="0"/>
              <a:t>However other nations completely ignored the treaty when the came to the Americas.</a:t>
            </a:r>
          </a:p>
          <a:p>
            <a:pPr eaLnBrk="1" hangingPunct="1"/>
            <a:r>
              <a:rPr lang="en-US" smtClean="0"/>
              <a:t>These other countries were </a:t>
            </a:r>
            <a:r>
              <a:rPr lang="en-US" b="1" smtClean="0"/>
              <a:t>England, France, and the Netherlands.</a:t>
            </a:r>
            <a:endParaRPr lang="en-US" smtClean="0"/>
          </a:p>
        </p:txBody>
      </p:sp>
      <p:pic>
        <p:nvPicPr>
          <p:cNvPr id="108548" name="Picture 2" descr="http://t2.gstatic.com/images?q=tbn:ANd9GcQRnGh_37yr58b0T-nvUDHGZvugAV0cMLKqz1Z9H9Y8j6r5gtc&amp;t=1&amp;usg=__VQKo6kIMEgbKwZG0ZhH_Kpm7z4I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480" y="1381761"/>
            <a:ext cx="2902268" cy="1849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49" name="Picture 4" descr="http://t3.gstatic.com/images?q=tbn:ANd9GcTFKt5uWUll4oS0KH74eusSXCrdZwVpOtKyS4LrRA38D8JzFzU&amp;t=1&amp;usg=__klkwcNKuR_xNeyZaz977W8N6UoA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9980" y="3332481"/>
            <a:ext cx="2263140" cy="1632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50" name="Picture 6" descr="http://t2.gstatic.com/images?q=tbn:ANd9GcR-n6rFRhyzaZj_pfx0Vh8ci4I-QrBeoRaamxdTlxk0Fmnm8bQ&amp;t=1&amp;usg=__LMyrRmYx2iZLEhjFYrcN4R9Bxr8=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688" y="5120640"/>
            <a:ext cx="2881313" cy="1860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/>
          <p:cNvSpPr>
            <a:spLocks noGrp="1"/>
          </p:cNvSpPr>
          <p:nvPr>
            <p:ph type="title"/>
          </p:nvPr>
        </p:nvSpPr>
        <p:spPr>
          <a:xfrm>
            <a:off x="4191000" y="-27093"/>
            <a:ext cx="5364480" cy="1219200"/>
          </a:xfrm>
        </p:spPr>
        <p:txBody>
          <a:bodyPr/>
          <a:lstStyle/>
          <a:p>
            <a:pPr eaLnBrk="1" hangingPunct="1"/>
            <a:r>
              <a:rPr lang="en-US" sz="2900">
                <a:latin typeface="Kristen ITC" pitchFamily="66" charset="0"/>
              </a:rPr>
              <a:t>French Open Trading Posts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6280" y="1192107"/>
            <a:ext cx="5113020" cy="560832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France had shown relatively little interest in establishing colonies in the Americas.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They viewed North America as an opportunity to make </a:t>
            </a:r>
            <a:r>
              <a:rPr lang="en-US" b="1" dirty="0" smtClean="0">
                <a:solidFill>
                  <a:srgbClr val="FF0000"/>
                </a:solidFill>
              </a:rPr>
              <a:t>large profits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selling furs, and trading fish.</a:t>
            </a:r>
          </a:p>
          <a:p>
            <a:pPr marL="333573" indent="-333573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Beaver pelts and furs were very popular in Europe and the French made large profits.</a:t>
            </a:r>
            <a:endParaRPr lang="en-US" dirty="0"/>
          </a:p>
        </p:txBody>
      </p:sp>
      <p:pic>
        <p:nvPicPr>
          <p:cNvPr id="109572" name="Picture 2" descr="http://t1.gstatic.com/images?q=tbn:ANd9GcRt4gJToFgFHv-HDdV74uNxd6oVsPNG_bmgN6-Tbx4VmhVgsXA&amp;t=1&amp;usg=__ZgAYAOCE41aldsNM3I1rMrCbV48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" y="325120"/>
            <a:ext cx="3436620" cy="3316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73" name="Picture 4" descr="http://t0.gstatic.com/images?q=tbn:ANd9GcQryukQj-SS-3Aw_U39boiT0ZW8mNEEMjGvArain46TWPlJ-wY&amp;t=1&amp;usg=__13yVNGDZtSNAXNyPH-x3A45Q5EY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1" y="3901440"/>
            <a:ext cx="4140359" cy="3007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/>
          <p:cNvSpPr>
            <a:spLocks noGrp="1"/>
          </p:cNvSpPr>
          <p:nvPr>
            <p:ph type="title"/>
          </p:nvPr>
        </p:nvSpPr>
        <p:spPr>
          <a:xfrm>
            <a:off x="502920" y="152400"/>
            <a:ext cx="3436620" cy="1219200"/>
          </a:xfrm>
        </p:spPr>
        <p:txBody>
          <a:bodyPr/>
          <a:lstStyle/>
          <a:p>
            <a:pPr algn="ctr" eaLnBrk="1" hangingPunct="1"/>
            <a:r>
              <a:rPr lang="en-US" sz="2900" dirty="0">
                <a:latin typeface="Kristen ITC" pitchFamily="66" charset="0"/>
              </a:rPr>
              <a:t>Dutch West India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4945380" cy="5662507"/>
          </a:xfrm>
        </p:spPr>
        <p:txBody>
          <a:bodyPr/>
          <a:lstStyle/>
          <a:p>
            <a:pPr eaLnBrk="1" hangingPunct="1"/>
            <a:r>
              <a:rPr lang="en-US" sz="3600" dirty="0"/>
              <a:t>The Dutch established a trading colonies in the Americas.  </a:t>
            </a:r>
          </a:p>
          <a:p>
            <a:pPr eaLnBrk="1" hangingPunct="1"/>
            <a:r>
              <a:rPr lang="en-US" sz="3600" dirty="0"/>
              <a:t>Like England, France, Spain, and Portugal they also established Permanent colonies. </a:t>
            </a:r>
          </a:p>
        </p:txBody>
      </p:sp>
      <p:pic>
        <p:nvPicPr>
          <p:cNvPr id="110596" name="Picture 2" descr="http://t2.gstatic.com/images?q=tbn:ANd9GcQVPHl22WzME2FfXjYLqaA7LI5SjebA-bboJJWGGgqrqU57xsI&amp;t=1&amp;usg=__n37xgd7B6TNnuWW0CyPeE8Yr6KQ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020" y="243840"/>
            <a:ext cx="4526280" cy="2847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0597" name="Picture 4" descr="http://t0.gstatic.com/images?q=tbn:ANd9GcQmRTeAf5pXXHghSHjMv1ZMS648B7UiiZVc4BxzkVyX57dWSTg&amp;t=1&amp;usg=__IKspwliGEyxh0-5kz66VN6c3beA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021" y="3549227"/>
            <a:ext cx="4622324" cy="284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Review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68806"/>
      </p:ext>
    </p:extLst>
  </p:cSld>
  <p:clrMapOvr>
    <a:masterClrMapping/>
  </p:clrMapOvr>
  <p:transition spd="slow">
    <p:cover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800" b="1" u="sng">
                <a:solidFill>
                  <a:srgbClr val="FF0000"/>
                </a:solidFill>
              </a:rPr>
              <a:t>Warm Up: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" y="406401"/>
            <a:ext cx="7124700" cy="5913866"/>
          </a:xfrm>
          <a:prstGeom prst="rect">
            <a:avLst/>
          </a:prstGeom>
          <a:noFill/>
        </p:spPr>
        <p:txBody>
          <a:bodyPr lIns="111191" tIns="55596" rIns="111191" bIns="5559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u="sng" dirty="0">
                <a:solidFill>
                  <a:srgbClr val="FF0000"/>
                </a:solidFill>
                <a:latin typeface="+mn-lt"/>
                <a:cs typeface="+mn-cs"/>
              </a:rPr>
              <a:t>Warm up Activity: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Describe the technology difference between the Native Americans and their Spanish Conquerors.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Why did the small tribes around the Aztecs agree to join up with the Spanish to defeat the Aztecs?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OCSR: </a:t>
            </a:r>
            <a:r>
              <a:rPr lang="en-US" sz="2900" dirty="0">
                <a:latin typeface="+mn-lt"/>
                <a:cs typeface="+mn-cs"/>
              </a:rPr>
              <a:t>Which Conquistador was responsible for conquering the Incas.</a:t>
            </a:r>
            <a:endParaRPr lang="en-US" sz="2900" b="1" dirty="0">
              <a:latin typeface="+mn-lt"/>
              <a:cs typeface="+mn-cs"/>
            </a:endParaRP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Define:  Conquistador, Ferdinand Magellan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sz="2900" dirty="0">
              <a:latin typeface="+mn-lt"/>
              <a:cs typeface="+mn-cs"/>
            </a:endParaRP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sz="2900" dirty="0">
              <a:latin typeface="+mn-lt"/>
              <a:cs typeface="+mn-cs"/>
            </a:endParaRPr>
          </a:p>
        </p:txBody>
      </p:sp>
      <p:pic>
        <p:nvPicPr>
          <p:cNvPr id="111620" name="Picture 5" descr="http://t2.gstatic.com/images?q=tbn:ANd9GcS1beGe6-JwDJUssdRPvrOb5zqB-SgeOwKBXZERYwyyuefsvPo0DrWGNz0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700" y="1598507"/>
            <a:ext cx="2598420" cy="3359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elay 10"/>
          <p:cNvSpPr/>
          <p:nvPr/>
        </p:nvSpPr>
        <p:spPr>
          <a:xfrm>
            <a:off x="83820" y="731521"/>
            <a:ext cx="5364480" cy="4648765"/>
          </a:xfrm>
          <a:prstGeom prst="flowChartDelay">
            <a:avLst/>
          </a:prstGeom>
          <a:solidFill>
            <a:schemeClr val="tx1">
              <a:lumMod val="75000"/>
              <a:lumOff val="25000"/>
              <a:alpha val="1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6195" y="5380991"/>
            <a:ext cx="9786018" cy="943275"/>
          </a:xfrm>
          <a:prstGeom prst="rect">
            <a:avLst/>
          </a:prstGeom>
          <a:solidFill>
            <a:schemeClr val="bg2"/>
          </a:solidFill>
        </p:spPr>
        <p:txBody>
          <a:bodyPr wrap="none" lIns="111191" tIns="55596" rIns="111191" bIns="55596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Daily Question to know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0" y="1067929"/>
            <a:ext cx="4931410" cy="4648764"/>
          </a:xfrm>
        </p:spPr>
        <p:txBody>
          <a:bodyPr rtlCol="0">
            <a:normAutofit lnSpcReduction="100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dirty="0" smtClean="0">
                <a:latin typeface="Bauhaus 93" pitchFamily="82" charset="0"/>
              </a:rPr>
              <a:t>Question: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 smtClean="0"/>
              <a:t>Do you think reviewing your quiz will help you with your upcoming exam?  Why/why not.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 smtClean="0"/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/>
              <a:t>SS.8.A.1.6:  Compare interpretations of key events and issues throughout American History.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endParaRPr lang="en-US" dirty="0"/>
          </a:p>
        </p:txBody>
      </p:sp>
      <p:sp>
        <p:nvSpPr>
          <p:cNvPr id="10" name="Flowchart: Alternate Process 9"/>
          <p:cNvSpPr/>
          <p:nvPr/>
        </p:nvSpPr>
        <p:spPr>
          <a:xfrm>
            <a:off x="640875" y="5499947"/>
            <a:ext cx="8914606" cy="975360"/>
          </a:xfrm>
          <a:prstGeom prst="flowChartAlternateProcess">
            <a:avLst/>
          </a:prstGeom>
          <a:solidFill>
            <a:schemeClr val="tx1">
              <a:lumMod val="65000"/>
              <a:lumOff val="3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12646" name="Picture 7" descr="http://t1.gstatic.com/images?q=tbn:ANd9GcTcPR7aP9kexxFUA3u4Z_6oWfB-UJGxSckbWybofJ4MXqNFOQUzSgYk8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050" y="948267"/>
            <a:ext cx="3017520" cy="3901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800" b="1" u="sng">
                <a:solidFill>
                  <a:srgbClr val="FF0000"/>
                </a:solidFill>
              </a:rPr>
              <a:t>Warm Up: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" y="406400"/>
            <a:ext cx="6286500" cy="5021314"/>
          </a:xfrm>
          <a:prstGeom prst="rect">
            <a:avLst/>
          </a:prstGeom>
          <a:noFill/>
        </p:spPr>
        <p:txBody>
          <a:bodyPr lIns="111191" tIns="55596" rIns="111191" bIns="5559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u="sng" dirty="0">
                <a:solidFill>
                  <a:srgbClr val="FF0000"/>
                </a:solidFill>
                <a:latin typeface="+mn-lt"/>
                <a:cs typeface="+mn-cs"/>
              </a:rPr>
              <a:t>Warm up Activity: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Who sailed the </a:t>
            </a:r>
            <a:r>
              <a:rPr lang="en-US" sz="2900" dirty="0" smtClean="0">
                <a:latin typeface="+mn-lt"/>
                <a:cs typeface="+mn-cs"/>
              </a:rPr>
              <a:t>longer </a:t>
            </a:r>
            <a:r>
              <a:rPr lang="en-US" sz="2900" dirty="0">
                <a:latin typeface="+mn-lt"/>
                <a:cs typeface="+mn-cs"/>
              </a:rPr>
              <a:t>voyage, Christopher Columbus, or Vasco da Gama?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Who funded Christopher Columbus’ voyage?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OCSR: </a:t>
            </a:r>
            <a:r>
              <a:rPr lang="en-US" sz="2900" dirty="0">
                <a:latin typeface="+mn-lt"/>
                <a:cs typeface="+mn-cs"/>
              </a:rPr>
              <a:t>On what continent is Brazil located?</a:t>
            </a:r>
            <a:endParaRPr lang="en-US" sz="2900" b="1" dirty="0">
              <a:latin typeface="+mn-lt"/>
              <a:cs typeface="+mn-cs"/>
            </a:endParaRP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Define:  Ice Age, Mission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sz="2900" dirty="0">
              <a:latin typeface="+mn-lt"/>
              <a:cs typeface="+mn-cs"/>
            </a:endParaRP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sz="2900" dirty="0">
              <a:latin typeface="+mn-lt"/>
              <a:cs typeface="+mn-cs"/>
            </a:endParaRPr>
          </a:p>
        </p:txBody>
      </p:sp>
      <p:pic>
        <p:nvPicPr>
          <p:cNvPr id="113668" name="Picture 2" descr="http://www.inquisitr.com/wp-content/2011/12/Brazil-Jesus-Statu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4105" y="1676400"/>
            <a:ext cx="3706178" cy="3191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elay 10"/>
          <p:cNvSpPr/>
          <p:nvPr/>
        </p:nvSpPr>
        <p:spPr>
          <a:xfrm>
            <a:off x="83820" y="731521"/>
            <a:ext cx="5364480" cy="4648765"/>
          </a:xfrm>
          <a:prstGeom prst="flowChartDelay">
            <a:avLst/>
          </a:prstGeom>
          <a:solidFill>
            <a:schemeClr val="tx1">
              <a:lumMod val="75000"/>
              <a:lumOff val="25000"/>
              <a:alpha val="1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6195" y="5380991"/>
            <a:ext cx="9786018" cy="943275"/>
          </a:xfrm>
          <a:prstGeom prst="rect">
            <a:avLst/>
          </a:prstGeom>
          <a:solidFill>
            <a:schemeClr val="bg2"/>
          </a:solidFill>
        </p:spPr>
        <p:txBody>
          <a:bodyPr wrap="none" lIns="111191" tIns="55596" rIns="111191" bIns="55596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Daily Question to know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0" y="1067929"/>
            <a:ext cx="4931410" cy="4648764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dirty="0" smtClean="0">
                <a:latin typeface="Bauhaus 93" pitchFamily="82" charset="0"/>
              </a:rPr>
              <a:t>Question: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 smtClean="0"/>
              <a:t>Was this jeopardy review game helpful for you?  Why/why not.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 smtClean="0"/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/>
              <a:t>SS.8.A.1.6:  Compare interpretations of key events and issues throughout American History.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endParaRPr lang="en-US" dirty="0"/>
          </a:p>
        </p:txBody>
      </p:sp>
      <p:sp>
        <p:nvSpPr>
          <p:cNvPr id="10" name="Flowchart: Alternate Process 9"/>
          <p:cNvSpPr/>
          <p:nvPr/>
        </p:nvSpPr>
        <p:spPr>
          <a:xfrm>
            <a:off x="640875" y="5499947"/>
            <a:ext cx="8914606" cy="975360"/>
          </a:xfrm>
          <a:prstGeom prst="flowChartAlternateProcess">
            <a:avLst/>
          </a:prstGeom>
          <a:solidFill>
            <a:schemeClr val="tx1">
              <a:lumMod val="65000"/>
              <a:lumOff val="3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14694" name="Picture 7" descr="http://t1.gstatic.com/images?q=tbn:ANd9GcTcPR7aP9kexxFUA3u4Z_6oWfB-UJGxSckbWybofJ4MXqNFOQUzSgYk8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050" y="948267"/>
            <a:ext cx="3017520" cy="3901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Jeopardy Review Game</a:t>
            </a:r>
          </a:p>
        </p:txBody>
      </p:sp>
      <p:sp>
        <p:nvSpPr>
          <p:cNvPr id="1157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hlinkClick r:id="rId2"/>
              </a:rPr>
              <a:t>Unit I Jeopardy Review</a:t>
            </a:r>
            <a:endParaRPr lang="en-US" smtClean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800" b="1" u="sng">
                <a:solidFill>
                  <a:srgbClr val="FF0000"/>
                </a:solidFill>
              </a:rPr>
              <a:t>Warm Up: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" y="406400"/>
            <a:ext cx="6621780" cy="5467590"/>
          </a:xfrm>
          <a:prstGeom prst="rect">
            <a:avLst/>
          </a:prstGeom>
          <a:noFill/>
        </p:spPr>
        <p:txBody>
          <a:bodyPr lIns="111191" tIns="55596" rIns="111191" bIns="5559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u="sng" dirty="0">
                <a:solidFill>
                  <a:srgbClr val="FF0000"/>
                </a:solidFill>
                <a:latin typeface="+mn-lt"/>
                <a:cs typeface="+mn-cs"/>
              </a:rPr>
              <a:t>Warm up Activity: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What are two facts about Christopher Columbus that you did not know prior to this class? (do not write nothing)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dirty="0">
                <a:latin typeface="+mn-lt"/>
                <a:cs typeface="+mn-cs"/>
              </a:rPr>
              <a:t>Who was the first sailor to sail around the world?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OCSR: </a:t>
            </a:r>
            <a:r>
              <a:rPr lang="en-US" sz="2900" dirty="0">
                <a:latin typeface="+mn-lt"/>
                <a:cs typeface="+mn-cs"/>
              </a:rPr>
              <a:t>What were the names of Christopher Columbus’ ships?.</a:t>
            </a:r>
            <a:endParaRPr lang="en-US" sz="2900" b="1" dirty="0">
              <a:latin typeface="+mn-lt"/>
              <a:cs typeface="+mn-cs"/>
            </a:endParaRP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900" b="1" dirty="0">
                <a:latin typeface="+mn-lt"/>
                <a:cs typeface="+mn-cs"/>
              </a:rPr>
              <a:t>Define:  Ferdinand Magellan, Mission.</a:t>
            </a: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sz="2900" dirty="0">
              <a:latin typeface="+mn-lt"/>
              <a:cs typeface="+mn-cs"/>
            </a:endParaRPr>
          </a:p>
          <a:p>
            <a:pPr marL="416966" indent="-416966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sz="2900" dirty="0">
              <a:latin typeface="+mn-lt"/>
              <a:cs typeface="+mn-cs"/>
            </a:endParaRPr>
          </a:p>
        </p:txBody>
      </p:sp>
      <p:pic>
        <p:nvPicPr>
          <p:cNvPr id="116740" name="Picture 5" descr="http://0.tqn.com/d/geography/1/G/P/4/1/7307097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2640" y="731520"/>
            <a:ext cx="2570480" cy="4985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elay 10"/>
          <p:cNvSpPr/>
          <p:nvPr/>
        </p:nvSpPr>
        <p:spPr>
          <a:xfrm>
            <a:off x="83820" y="731521"/>
            <a:ext cx="5364480" cy="4648765"/>
          </a:xfrm>
          <a:prstGeom prst="flowChartDelay">
            <a:avLst/>
          </a:prstGeom>
          <a:solidFill>
            <a:schemeClr val="tx1">
              <a:lumMod val="75000"/>
              <a:lumOff val="25000"/>
              <a:alpha val="1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6195" y="5380991"/>
            <a:ext cx="9786018" cy="943275"/>
          </a:xfrm>
          <a:prstGeom prst="rect">
            <a:avLst/>
          </a:prstGeom>
          <a:solidFill>
            <a:schemeClr val="bg2"/>
          </a:solidFill>
        </p:spPr>
        <p:txBody>
          <a:bodyPr wrap="none" lIns="111191" tIns="55596" rIns="111191" bIns="55596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Daily Question to know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0" y="1067929"/>
            <a:ext cx="4931410" cy="4648764"/>
          </a:xfrm>
        </p:spPr>
        <p:txBody>
          <a:bodyPr rtlCol="0">
            <a:normAutofit lnSpcReduction="100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dirty="0" smtClean="0">
                <a:latin typeface="Bauhaus 93" pitchFamily="82" charset="0"/>
              </a:rPr>
              <a:t>Question: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 smtClean="0"/>
              <a:t>Did you enjoy the Jeopardy Review game?  How will this game help you on your upcoming exam?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 smtClean="0"/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en-US" dirty="0"/>
              <a:t>SS.8.A.1.6:  Compare interpretations of key events and issues throughout American History.</a:t>
            </a:r>
          </a:p>
          <a:p>
            <a:pPr marL="333573" indent="-333573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endParaRPr lang="en-US" dirty="0"/>
          </a:p>
        </p:txBody>
      </p:sp>
      <p:sp>
        <p:nvSpPr>
          <p:cNvPr id="10" name="Flowchart: Alternate Process 9"/>
          <p:cNvSpPr/>
          <p:nvPr/>
        </p:nvSpPr>
        <p:spPr>
          <a:xfrm>
            <a:off x="640875" y="5499947"/>
            <a:ext cx="8914606" cy="975360"/>
          </a:xfrm>
          <a:prstGeom prst="flowChartAlternateProcess">
            <a:avLst/>
          </a:prstGeom>
          <a:solidFill>
            <a:schemeClr val="tx1">
              <a:lumMod val="65000"/>
              <a:lumOff val="3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191" tIns="55596" rIns="111191" bIns="5559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17766" name="Picture 7" descr="http://minnesota.publicradio.org/collections/special/columns/music_blog/jeopard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060" y="839893"/>
            <a:ext cx="4246880" cy="411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Exam, good luck.</a:t>
            </a:r>
          </a:p>
        </p:txBody>
      </p:sp>
      <p:pic>
        <p:nvPicPr>
          <p:cNvPr id="118787" name="Picture 5" descr="https://encrypted-tbn3.gstatic.com/images?q=tbn:ANd9GcSCsOw325WFXBrovNx0mUY5PX4iZtA6KlSCGu15OOoHLT_3T54ZI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9540" y="623147"/>
            <a:ext cx="3415665" cy="4535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/>
              <a:t>Next up Unit II:  Colonial Settlement</a:t>
            </a:r>
          </a:p>
        </p:txBody>
      </p:sp>
      <p:pic>
        <p:nvPicPr>
          <p:cNvPr id="119811" name="Picture 4" descr="https://encrypted-tbn0.gstatic.com/images?q=tbn:ANd9GcS2e0SJ3ZFT1jam7jEhojejmS88_HB400rNTGqadw6fOwQXFQ8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609600"/>
            <a:ext cx="4477187" cy="4553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27122</TotalTime>
  <Words>5188</Words>
  <Application>Microsoft Office PowerPoint</Application>
  <PresentationFormat>Custom</PresentationFormat>
  <Paragraphs>682</Paragraphs>
  <Slides>110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NewsPrint</vt:lpstr>
      <vt:lpstr>Unit I</vt:lpstr>
      <vt:lpstr>Unit I Standards</vt:lpstr>
      <vt:lpstr>Primary vs. Secondary Sources (project) (10pts)</vt:lpstr>
      <vt:lpstr>Warm Up</vt:lpstr>
      <vt:lpstr>Daily Question to Know</vt:lpstr>
      <vt:lpstr>Units of Measurement and Time</vt:lpstr>
      <vt:lpstr>Roman Numerals</vt:lpstr>
      <vt:lpstr>Roman Numeral Practice</vt:lpstr>
      <vt:lpstr>Roman Numerals on a Clock</vt:lpstr>
      <vt:lpstr>Warm Up</vt:lpstr>
      <vt:lpstr>PowerPoint Presentation</vt:lpstr>
      <vt:lpstr>Unit I Vocabulary (26pts)</vt:lpstr>
      <vt:lpstr>Warm Up</vt:lpstr>
      <vt:lpstr>PowerPoint Presentation</vt:lpstr>
      <vt:lpstr>Unit I; Timeline Tutorial Project (30pts)</vt:lpstr>
      <vt:lpstr>Warm Up</vt:lpstr>
      <vt:lpstr>PowerPoint Presentation</vt:lpstr>
      <vt:lpstr>Unit I Timeline Project (30pts)</vt:lpstr>
      <vt:lpstr>Unit V Timeline Poster Homework (10pts)</vt:lpstr>
      <vt:lpstr>Warm Up</vt:lpstr>
      <vt:lpstr>PowerPoint Presentation</vt:lpstr>
      <vt:lpstr>Warm Up</vt:lpstr>
      <vt:lpstr>PowerPoint Presentation</vt:lpstr>
      <vt:lpstr>Units of Time and Measurement Quiz</vt:lpstr>
      <vt:lpstr>World Map Project (40pts)</vt:lpstr>
      <vt:lpstr>PowerPoint Presentation</vt:lpstr>
      <vt:lpstr>Warm up:</vt:lpstr>
      <vt:lpstr>PowerPoint Presentation</vt:lpstr>
      <vt:lpstr>Early Peoples</vt:lpstr>
      <vt:lpstr>Early Americans</vt:lpstr>
      <vt:lpstr>Early Americans</vt:lpstr>
      <vt:lpstr>Permanent Settlement</vt:lpstr>
      <vt:lpstr>Early American Civilizations</vt:lpstr>
      <vt:lpstr>Warm Up:</vt:lpstr>
      <vt:lpstr>PowerPoint Presentation</vt:lpstr>
      <vt:lpstr>The Maya</vt:lpstr>
      <vt:lpstr>PowerPoint Presentation</vt:lpstr>
      <vt:lpstr>The Aztec</vt:lpstr>
      <vt:lpstr>PowerPoint Presentation</vt:lpstr>
      <vt:lpstr>The Inca</vt:lpstr>
      <vt:lpstr>PowerPoint Presentation</vt:lpstr>
      <vt:lpstr>North American People</vt:lpstr>
      <vt:lpstr>The Hohokam</vt:lpstr>
      <vt:lpstr>The Anasazi</vt:lpstr>
      <vt:lpstr>The Mound Builders</vt:lpstr>
      <vt:lpstr>MAP QUIZ (15pts)</vt:lpstr>
      <vt:lpstr>Warm Up:</vt:lpstr>
      <vt:lpstr>PowerPoint Presentation</vt:lpstr>
      <vt:lpstr>Other Native North Americans</vt:lpstr>
      <vt:lpstr>Inuit People</vt:lpstr>
      <vt:lpstr>Peoples of the West</vt:lpstr>
      <vt:lpstr>People of the Southwest</vt:lpstr>
      <vt:lpstr>Peoples of the Plains</vt:lpstr>
      <vt:lpstr>Peoples of the East and Southeast</vt:lpstr>
      <vt:lpstr>First Americans Review (12pts) Answers should be 2-3 sentences each.</vt:lpstr>
      <vt:lpstr>Native Americans Map Project</vt:lpstr>
      <vt:lpstr>PowerPoint Presentation</vt:lpstr>
      <vt:lpstr>Warm Up:</vt:lpstr>
      <vt:lpstr>PowerPoint Presentation</vt:lpstr>
      <vt:lpstr>Unit  I Vocabulary Bingo!!!</vt:lpstr>
      <vt:lpstr>Warm Up:</vt:lpstr>
      <vt:lpstr>PowerPoint Presentation</vt:lpstr>
      <vt:lpstr>VOCAB QUIZ (16pts)</vt:lpstr>
      <vt:lpstr>QUIZ BREAK</vt:lpstr>
      <vt:lpstr>Warm Up:</vt:lpstr>
      <vt:lpstr>Warm Up:</vt:lpstr>
      <vt:lpstr>Warm Up:</vt:lpstr>
      <vt:lpstr>PowerPoint Presentation</vt:lpstr>
      <vt:lpstr>PowerPoint Presentation</vt:lpstr>
      <vt:lpstr>PowerPoint Presentation</vt:lpstr>
      <vt:lpstr>Reasons for Exploration</vt:lpstr>
      <vt:lpstr>Technology Allowed for Exploration Latitude and Longitude Map Homework (15pts)</vt:lpstr>
      <vt:lpstr>African Trading Kingdoms</vt:lpstr>
      <vt:lpstr>Early Exploration</vt:lpstr>
      <vt:lpstr>Early Explorers</vt:lpstr>
      <vt:lpstr>Christopher Columbus</vt:lpstr>
      <vt:lpstr>Christopher Columbus</vt:lpstr>
      <vt:lpstr>Christopher Columbus Comic Strip/Story (20pts)</vt:lpstr>
      <vt:lpstr>Explorers Foldable/Explorers Map (30pts)</vt:lpstr>
      <vt:lpstr>Warm Up:</vt:lpstr>
      <vt:lpstr>PowerPoint Presentation</vt:lpstr>
      <vt:lpstr>The Vikings</vt:lpstr>
      <vt:lpstr>Spain in America</vt:lpstr>
      <vt:lpstr>Cortes Conquers the Aztecs</vt:lpstr>
      <vt:lpstr>Pizzaro Conquers Peru</vt:lpstr>
      <vt:lpstr>Technology Difference</vt:lpstr>
      <vt:lpstr>Demonstration of Guns vs. Spears</vt:lpstr>
      <vt:lpstr>Why did Spain Succeed</vt:lpstr>
      <vt:lpstr>Ponce De Leon</vt:lpstr>
      <vt:lpstr>The Viking Diaries (20pts)</vt:lpstr>
      <vt:lpstr>Warm Up:</vt:lpstr>
      <vt:lpstr>PowerPoint Presentation</vt:lpstr>
      <vt:lpstr>PowerPoint Presentation</vt:lpstr>
      <vt:lpstr>Spanish settlements</vt:lpstr>
      <vt:lpstr>Encomienda and the Plantation System</vt:lpstr>
      <vt:lpstr>The Columbian Exchange</vt:lpstr>
      <vt:lpstr>PowerPoint Presentation</vt:lpstr>
      <vt:lpstr>More Countries begin to Settle </vt:lpstr>
      <vt:lpstr>French Open Trading Posts</vt:lpstr>
      <vt:lpstr>Dutch West India Company</vt:lpstr>
      <vt:lpstr>Test Review Questions</vt:lpstr>
      <vt:lpstr>Warm Up:</vt:lpstr>
      <vt:lpstr>PowerPoint Presentation</vt:lpstr>
      <vt:lpstr>Warm Up:</vt:lpstr>
      <vt:lpstr>PowerPoint Presentation</vt:lpstr>
      <vt:lpstr>Jeopardy Review Game</vt:lpstr>
      <vt:lpstr>Warm Up:</vt:lpstr>
      <vt:lpstr>PowerPoint Presentation</vt:lpstr>
      <vt:lpstr>Exam, good luck.</vt:lpstr>
      <vt:lpstr>Next up Unit II:  Colonial Settlement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Jason</dc:creator>
  <cp:lastModifiedBy>Dalton, Jason</cp:lastModifiedBy>
  <cp:revision>941</cp:revision>
  <cp:lastPrinted>2013-08-14T18:13:37Z</cp:lastPrinted>
  <dcterms:created xsi:type="dcterms:W3CDTF">2010-07-14T15:08:03Z</dcterms:created>
  <dcterms:modified xsi:type="dcterms:W3CDTF">2013-08-14T18:22:32Z</dcterms:modified>
</cp:coreProperties>
</file>